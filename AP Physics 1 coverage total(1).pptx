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12192000"/>
  <p:embeddedFontLst>
    <p:embeddedFont>
      <p:font typeface="MiSans" pitchFamily="34" charset="-122"/>
      <p:regular r:id="rId32"/>
    </p:embeddedFont>
    <p:embeddedFont>
      <p:font typeface="MiSans" pitchFamily="34" charset="-120"/>
      <p:regular r:id="rId33"/>
    </p:embeddedFont>
    <p:embeddedFont>
      <p:font typeface="Calibri" panose="020F0502020204030204" charset="0"/>
      <p:regular r:id="rId34"/>
      <p:bold r:id="rId35"/>
      <p:italic r:id="rId36"/>
      <p:boldItalic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6.png"/><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38.png"/><Relationship Id="rId2" Type="http://schemas.openxmlformats.org/officeDocument/2006/relationships/image" Target="../media/image7.jpeg"/><Relationship Id="rId1" Type="http://schemas.openxmlformats.org/officeDocument/2006/relationships/image" Target="../media/image37.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9.png"/><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0808"/>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0"/>
            <a:ext cx="12191999" cy="6864626"/>
          </a:xfrm>
          <a:prstGeom prst="rect">
            <a:avLst/>
          </a:prstGeom>
        </p:spPr>
      </p:pic>
      <p:pic>
        <p:nvPicPr>
          <p:cNvPr id="3" name="Image 1" descr="https://kimi-img.moonshot.cn/pub/slides/slides_tmpl/image/25-08-27-20:02:05-d2nf7f98bjvh7rlj05ug.png"/>
          <p:cNvPicPr>
            <a:picLocks noChangeAspect="1"/>
          </p:cNvPicPr>
          <p:nvPr/>
        </p:nvPicPr>
        <p:blipFill>
          <a:blip r:embed="rId2"/>
          <a:stretch>
            <a:fillRect/>
          </a:stretch>
        </p:blipFill>
        <p:spPr>
          <a:xfrm>
            <a:off x="576580" y="4498975"/>
            <a:ext cx="1732915" cy="457200"/>
          </a:xfrm>
          <a:prstGeom prst="rect">
            <a:avLst/>
          </a:prstGeom>
        </p:spPr>
      </p:pic>
      <p:sp>
        <p:nvSpPr>
          <p:cNvPr id="4" name="Text 0"/>
          <p:cNvSpPr/>
          <p:nvPr/>
        </p:nvSpPr>
        <p:spPr>
          <a:xfrm>
            <a:off x="576835" y="2224670"/>
            <a:ext cx="8567166" cy="2274373"/>
          </a:xfrm>
          <a:prstGeom prst="rect">
            <a:avLst/>
          </a:prstGeom>
          <a:noFill/>
        </p:spPr>
        <p:txBody>
          <a:bodyPr wrap="square" lIns="91440" tIns="45720" rIns="91440" bIns="45720" rtlCol="0" anchor="t"/>
          <a:lstStyle/>
          <a:p>
            <a:pPr>
              <a:lnSpc>
                <a:spcPct val="100000"/>
              </a:lnSpc>
            </a:pPr>
            <a:r>
              <a:rPr lang="en-US" sz="5400" b="1" dirty="0">
                <a:solidFill>
                  <a:srgbClr val="FFFFFF"/>
                </a:solidFill>
                <a:latin typeface="MiSans" pitchFamily="34" charset="-122"/>
                <a:ea typeface="MiSans" pitchFamily="34" charset="-122"/>
                <a:cs typeface="MiSans" pitchFamily="34" charset="-120"/>
              </a:rPr>
              <a:t>AP Physics 1: The临终关怀 Complete Equation Guide</a:t>
            </a:r>
            <a:endParaRPr lang="en-US" sz="1600" dirty="0"/>
          </a:p>
        </p:txBody>
      </p:sp>
      <p:pic>
        <p:nvPicPr>
          <p:cNvPr id="5" name="Image 2" descr="https://kimi-img.moonshot.cn/pub/slides/slides_tmpl/image/25-08-27-20:02:05-d2nf7f98bjvh7rlj05ug.png"/>
          <p:cNvPicPr>
            <a:picLocks noChangeAspect="1"/>
          </p:cNvPicPr>
          <p:nvPr/>
        </p:nvPicPr>
        <p:blipFill>
          <a:blip r:embed="rId2"/>
          <a:stretch>
            <a:fillRect/>
          </a:stretch>
        </p:blipFill>
        <p:spPr>
          <a:xfrm>
            <a:off x="2463800" y="4498975"/>
            <a:ext cx="1732915" cy="457200"/>
          </a:xfrm>
          <a:prstGeom prst="rect">
            <a:avLst/>
          </a:prstGeom>
        </p:spPr>
      </p:pic>
      <p:sp>
        <p:nvSpPr>
          <p:cNvPr id="6" name="Text 1"/>
          <p:cNvSpPr/>
          <p:nvPr/>
        </p:nvSpPr>
        <p:spPr>
          <a:xfrm>
            <a:off x="648335" y="4560570"/>
            <a:ext cx="1597660" cy="340082"/>
          </a:xfrm>
          <a:prstGeom prst="rect">
            <a:avLst/>
          </a:prstGeom>
          <a:noFill/>
        </p:spPr>
        <p:txBody>
          <a:bodyPr wrap="square" lIns="91440" tIns="45720" rIns="91440" bIns="45720" rtlCol="0" anchor="t">
            <a:spAutoFit/>
          </a:bodyPr>
          <a:lstStyle/>
          <a:p>
            <a:pPr algn="ctr">
              <a:lnSpc>
                <a:spcPct val="100000"/>
              </a:lnSpc>
            </a:pPr>
            <a:r>
              <a:rPr lang="en-US" sz="1600" dirty="0">
                <a:solidFill>
                  <a:srgbClr val="FFFFFF"/>
                </a:solidFill>
                <a:latin typeface="MiSans" pitchFamily="34" charset="-122"/>
                <a:ea typeface="MiSans" pitchFamily="34" charset="-122"/>
                <a:cs typeface="MiSans" pitchFamily="34" charset="-120"/>
              </a:rPr>
              <a:t>10-3 陈美璁</a:t>
            </a:r>
            <a:endParaRPr lang="en-US" sz="1600" dirty="0"/>
          </a:p>
        </p:txBody>
      </p:sp>
      <p:sp>
        <p:nvSpPr>
          <p:cNvPr id="7" name="Text 2"/>
          <p:cNvSpPr/>
          <p:nvPr/>
        </p:nvSpPr>
        <p:spPr>
          <a:xfrm>
            <a:off x="2463165" y="4560570"/>
            <a:ext cx="1733550" cy="340082"/>
          </a:xfrm>
          <a:prstGeom prst="rect">
            <a:avLst/>
          </a:prstGeom>
          <a:noFill/>
        </p:spPr>
        <p:txBody>
          <a:bodyPr wrap="square" lIns="91440" tIns="45720" rIns="91440" bIns="45720" rtlCol="0" anchor="t">
            <a:spAutoFit/>
          </a:bodyPr>
          <a:lstStyle/>
          <a:p>
            <a:pPr algn="ctr">
              <a:lnSpc>
                <a:spcPct val="100000"/>
              </a:lnSpc>
            </a:pPr>
            <a:r>
              <a:rPr lang="en-US" sz="1600" dirty="0">
                <a:solidFill>
                  <a:srgbClr val="FFFFFF"/>
                </a:solidFill>
                <a:latin typeface="MiSans" pitchFamily="34" charset="-122"/>
                <a:ea typeface="MiSans" pitchFamily="34" charset="-122"/>
                <a:cs typeface="MiSans" pitchFamily="34" charset="-120"/>
              </a:rPr>
              <a:t>2026/04/11</a:t>
            </a:r>
            <a:endParaRPr lang="en-US" sz="1600" dirty="0"/>
          </a:p>
        </p:txBody>
      </p:sp>
      <p:sp>
        <p:nvSpPr>
          <p:cNvPr id="8" name="Shape 3"/>
          <p:cNvSpPr/>
          <p:nvPr/>
        </p:nvSpPr>
        <p:spPr>
          <a:xfrm>
            <a:off x="779721" y="6270738"/>
            <a:ext cx="0" cy="125950"/>
          </a:xfrm>
          <a:prstGeom prst="line">
            <a:avLst/>
          </a:prstGeom>
          <a:noFill/>
          <a:ln w="12700">
            <a:solidFill>
              <a:srgbClr val="FFFFFF"/>
            </a:solidFill>
            <a:prstDash val="solid"/>
            <a:headEnd type="none"/>
            <a:tailEnd type="none"/>
          </a:ln>
        </p:spPr>
      </p:sp>
      <p:sp>
        <p:nvSpPr>
          <p:cNvPr id="9" name="Shape 4"/>
          <p:cNvSpPr/>
          <p:nvPr/>
        </p:nvSpPr>
        <p:spPr>
          <a:xfrm>
            <a:off x="867722" y="6270738"/>
            <a:ext cx="0" cy="125950"/>
          </a:xfrm>
          <a:prstGeom prst="line">
            <a:avLst/>
          </a:prstGeom>
          <a:noFill/>
          <a:ln w="12700">
            <a:solidFill>
              <a:srgbClr val="FFFFFF"/>
            </a:solidFill>
            <a:prstDash val="solid"/>
            <a:headEnd type="none"/>
            <a:tailEnd type="none"/>
          </a:ln>
        </p:spPr>
      </p:sp>
      <p:sp>
        <p:nvSpPr>
          <p:cNvPr id="10" name="Shape 5"/>
          <p:cNvSpPr/>
          <p:nvPr/>
        </p:nvSpPr>
        <p:spPr>
          <a:xfrm>
            <a:off x="955722" y="6166356"/>
            <a:ext cx="0" cy="220414"/>
          </a:xfrm>
          <a:prstGeom prst="line">
            <a:avLst/>
          </a:prstGeom>
          <a:noFill/>
          <a:ln w="12700">
            <a:solidFill>
              <a:srgbClr val="FFFFFF"/>
            </a:solidFill>
            <a:prstDash val="solid"/>
            <a:headEnd type="none"/>
            <a:tailEnd type="none"/>
          </a:ln>
        </p:spPr>
      </p:sp>
      <p:sp>
        <p:nvSpPr>
          <p:cNvPr id="11" name="Shape 6"/>
          <p:cNvSpPr/>
          <p:nvPr/>
        </p:nvSpPr>
        <p:spPr>
          <a:xfrm>
            <a:off x="1043723" y="6270738"/>
            <a:ext cx="0" cy="125950"/>
          </a:xfrm>
          <a:prstGeom prst="line">
            <a:avLst/>
          </a:prstGeom>
          <a:noFill/>
          <a:ln w="12700">
            <a:solidFill>
              <a:srgbClr val="FFFFFF"/>
            </a:solidFill>
            <a:prstDash val="solid"/>
            <a:headEnd type="none"/>
            <a:tailEnd type="none"/>
          </a:ln>
        </p:spPr>
      </p:sp>
      <p:sp>
        <p:nvSpPr>
          <p:cNvPr id="12" name="Shape 7"/>
          <p:cNvSpPr/>
          <p:nvPr/>
        </p:nvSpPr>
        <p:spPr>
          <a:xfrm>
            <a:off x="1131723" y="6270738"/>
            <a:ext cx="0" cy="125950"/>
          </a:xfrm>
          <a:prstGeom prst="line">
            <a:avLst/>
          </a:prstGeom>
          <a:noFill/>
          <a:ln w="12700">
            <a:solidFill>
              <a:srgbClr val="FFFFFF"/>
            </a:solidFill>
            <a:prstDash val="solid"/>
            <a:headEnd type="none"/>
            <a:tailEnd type="none"/>
          </a:ln>
        </p:spPr>
      </p:sp>
      <p:sp>
        <p:nvSpPr>
          <p:cNvPr id="13" name="Shape 8"/>
          <p:cNvSpPr/>
          <p:nvPr/>
        </p:nvSpPr>
        <p:spPr>
          <a:xfrm>
            <a:off x="10796832" y="6396446"/>
            <a:ext cx="116844" cy="116844"/>
          </a:xfrm>
          <a:prstGeom prst="ellipse">
            <a:avLst/>
          </a:prstGeom>
          <a:solidFill>
            <a:srgbClr val="FFFFFF"/>
          </a:solidFill>
        </p:spPr>
      </p:sp>
      <p:sp>
        <p:nvSpPr>
          <p:cNvPr id="14" name="Shape 9"/>
          <p:cNvSpPr/>
          <p:nvPr/>
        </p:nvSpPr>
        <p:spPr>
          <a:xfrm>
            <a:off x="10989337" y="6396446"/>
            <a:ext cx="116844" cy="116844"/>
          </a:xfrm>
          <a:prstGeom prst="ellipse">
            <a:avLst/>
          </a:prstGeom>
          <a:solidFill>
            <a:srgbClr val="FFFFFF">
              <a:alpha val="56471"/>
            </a:srgbClr>
          </a:solidFill>
        </p:spPr>
      </p:sp>
      <p:sp>
        <p:nvSpPr>
          <p:cNvPr id="15" name="Shape 10"/>
          <p:cNvSpPr/>
          <p:nvPr/>
        </p:nvSpPr>
        <p:spPr>
          <a:xfrm>
            <a:off x="11186107" y="6396446"/>
            <a:ext cx="116844" cy="116844"/>
          </a:xfrm>
          <a:prstGeom prst="ellipse">
            <a:avLst/>
          </a:prstGeom>
          <a:solidFill>
            <a:srgbClr val="FFFFFF"/>
          </a:solidFill>
        </p:spPr>
      </p:sp>
      <p:sp>
        <p:nvSpPr>
          <p:cNvPr id="16" name="Shape 11"/>
          <p:cNvSpPr/>
          <p:nvPr/>
        </p:nvSpPr>
        <p:spPr>
          <a:xfrm>
            <a:off x="11382877" y="6396446"/>
            <a:ext cx="116844" cy="116844"/>
          </a:xfrm>
          <a:prstGeom prst="ellipse">
            <a:avLst/>
          </a:prstGeom>
          <a:solidFill>
            <a:srgbClr val="FFFFFF">
              <a:alpha val="56471"/>
            </a:srgbClr>
          </a:solidFill>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2g.jpg"/>
          <p:cNvPicPr>
            <a:picLocks noChangeAspect="1"/>
          </p:cNvPicPr>
          <p:nvPr/>
        </p:nvPicPr>
        <p:blipFill>
          <a:blip r:embed="rId1"/>
          <a:srcRect/>
          <a:stretch>
            <a:fillRect/>
          </a:stretch>
        </p:blipFill>
        <p:spPr>
          <a:xfrm>
            <a:off x="-11363" y="-11130"/>
            <a:ext cx="12203363" cy="6871023"/>
          </a:xfrm>
          <a:prstGeom prst="rect">
            <a:avLst/>
          </a:prstGeom>
        </p:spPr>
      </p:pic>
      <p:sp>
        <p:nvSpPr>
          <p:cNvPr id="3" name="Shape 0"/>
          <p:cNvSpPr/>
          <p:nvPr/>
        </p:nvSpPr>
        <p:spPr>
          <a:xfrm>
            <a:off x="949027" y="6176992"/>
            <a:ext cx="0" cy="125950"/>
          </a:xfrm>
          <a:prstGeom prst="line">
            <a:avLst/>
          </a:prstGeom>
          <a:noFill/>
          <a:ln w="12700">
            <a:solidFill>
              <a:srgbClr val="FFFFFF"/>
            </a:solidFill>
            <a:prstDash val="solid"/>
            <a:headEnd type="none"/>
            <a:tailEnd type="none"/>
          </a:ln>
        </p:spPr>
      </p:sp>
      <p:sp>
        <p:nvSpPr>
          <p:cNvPr id="4" name="Shape 1"/>
          <p:cNvSpPr/>
          <p:nvPr/>
        </p:nvSpPr>
        <p:spPr>
          <a:xfrm>
            <a:off x="1037028" y="6176992"/>
            <a:ext cx="0" cy="125950"/>
          </a:xfrm>
          <a:prstGeom prst="line">
            <a:avLst/>
          </a:prstGeom>
          <a:noFill/>
          <a:ln w="12700">
            <a:solidFill>
              <a:srgbClr val="FFFFFF"/>
            </a:solidFill>
            <a:prstDash val="solid"/>
            <a:headEnd type="none"/>
            <a:tailEnd type="none"/>
          </a:ln>
        </p:spPr>
      </p:sp>
      <p:sp>
        <p:nvSpPr>
          <p:cNvPr id="5" name="Shape 2"/>
          <p:cNvSpPr/>
          <p:nvPr/>
        </p:nvSpPr>
        <p:spPr>
          <a:xfrm>
            <a:off x="1125028" y="6072610"/>
            <a:ext cx="0" cy="220414"/>
          </a:xfrm>
          <a:prstGeom prst="line">
            <a:avLst/>
          </a:prstGeom>
          <a:noFill/>
          <a:ln w="12700">
            <a:solidFill>
              <a:srgbClr val="FFFFFF"/>
            </a:solidFill>
            <a:prstDash val="solid"/>
            <a:headEnd type="none"/>
            <a:tailEnd type="none"/>
          </a:ln>
        </p:spPr>
      </p:sp>
      <p:sp>
        <p:nvSpPr>
          <p:cNvPr id="6" name="Shape 3"/>
          <p:cNvSpPr/>
          <p:nvPr/>
        </p:nvSpPr>
        <p:spPr>
          <a:xfrm>
            <a:off x="1213029" y="6176992"/>
            <a:ext cx="0" cy="125950"/>
          </a:xfrm>
          <a:prstGeom prst="line">
            <a:avLst/>
          </a:prstGeom>
          <a:noFill/>
          <a:ln w="12700">
            <a:solidFill>
              <a:srgbClr val="FFFFFF"/>
            </a:solidFill>
            <a:prstDash val="solid"/>
            <a:headEnd type="none"/>
            <a:tailEnd type="none"/>
          </a:ln>
        </p:spPr>
      </p:sp>
      <p:sp>
        <p:nvSpPr>
          <p:cNvPr id="7" name="Shape 4"/>
          <p:cNvSpPr/>
          <p:nvPr/>
        </p:nvSpPr>
        <p:spPr>
          <a:xfrm>
            <a:off x="1301029" y="6176992"/>
            <a:ext cx="0" cy="125950"/>
          </a:xfrm>
          <a:prstGeom prst="line">
            <a:avLst/>
          </a:prstGeom>
          <a:noFill/>
          <a:ln w="12700">
            <a:solidFill>
              <a:srgbClr val="FFFFFF"/>
            </a:solidFill>
            <a:prstDash val="solid"/>
            <a:headEnd type="none"/>
            <a:tailEnd type="none"/>
          </a:ln>
        </p:spPr>
      </p:sp>
      <p:sp>
        <p:nvSpPr>
          <p:cNvPr id="8" name="Shape 5"/>
          <p:cNvSpPr/>
          <p:nvPr/>
        </p:nvSpPr>
        <p:spPr>
          <a:xfrm flipH="1">
            <a:off x="11451321" y="672670"/>
            <a:ext cx="77797" cy="72000"/>
          </a:xfrm>
          <a:prstGeom prst="ellipse">
            <a:avLst/>
          </a:prstGeom>
          <a:solidFill>
            <a:srgbClr val="FFFFFF"/>
          </a:solidFill>
        </p:spPr>
      </p:sp>
      <p:sp>
        <p:nvSpPr>
          <p:cNvPr id="9" name="Shape 6"/>
          <p:cNvSpPr/>
          <p:nvPr/>
        </p:nvSpPr>
        <p:spPr>
          <a:xfrm flipH="1">
            <a:off x="11323146" y="672670"/>
            <a:ext cx="77797" cy="72000"/>
          </a:xfrm>
          <a:prstGeom prst="ellipse">
            <a:avLst/>
          </a:prstGeom>
          <a:solidFill>
            <a:srgbClr val="FFFFFF">
              <a:alpha val="56471"/>
            </a:srgbClr>
          </a:solidFill>
        </p:spPr>
      </p:sp>
      <p:sp>
        <p:nvSpPr>
          <p:cNvPr id="10" name="Shape 7"/>
          <p:cNvSpPr/>
          <p:nvPr/>
        </p:nvSpPr>
        <p:spPr>
          <a:xfrm flipH="1">
            <a:off x="11192132" y="672670"/>
            <a:ext cx="77797" cy="72000"/>
          </a:xfrm>
          <a:prstGeom prst="ellipse">
            <a:avLst/>
          </a:prstGeom>
          <a:solidFill>
            <a:srgbClr val="FFFFFF"/>
          </a:solidFill>
        </p:spPr>
      </p:sp>
      <p:sp>
        <p:nvSpPr>
          <p:cNvPr id="11" name="Shape 8"/>
          <p:cNvSpPr/>
          <p:nvPr/>
        </p:nvSpPr>
        <p:spPr>
          <a:xfrm flipH="1">
            <a:off x="11061118" y="672670"/>
            <a:ext cx="77797" cy="72000"/>
          </a:xfrm>
          <a:prstGeom prst="ellipse">
            <a:avLst/>
          </a:prstGeom>
          <a:solidFill>
            <a:srgbClr val="FFFFFF">
              <a:alpha val="56471"/>
            </a:srgbClr>
          </a:solidFill>
        </p:spPr>
      </p:sp>
      <p:pic>
        <p:nvPicPr>
          <p:cNvPr id="12" name="Image 1" descr="https://kimi-img.moonshot.cn/pub/slides/slides_tmpl/image/25-08-27-20:02:06-d2nf7fh8bjvh7rlj05v0.png"/>
          <p:cNvPicPr>
            <a:picLocks noChangeAspect="1"/>
          </p:cNvPicPr>
          <p:nvPr/>
        </p:nvPicPr>
        <p:blipFill>
          <a:blip r:embed="rId2"/>
          <a:stretch>
            <a:fillRect/>
          </a:stretch>
        </p:blipFill>
        <p:spPr>
          <a:xfrm>
            <a:off x="1096868" y="2174555"/>
            <a:ext cx="723900" cy="1511962"/>
          </a:xfrm>
          <a:prstGeom prst="rect">
            <a:avLst/>
          </a:prstGeom>
        </p:spPr>
      </p:pic>
      <p:pic>
        <p:nvPicPr>
          <p:cNvPr id="13" name="Image 2" descr="https://kimi-img.moonshot.cn/pub/slides/slides_tmpl/image/25-08-27-20:02:06-d2nf7fh8bjvh7rlj05v0.png"/>
          <p:cNvPicPr>
            <a:picLocks noChangeAspect="1"/>
          </p:cNvPicPr>
          <p:nvPr/>
        </p:nvPicPr>
        <p:blipFill>
          <a:blip r:embed="rId2"/>
          <a:stretch>
            <a:fillRect/>
          </a:stretch>
        </p:blipFill>
        <p:spPr>
          <a:xfrm>
            <a:off x="4469270" y="2174555"/>
            <a:ext cx="723900" cy="1511962"/>
          </a:xfrm>
          <a:prstGeom prst="rect">
            <a:avLst/>
          </a:prstGeom>
        </p:spPr>
      </p:pic>
      <p:pic>
        <p:nvPicPr>
          <p:cNvPr id="14" name="Image 3" descr="https://kimi-img.moonshot.cn/pub/slides/slides_tmpl/image/25-08-27-20:02:06-d2nf7fh8bjvh7rlj05v0.png"/>
          <p:cNvPicPr>
            <a:picLocks noChangeAspect="1"/>
          </p:cNvPicPr>
          <p:nvPr/>
        </p:nvPicPr>
        <p:blipFill>
          <a:blip r:embed="rId2"/>
          <a:stretch>
            <a:fillRect/>
          </a:stretch>
        </p:blipFill>
        <p:spPr>
          <a:xfrm>
            <a:off x="7849360" y="2174555"/>
            <a:ext cx="723900" cy="1511962"/>
          </a:xfrm>
          <a:prstGeom prst="rect">
            <a:avLst/>
          </a:prstGeom>
        </p:spPr>
      </p:pic>
      <p:pic>
        <p:nvPicPr>
          <p:cNvPr id="15" name="Image 4" descr="https://kimi-img.moonshot.cn/pub/slides/slides_tmpl/image/25-08-27-20:02:06-d2nf7fh8bjvh7rlj05v0.png"/>
          <p:cNvPicPr>
            <a:picLocks noChangeAspect="1"/>
          </p:cNvPicPr>
          <p:nvPr/>
        </p:nvPicPr>
        <p:blipFill>
          <a:blip r:embed="rId2"/>
          <a:stretch>
            <a:fillRect/>
          </a:stretch>
        </p:blipFill>
        <p:spPr>
          <a:xfrm>
            <a:off x="1096868" y="3780616"/>
            <a:ext cx="723900" cy="1511962"/>
          </a:xfrm>
          <a:prstGeom prst="rect">
            <a:avLst/>
          </a:prstGeom>
        </p:spPr>
      </p:pic>
      <p:pic>
        <p:nvPicPr>
          <p:cNvPr id="16" name="Image 5" descr="https://kimi-img.moonshot.cn/pub/slides/slides_tmpl/image/25-08-27-20:02:06-d2nf7fh8bjvh7rlj05v0.png"/>
          <p:cNvPicPr>
            <a:picLocks noChangeAspect="1"/>
          </p:cNvPicPr>
          <p:nvPr/>
        </p:nvPicPr>
        <p:blipFill>
          <a:blip r:embed="rId2"/>
          <a:stretch>
            <a:fillRect/>
          </a:stretch>
        </p:blipFill>
        <p:spPr>
          <a:xfrm>
            <a:off x="4469270" y="3780616"/>
            <a:ext cx="723900" cy="1511962"/>
          </a:xfrm>
          <a:prstGeom prst="rect">
            <a:avLst/>
          </a:prstGeom>
        </p:spPr>
      </p:pic>
      <p:pic>
        <p:nvPicPr>
          <p:cNvPr id="17" name="Image 6" descr="https://kimi-img.moonshot.cn/pub/slides/slides_tmpl/image/25-08-27-20:02:06-d2nf7fh8bjvh7rlj05v0.png"/>
          <p:cNvPicPr>
            <a:picLocks noChangeAspect="1"/>
          </p:cNvPicPr>
          <p:nvPr/>
        </p:nvPicPr>
        <p:blipFill>
          <a:blip r:embed="rId2"/>
          <a:stretch>
            <a:fillRect/>
          </a:stretch>
        </p:blipFill>
        <p:spPr>
          <a:xfrm>
            <a:off x="7849360" y="3780616"/>
            <a:ext cx="723900" cy="1511962"/>
          </a:xfrm>
          <a:prstGeom prst="rect">
            <a:avLst/>
          </a:prstGeom>
        </p:spPr>
      </p:pic>
      <p:sp>
        <p:nvSpPr>
          <p:cNvPr id="18" name="Text 9"/>
          <p:cNvSpPr/>
          <p:nvPr/>
        </p:nvSpPr>
        <p:spPr>
          <a:xfrm>
            <a:off x="721377" y="941261"/>
            <a:ext cx="3260015" cy="606887"/>
          </a:xfrm>
          <a:prstGeom prst="rect">
            <a:avLst/>
          </a:prstGeom>
          <a:noFill/>
        </p:spPr>
        <p:txBody>
          <a:bodyPr wrap="square" lIns="91440" tIns="45720" rIns="91440" bIns="45720" rtlCol="0" anchor="t"/>
          <a:lstStyle/>
          <a:p>
            <a:pPr>
              <a:lnSpc>
                <a:spcPct val="90000"/>
              </a:lnSpc>
            </a:pPr>
            <a:r>
              <a:rPr lang="en-US" sz="3600" dirty="0">
                <a:solidFill>
                  <a:srgbClr val="FFFFFF"/>
                </a:solidFill>
                <a:latin typeface="MiSans" pitchFamily="34" charset="-122"/>
                <a:ea typeface="MiSans" pitchFamily="34" charset="-122"/>
                <a:cs typeface="MiSans" pitchFamily="34" charset="-120"/>
              </a:rPr>
              <a:t>目录</a:t>
            </a:r>
            <a:endParaRPr lang="en-US" sz="1600" dirty="0"/>
          </a:p>
        </p:txBody>
      </p:sp>
      <p:sp>
        <p:nvSpPr>
          <p:cNvPr id="19" name="Text 10"/>
          <p:cNvSpPr/>
          <p:nvPr/>
        </p:nvSpPr>
        <p:spPr>
          <a:xfrm>
            <a:off x="827415" y="600948"/>
            <a:ext cx="1327637" cy="526058"/>
          </a:xfrm>
          <a:prstGeom prst="rect">
            <a:avLst/>
          </a:prstGeom>
          <a:noFill/>
        </p:spPr>
        <p:txBody>
          <a:bodyPr wrap="square" lIns="0" tIns="0" rIns="0" bIns="0" rtlCol="0" anchor="t"/>
          <a:lstStyle/>
          <a:p>
            <a:pPr>
              <a:lnSpc>
                <a:spcPct val="100000"/>
              </a:lnSpc>
            </a:pPr>
            <a:r>
              <a:rPr lang="en-US" sz="1400" dirty="0">
                <a:solidFill>
                  <a:srgbClr val="517BDA"/>
                </a:solidFill>
                <a:latin typeface="MiSans" pitchFamily="34" charset="-122"/>
                <a:ea typeface="MiSans" pitchFamily="34" charset="-122"/>
                <a:cs typeface="MiSans" pitchFamily="34" charset="-120"/>
              </a:rPr>
              <a:t>Contents</a:t>
            </a:r>
            <a:endParaRPr lang="en-US" sz="1600" dirty="0"/>
          </a:p>
        </p:txBody>
      </p:sp>
      <p:pic>
        <p:nvPicPr>
          <p:cNvPr id="20" name="Image 7" descr="https://kimi-img.moonshot.cn/pub/slides/slides_tmpl/image/25-08-27-20:02:05-d2nf7f98bjvh7rlj05tg.png"/>
          <p:cNvPicPr>
            <a:picLocks noChangeAspect="1"/>
          </p:cNvPicPr>
          <p:nvPr/>
        </p:nvPicPr>
        <p:blipFill>
          <a:blip r:embed="rId3"/>
          <a:stretch>
            <a:fillRect/>
          </a:stretch>
        </p:blipFill>
        <p:spPr>
          <a:xfrm>
            <a:off x="1995784" y="1395748"/>
            <a:ext cx="355600" cy="304800"/>
          </a:xfrm>
          <a:prstGeom prst="rect">
            <a:avLst/>
          </a:prstGeom>
        </p:spPr>
      </p:pic>
      <p:sp>
        <p:nvSpPr>
          <p:cNvPr id="21" name="Shape 11"/>
          <p:cNvSpPr/>
          <p:nvPr/>
        </p:nvSpPr>
        <p:spPr>
          <a:xfrm>
            <a:off x="1613338" y="2453555"/>
            <a:ext cx="541714" cy="460126"/>
          </a:xfrm>
          <a:prstGeom prst="rect">
            <a:avLst/>
          </a:prstGeom>
          <a:solidFill>
            <a:srgbClr val="000000">
              <a:alpha val="0"/>
            </a:srgbClr>
          </a:solidFill>
        </p:spPr>
      </p:sp>
      <p:sp>
        <p:nvSpPr>
          <p:cNvPr id="22" name="Text 12"/>
          <p:cNvSpPr/>
          <p:nvPr/>
        </p:nvSpPr>
        <p:spPr>
          <a:xfrm>
            <a:off x="1613338" y="2453555"/>
            <a:ext cx="541714" cy="460126"/>
          </a:xfrm>
          <a:prstGeom prst="rect">
            <a:avLst/>
          </a:prstGeom>
          <a:noFill/>
        </p:spPr>
        <p:txBody>
          <a:bodyPr wrap="square" lIns="0" tIns="0" rIns="0" bIns="0" rtlCol="0" anchor="t"/>
          <a:lstStyle/>
          <a:p>
            <a:pPr>
              <a:lnSpc>
                <a:spcPct val="110000"/>
              </a:lnSpc>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23" name="Text 13"/>
          <p:cNvSpPr/>
          <p:nvPr/>
        </p:nvSpPr>
        <p:spPr>
          <a:xfrm>
            <a:off x="1613337" y="2954311"/>
            <a:ext cx="3035114" cy="248642"/>
          </a:xfrm>
          <a:prstGeom prst="rect">
            <a:avLst/>
          </a:prstGeom>
          <a:noFill/>
        </p:spPr>
        <p:txBody>
          <a:bodyPr wrap="square" lIns="0" tIns="0" rIns="0" bIns="0" rtlCol="0" anchor="t">
            <a:spAutoFit/>
          </a:bodyPr>
          <a:lstStyle/>
          <a:p>
            <a:pPr>
              <a:lnSpc>
                <a:spcPct val="100000"/>
              </a:lnSpc>
            </a:pPr>
            <a:r>
              <a:rPr lang="en-US" sz="1600" dirty="0">
                <a:solidFill>
                  <a:srgbClr val="FFFFFF"/>
                </a:solidFill>
                <a:latin typeface="MiSans" pitchFamily="34" charset="-122"/>
                <a:ea typeface="MiSans" pitchFamily="34" charset="-122"/>
                <a:cs typeface="MiSans" pitchFamily="34" charset="-120"/>
              </a:rPr>
              <a:t>Kinematics Essentials</a:t>
            </a:r>
            <a:endParaRPr lang="en-US" sz="1600" dirty="0"/>
          </a:p>
        </p:txBody>
      </p:sp>
      <p:sp>
        <p:nvSpPr>
          <p:cNvPr id="24" name="Shape 14"/>
          <p:cNvSpPr/>
          <p:nvPr/>
        </p:nvSpPr>
        <p:spPr>
          <a:xfrm>
            <a:off x="4985740" y="2453555"/>
            <a:ext cx="541714" cy="460126"/>
          </a:xfrm>
          <a:prstGeom prst="rect">
            <a:avLst/>
          </a:prstGeom>
          <a:solidFill>
            <a:srgbClr val="000000">
              <a:alpha val="0"/>
            </a:srgbClr>
          </a:solidFill>
        </p:spPr>
      </p:sp>
      <p:sp>
        <p:nvSpPr>
          <p:cNvPr id="25" name="Text 15"/>
          <p:cNvSpPr/>
          <p:nvPr/>
        </p:nvSpPr>
        <p:spPr>
          <a:xfrm>
            <a:off x="4985740" y="2453555"/>
            <a:ext cx="541714" cy="460126"/>
          </a:xfrm>
          <a:prstGeom prst="rect">
            <a:avLst/>
          </a:prstGeom>
          <a:noFill/>
        </p:spPr>
        <p:txBody>
          <a:bodyPr wrap="square" lIns="0" tIns="0" rIns="0" bIns="0" rtlCol="0" anchor="t"/>
          <a:lstStyle/>
          <a:p>
            <a:pPr>
              <a:lnSpc>
                <a:spcPct val="110000"/>
              </a:lnSpc>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6" name="Text 16"/>
          <p:cNvSpPr/>
          <p:nvPr/>
        </p:nvSpPr>
        <p:spPr>
          <a:xfrm>
            <a:off x="4985739" y="2954311"/>
            <a:ext cx="3035114" cy="248642"/>
          </a:xfrm>
          <a:prstGeom prst="rect">
            <a:avLst/>
          </a:prstGeom>
          <a:noFill/>
        </p:spPr>
        <p:txBody>
          <a:bodyPr wrap="square" lIns="0" tIns="0" rIns="0" bIns="0" rtlCol="0" anchor="t">
            <a:spAutoFit/>
          </a:bodyPr>
          <a:lstStyle/>
          <a:p>
            <a:pPr>
              <a:lnSpc>
                <a:spcPct val="100000"/>
              </a:lnSpc>
            </a:pPr>
            <a:r>
              <a:rPr lang="en-US" sz="1600" dirty="0">
                <a:solidFill>
                  <a:srgbClr val="FFFFFF"/>
                </a:solidFill>
                <a:latin typeface="MiSans" pitchFamily="34" charset="-122"/>
                <a:ea typeface="MiSans" pitchFamily="34" charset="-122"/>
                <a:cs typeface="MiSans" pitchFamily="34" charset="-120"/>
              </a:rPr>
              <a:t>Newton's Laws &amp; Forces</a:t>
            </a:r>
            <a:endParaRPr lang="en-US" sz="1600" dirty="0"/>
          </a:p>
        </p:txBody>
      </p:sp>
      <p:sp>
        <p:nvSpPr>
          <p:cNvPr id="27" name="Shape 17"/>
          <p:cNvSpPr/>
          <p:nvPr/>
        </p:nvSpPr>
        <p:spPr>
          <a:xfrm>
            <a:off x="8365830" y="2453555"/>
            <a:ext cx="541714" cy="460126"/>
          </a:xfrm>
          <a:prstGeom prst="rect">
            <a:avLst/>
          </a:prstGeom>
          <a:solidFill>
            <a:srgbClr val="000000">
              <a:alpha val="0"/>
            </a:srgbClr>
          </a:solidFill>
        </p:spPr>
      </p:sp>
      <p:sp>
        <p:nvSpPr>
          <p:cNvPr id="28" name="Text 18"/>
          <p:cNvSpPr/>
          <p:nvPr/>
        </p:nvSpPr>
        <p:spPr>
          <a:xfrm>
            <a:off x="8365830" y="2453555"/>
            <a:ext cx="541714" cy="460126"/>
          </a:xfrm>
          <a:prstGeom prst="rect">
            <a:avLst/>
          </a:prstGeom>
          <a:noFill/>
        </p:spPr>
        <p:txBody>
          <a:bodyPr wrap="square" lIns="0" tIns="0" rIns="0" bIns="0" rtlCol="0" anchor="t"/>
          <a:lstStyle/>
          <a:p>
            <a:pPr>
              <a:lnSpc>
                <a:spcPct val="110000"/>
              </a:lnSpc>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9" name="Text 19"/>
          <p:cNvSpPr/>
          <p:nvPr/>
        </p:nvSpPr>
        <p:spPr>
          <a:xfrm>
            <a:off x="8365829" y="2954311"/>
            <a:ext cx="3035114" cy="248642"/>
          </a:xfrm>
          <a:prstGeom prst="rect">
            <a:avLst/>
          </a:prstGeom>
          <a:noFill/>
        </p:spPr>
        <p:txBody>
          <a:bodyPr wrap="square" lIns="0" tIns="0" rIns="0" bIns="0" rtlCol="0" anchor="t">
            <a:spAutoFit/>
          </a:bodyPr>
          <a:lstStyle/>
          <a:p>
            <a:pPr>
              <a:lnSpc>
                <a:spcPct val="100000"/>
              </a:lnSpc>
            </a:pPr>
            <a:r>
              <a:rPr lang="en-US" sz="1600" dirty="0">
                <a:solidFill>
                  <a:srgbClr val="FFFFFF"/>
                </a:solidFill>
                <a:latin typeface="MiSans" pitchFamily="34" charset="-122"/>
                <a:ea typeface="MiSans" pitchFamily="34" charset="-122"/>
                <a:cs typeface="MiSans" pitchFamily="34" charset="-120"/>
              </a:rPr>
              <a:t>Energy and Work</a:t>
            </a:r>
            <a:endParaRPr lang="en-US" sz="1600" dirty="0"/>
          </a:p>
        </p:txBody>
      </p:sp>
      <p:sp>
        <p:nvSpPr>
          <p:cNvPr id="30" name="Shape 20"/>
          <p:cNvSpPr/>
          <p:nvPr/>
        </p:nvSpPr>
        <p:spPr>
          <a:xfrm>
            <a:off x="1613338" y="4059616"/>
            <a:ext cx="541714" cy="460126"/>
          </a:xfrm>
          <a:prstGeom prst="rect">
            <a:avLst/>
          </a:prstGeom>
          <a:solidFill>
            <a:srgbClr val="000000">
              <a:alpha val="0"/>
            </a:srgbClr>
          </a:solidFill>
        </p:spPr>
      </p:sp>
      <p:sp>
        <p:nvSpPr>
          <p:cNvPr id="31" name="Text 21"/>
          <p:cNvSpPr/>
          <p:nvPr/>
        </p:nvSpPr>
        <p:spPr>
          <a:xfrm>
            <a:off x="1613338" y="4059616"/>
            <a:ext cx="541714" cy="460126"/>
          </a:xfrm>
          <a:prstGeom prst="rect">
            <a:avLst/>
          </a:prstGeom>
          <a:noFill/>
        </p:spPr>
        <p:txBody>
          <a:bodyPr wrap="square" lIns="0" tIns="0" rIns="0" bIns="0" rtlCol="0" anchor="t"/>
          <a:lstStyle/>
          <a:p>
            <a:pPr>
              <a:lnSpc>
                <a:spcPct val="110000"/>
              </a:lnSpc>
            </a:pPr>
            <a:r>
              <a:rPr lang="en-US" sz="2800" dirty="0">
                <a:solidFill>
                  <a:srgbClr val="FFFFFF"/>
                </a:solidFill>
                <a:latin typeface="MiSans" pitchFamily="34" charset="-122"/>
                <a:ea typeface="MiSans" pitchFamily="34" charset="-122"/>
                <a:cs typeface="MiSans" pitchFamily="34" charset="-120"/>
              </a:rPr>
              <a:t>04</a:t>
            </a:r>
            <a:endParaRPr lang="en-US" sz="1600" dirty="0"/>
          </a:p>
        </p:txBody>
      </p:sp>
      <p:sp>
        <p:nvSpPr>
          <p:cNvPr id="32" name="Text 22"/>
          <p:cNvSpPr/>
          <p:nvPr/>
        </p:nvSpPr>
        <p:spPr>
          <a:xfrm>
            <a:off x="1613337" y="4560372"/>
            <a:ext cx="3035114" cy="248642"/>
          </a:xfrm>
          <a:prstGeom prst="rect">
            <a:avLst/>
          </a:prstGeom>
          <a:noFill/>
        </p:spPr>
        <p:txBody>
          <a:bodyPr wrap="square" lIns="0" tIns="0" rIns="0" bIns="0" rtlCol="0" anchor="t">
            <a:spAutoFit/>
          </a:bodyPr>
          <a:lstStyle/>
          <a:p>
            <a:pPr>
              <a:lnSpc>
                <a:spcPct val="100000"/>
              </a:lnSpc>
            </a:pPr>
            <a:r>
              <a:rPr lang="en-US" sz="1600" dirty="0">
                <a:solidFill>
                  <a:srgbClr val="FFFFFF"/>
                </a:solidFill>
                <a:latin typeface="MiSans" pitchFamily="34" charset="-122"/>
                <a:ea typeface="MiSans" pitchFamily="34" charset="-122"/>
                <a:cs typeface="MiSans" pitchFamily="34" charset="-120"/>
              </a:rPr>
              <a:t>Momentum and Collisions</a:t>
            </a:r>
            <a:endParaRPr lang="en-US" sz="1600" dirty="0"/>
          </a:p>
        </p:txBody>
      </p:sp>
      <p:sp>
        <p:nvSpPr>
          <p:cNvPr id="33" name="Shape 23"/>
          <p:cNvSpPr/>
          <p:nvPr/>
        </p:nvSpPr>
        <p:spPr>
          <a:xfrm>
            <a:off x="4985740" y="4059616"/>
            <a:ext cx="541714" cy="460126"/>
          </a:xfrm>
          <a:prstGeom prst="rect">
            <a:avLst/>
          </a:prstGeom>
          <a:solidFill>
            <a:srgbClr val="000000">
              <a:alpha val="0"/>
            </a:srgbClr>
          </a:solidFill>
        </p:spPr>
      </p:sp>
      <p:sp>
        <p:nvSpPr>
          <p:cNvPr id="34" name="Text 24"/>
          <p:cNvSpPr/>
          <p:nvPr/>
        </p:nvSpPr>
        <p:spPr>
          <a:xfrm>
            <a:off x="4985740" y="4059616"/>
            <a:ext cx="541714" cy="460126"/>
          </a:xfrm>
          <a:prstGeom prst="rect">
            <a:avLst/>
          </a:prstGeom>
          <a:noFill/>
        </p:spPr>
        <p:txBody>
          <a:bodyPr wrap="square" lIns="0" tIns="0" rIns="0" bIns="0" rtlCol="0" anchor="t"/>
          <a:lstStyle/>
          <a:p>
            <a:pPr>
              <a:lnSpc>
                <a:spcPct val="110000"/>
              </a:lnSpc>
            </a:pPr>
            <a:r>
              <a:rPr lang="en-US" sz="2800" dirty="0">
                <a:solidFill>
                  <a:srgbClr val="FFFFFF"/>
                </a:solidFill>
                <a:latin typeface="MiSans" pitchFamily="34" charset="-122"/>
                <a:ea typeface="MiSans" pitchFamily="34" charset="-122"/>
                <a:cs typeface="MiSans" pitchFamily="34" charset="-120"/>
              </a:rPr>
              <a:t>05</a:t>
            </a:r>
            <a:endParaRPr lang="en-US" sz="1600" dirty="0"/>
          </a:p>
        </p:txBody>
      </p:sp>
      <p:sp>
        <p:nvSpPr>
          <p:cNvPr id="35" name="Text 25"/>
          <p:cNvSpPr/>
          <p:nvPr/>
        </p:nvSpPr>
        <p:spPr>
          <a:xfrm>
            <a:off x="4985739" y="4560372"/>
            <a:ext cx="3035114" cy="248642"/>
          </a:xfrm>
          <a:prstGeom prst="rect">
            <a:avLst/>
          </a:prstGeom>
          <a:noFill/>
        </p:spPr>
        <p:txBody>
          <a:bodyPr wrap="square" lIns="0" tIns="0" rIns="0" bIns="0" rtlCol="0" anchor="t">
            <a:spAutoFit/>
          </a:bodyPr>
          <a:lstStyle/>
          <a:p>
            <a:pPr>
              <a:lnSpc>
                <a:spcPct val="100000"/>
              </a:lnSpc>
            </a:pPr>
            <a:r>
              <a:rPr lang="en-US" sz="1600" dirty="0">
                <a:solidFill>
                  <a:srgbClr val="FFFFFF"/>
                </a:solidFill>
                <a:latin typeface="MiSans" pitchFamily="34" charset="-122"/>
                <a:ea typeface="MiSans" pitchFamily="34" charset="-122"/>
                <a:cs typeface="MiSans" pitchFamily="34" charset="-120"/>
              </a:rPr>
              <a:t>Rotational Motion</a:t>
            </a:r>
            <a:endParaRPr lang="en-US" sz="1600" dirty="0"/>
          </a:p>
        </p:txBody>
      </p:sp>
      <p:sp>
        <p:nvSpPr>
          <p:cNvPr id="36" name="Shape 26"/>
          <p:cNvSpPr/>
          <p:nvPr/>
        </p:nvSpPr>
        <p:spPr>
          <a:xfrm>
            <a:off x="8365830" y="4059616"/>
            <a:ext cx="541714" cy="460126"/>
          </a:xfrm>
          <a:prstGeom prst="rect">
            <a:avLst/>
          </a:prstGeom>
          <a:solidFill>
            <a:srgbClr val="000000">
              <a:alpha val="0"/>
            </a:srgbClr>
          </a:solidFill>
        </p:spPr>
      </p:sp>
      <p:sp>
        <p:nvSpPr>
          <p:cNvPr id="37" name="Text 27"/>
          <p:cNvSpPr/>
          <p:nvPr/>
        </p:nvSpPr>
        <p:spPr>
          <a:xfrm>
            <a:off x="8365830" y="4059616"/>
            <a:ext cx="541714" cy="460126"/>
          </a:xfrm>
          <a:prstGeom prst="rect">
            <a:avLst/>
          </a:prstGeom>
          <a:noFill/>
        </p:spPr>
        <p:txBody>
          <a:bodyPr wrap="square" lIns="0" tIns="0" rIns="0" bIns="0" rtlCol="0" anchor="t"/>
          <a:lstStyle/>
          <a:p>
            <a:pPr>
              <a:lnSpc>
                <a:spcPct val="110000"/>
              </a:lnSpc>
            </a:pPr>
            <a:r>
              <a:rPr lang="en-US" sz="2800" dirty="0">
                <a:solidFill>
                  <a:srgbClr val="FFFFFF"/>
                </a:solidFill>
                <a:latin typeface="MiSans" pitchFamily="34" charset="-122"/>
                <a:ea typeface="MiSans" pitchFamily="34" charset="-122"/>
                <a:cs typeface="MiSans" pitchFamily="34" charset="-120"/>
              </a:rPr>
              <a:t>06</a:t>
            </a:r>
            <a:endParaRPr lang="en-US" sz="1600" dirty="0"/>
          </a:p>
        </p:txBody>
      </p:sp>
      <p:sp>
        <p:nvSpPr>
          <p:cNvPr id="38" name="Text 28"/>
          <p:cNvSpPr/>
          <p:nvPr/>
        </p:nvSpPr>
        <p:spPr>
          <a:xfrm>
            <a:off x="8365829" y="4560372"/>
            <a:ext cx="3035114" cy="248642"/>
          </a:xfrm>
          <a:prstGeom prst="rect">
            <a:avLst/>
          </a:prstGeom>
          <a:noFill/>
        </p:spPr>
        <p:txBody>
          <a:bodyPr wrap="square" lIns="0" tIns="0" rIns="0" bIns="0" rtlCol="0" anchor="t">
            <a:spAutoFit/>
          </a:bodyPr>
          <a:lstStyle/>
          <a:p>
            <a:pPr>
              <a:lnSpc>
                <a:spcPct val="100000"/>
              </a:lnSpc>
            </a:pPr>
            <a:r>
              <a:rPr lang="en-US" sz="1600" dirty="0">
                <a:solidFill>
                  <a:srgbClr val="FFFFFF"/>
                </a:solidFill>
                <a:latin typeface="MiSans" pitchFamily="34" charset="-122"/>
                <a:ea typeface="MiSans" pitchFamily="34" charset="-122"/>
                <a:cs typeface="MiSans" pitchFamily="34" charset="-120"/>
              </a:rPr>
              <a:t>Oscillations and Fluids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3426"/>
            <a:ext cx="12191999" cy="6864626"/>
          </a:xfrm>
          <a:prstGeom prst="rect">
            <a:avLst/>
          </a:prstGeom>
        </p:spPr>
      </p:pic>
      <p:sp>
        <p:nvSpPr>
          <p:cNvPr id="3" name="Text 0"/>
          <p:cNvSpPr/>
          <p:nvPr/>
        </p:nvSpPr>
        <p:spPr>
          <a:xfrm>
            <a:off x="4119359" y="3709831"/>
            <a:ext cx="3832016" cy="1029692"/>
          </a:xfrm>
          <a:prstGeom prst="rect">
            <a:avLst/>
          </a:prstGeom>
          <a:noFill/>
        </p:spPr>
        <p:txBody>
          <a:bodyPr wrap="square" lIns="0" tIns="0" rIns="0" bIns="0" rtlCol="0" anchor="t">
            <a:spAutoFit/>
          </a:bodyPr>
          <a:lstStyle/>
          <a:p>
            <a:pPr algn="ctr">
              <a:lnSpc>
                <a:spcPct val="100000"/>
              </a:lnSpc>
            </a:pPr>
            <a:r>
              <a:rPr lang="en-US" sz="3200" dirty="0">
                <a:solidFill>
                  <a:srgbClr val="FFFFFF"/>
                </a:solidFill>
                <a:latin typeface="MiSans" pitchFamily="34" charset="-122"/>
                <a:ea typeface="MiSans" pitchFamily="34" charset="-122"/>
                <a:cs typeface="MiSans" pitchFamily="34" charset="-120"/>
              </a:rPr>
              <a:t>Kinematics Essentials</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9" name="Shape 6"/>
          <p:cNvSpPr/>
          <p:nvPr/>
        </p:nvSpPr>
        <p:spPr>
          <a:xfrm>
            <a:off x="10796832" y="6396446"/>
            <a:ext cx="116844" cy="116844"/>
          </a:xfrm>
          <a:prstGeom prst="ellipse">
            <a:avLst/>
          </a:prstGeom>
          <a:solidFill>
            <a:srgbClr val="FFFFFF"/>
          </a:solidFill>
        </p:spPr>
      </p:sp>
      <p:sp>
        <p:nvSpPr>
          <p:cNvPr id="10" name="Shape 7"/>
          <p:cNvSpPr/>
          <p:nvPr/>
        </p:nvSpPr>
        <p:spPr>
          <a:xfrm>
            <a:off x="10989337" y="6396446"/>
            <a:ext cx="116844" cy="116844"/>
          </a:xfrm>
          <a:prstGeom prst="ellipse">
            <a:avLst/>
          </a:prstGeom>
          <a:solidFill>
            <a:srgbClr val="FFFFFF">
              <a:alpha val="56471"/>
            </a:srgbClr>
          </a:solidFill>
        </p:spPr>
      </p:sp>
      <p:sp>
        <p:nvSpPr>
          <p:cNvPr id="11" name="Shape 8"/>
          <p:cNvSpPr/>
          <p:nvPr/>
        </p:nvSpPr>
        <p:spPr>
          <a:xfrm>
            <a:off x="11186107" y="6396446"/>
            <a:ext cx="116844" cy="116844"/>
          </a:xfrm>
          <a:prstGeom prst="ellipse">
            <a:avLst/>
          </a:prstGeom>
          <a:solidFill>
            <a:srgbClr val="FFFFFF"/>
          </a:solidFill>
        </p:spPr>
      </p:sp>
      <p:sp>
        <p:nvSpPr>
          <p:cNvPr id="12" name="Shape 9"/>
          <p:cNvSpPr/>
          <p:nvPr/>
        </p:nvSpPr>
        <p:spPr>
          <a:xfrm>
            <a:off x="11382877" y="6396446"/>
            <a:ext cx="116844" cy="116844"/>
          </a:xfrm>
          <a:prstGeom prst="ellipse">
            <a:avLst/>
          </a:prstGeom>
          <a:solidFill>
            <a:srgbClr val="FFFFFF">
              <a:alpha val="56471"/>
            </a:srgbClr>
          </a:solidFill>
        </p:spPr>
      </p:sp>
      <p:pic>
        <p:nvPicPr>
          <p:cNvPr id="13" name="Image 1" descr="https://kimi-img.moonshot.cn/pub/slides/slides_tmpl/image/25-08-27-20:02:06-d2nf7fh8bjvh7rlj0600.png"/>
          <p:cNvPicPr>
            <a:picLocks noChangeAspect="1"/>
          </p:cNvPicPr>
          <p:nvPr/>
        </p:nvPicPr>
        <p:blipFill>
          <a:blip r:embed="rId2"/>
          <a:stretch>
            <a:fillRect/>
          </a:stretch>
        </p:blipFill>
        <p:spPr>
          <a:xfrm>
            <a:off x="4267199" y="3446152"/>
            <a:ext cx="3657600" cy="12700"/>
          </a:xfrm>
          <a:prstGeom prst="rect">
            <a:avLst/>
          </a:prstGeom>
        </p:spPr>
      </p:pic>
      <p:sp>
        <p:nvSpPr>
          <p:cNvPr id="14" name="Shape 10"/>
          <p:cNvSpPr/>
          <p:nvPr/>
        </p:nvSpPr>
        <p:spPr>
          <a:xfrm>
            <a:off x="4893310" y="1477010"/>
            <a:ext cx="2284095" cy="2335530"/>
          </a:xfrm>
          <a:prstGeom prst="rect">
            <a:avLst/>
          </a:prstGeom>
          <a:solidFill>
            <a:srgbClr val="000000">
              <a:alpha val="0"/>
            </a:srgbClr>
          </a:solidFill>
        </p:spPr>
      </p:sp>
      <p:sp>
        <p:nvSpPr>
          <p:cNvPr id="15" name="Text 11"/>
          <p:cNvSpPr/>
          <p:nvPr/>
        </p:nvSpPr>
        <p:spPr>
          <a:xfrm>
            <a:off x="4893310" y="1477010"/>
            <a:ext cx="2284095" cy="2335530"/>
          </a:xfrm>
          <a:prstGeom prst="rect">
            <a:avLst/>
          </a:prstGeom>
          <a:noFill/>
        </p:spPr>
        <p:txBody>
          <a:bodyPr wrap="square" lIns="0" tIns="0" rIns="0" bIns="0" rtlCol="0" anchor="t"/>
          <a:lstStyle/>
          <a:p>
            <a:pPr>
              <a:lnSpc>
                <a:spcPct val="110000"/>
              </a:lnSpc>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0">
          <a:gsLst>
            <a:gs pos="0">
              <a:srgbClr val="EFFAFC"/>
            </a:gs>
            <a:gs pos="74000">
              <a:srgbClr val="72C5E9"/>
            </a:gs>
            <a:gs pos="83000">
              <a:srgbClr val="72C5E9"/>
            </a:gs>
            <a:gs pos="100000">
              <a:srgbClr val="A1D9F1"/>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0" y="0"/>
            <a:ext cx="12192000" cy="6864626"/>
          </a:xfrm>
          <a:prstGeom prst="rect">
            <a:avLst/>
          </a:prstGeom>
        </p:spPr>
      </p:pic>
      <p:sp>
        <p:nvSpPr>
          <p:cNvPr id="3" name="Shape 0"/>
          <p:cNvSpPr/>
          <p:nvPr/>
        </p:nvSpPr>
        <p:spPr>
          <a:xfrm>
            <a:off x="-352891" y="4114793"/>
            <a:ext cx="12886267" cy="0"/>
          </a:xfrm>
          <a:prstGeom prst="line">
            <a:avLst/>
          </a:prstGeom>
          <a:noFill/>
          <a:ln w="31750">
            <a:solidFill>
              <a:srgbClr val="5684E9"/>
            </a:solidFill>
            <a:prstDash val="solid"/>
            <a:headEnd type="none"/>
            <a:tailEnd type="none"/>
          </a:ln>
        </p:spPr>
      </p:sp>
      <p:pic>
        <p:nvPicPr>
          <p:cNvPr id="4" name="Image 1" descr="https://kimi-img.moonshot.cn/pub/slides/slides_tmpl/image/25-08-27-20:02:17-d2nf7i98bjvh7rlj06m0.png"/>
          <p:cNvPicPr>
            <a:picLocks noChangeAspect="1"/>
          </p:cNvPicPr>
          <p:nvPr/>
        </p:nvPicPr>
        <p:blipFill>
          <a:blip r:embed="rId2"/>
          <a:stretch>
            <a:fillRect/>
          </a:stretch>
        </p:blipFill>
        <p:spPr>
          <a:xfrm>
            <a:off x="4590706" y="2705251"/>
            <a:ext cx="1092200" cy="1892300"/>
          </a:xfrm>
          <a:prstGeom prst="rect">
            <a:avLst/>
          </a:prstGeom>
        </p:spPr>
      </p:pic>
      <p:sp>
        <p:nvSpPr>
          <p:cNvPr id="5" name="Shape 1"/>
          <p:cNvSpPr/>
          <p:nvPr/>
        </p:nvSpPr>
        <p:spPr>
          <a:xfrm>
            <a:off x="10924640" y="981848"/>
            <a:ext cx="77797" cy="72000"/>
          </a:xfrm>
          <a:prstGeom prst="ellipse">
            <a:avLst/>
          </a:prstGeom>
          <a:solidFill>
            <a:srgbClr val="FFFFFF"/>
          </a:solidFill>
        </p:spPr>
      </p:sp>
      <p:sp>
        <p:nvSpPr>
          <p:cNvPr id="6" name="Shape 2"/>
          <p:cNvSpPr/>
          <p:nvPr/>
        </p:nvSpPr>
        <p:spPr>
          <a:xfrm>
            <a:off x="11052814" y="981848"/>
            <a:ext cx="77797" cy="72000"/>
          </a:xfrm>
          <a:prstGeom prst="ellipse">
            <a:avLst/>
          </a:prstGeom>
          <a:solidFill>
            <a:srgbClr val="FFFFFF">
              <a:alpha val="56471"/>
            </a:srgbClr>
          </a:solidFill>
        </p:spPr>
      </p:sp>
      <p:sp>
        <p:nvSpPr>
          <p:cNvPr id="7" name="Shape 3"/>
          <p:cNvSpPr/>
          <p:nvPr/>
        </p:nvSpPr>
        <p:spPr>
          <a:xfrm>
            <a:off x="11183828" y="981848"/>
            <a:ext cx="77797" cy="72000"/>
          </a:xfrm>
          <a:prstGeom prst="ellipse">
            <a:avLst/>
          </a:prstGeom>
          <a:solidFill>
            <a:srgbClr val="FFFFFF"/>
          </a:solidFill>
        </p:spPr>
      </p:sp>
      <p:sp>
        <p:nvSpPr>
          <p:cNvPr id="8" name="Shape 4"/>
          <p:cNvSpPr/>
          <p:nvPr/>
        </p:nvSpPr>
        <p:spPr>
          <a:xfrm>
            <a:off x="11314843" y="981848"/>
            <a:ext cx="77797" cy="72000"/>
          </a:xfrm>
          <a:prstGeom prst="ellipse">
            <a:avLst/>
          </a:prstGeom>
          <a:solidFill>
            <a:srgbClr val="FFFFFF">
              <a:alpha val="56471"/>
            </a:srgbClr>
          </a:solidFill>
        </p:spPr>
      </p:sp>
      <p:pic>
        <p:nvPicPr>
          <p:cNvPr id="9" name="Image 2" descr="https://kimi-img.moonshot.cn/pub/slides/slides_tmpl/image/25-08-27-20:02:17-d2nf7i98bjvh7rlj06m0.png"/>
          <p:cNvPicPr>
            <a:picLocks noChangeAspect="1"/>
          </p:cNvPicPr>
          <p:nvPr/>
        </p:nvPicPr>
        <p:blipFill>
          <a:blip r:embed="rId2"/>
          <a:stretch>
            <a:fillRect/>
          </a:stretch>
        </p:blipFill>
        <p:spPr>
          <a:xfrm rot="10800000">
            <a:off x="1541077" y="3671817"/>
            <a:ext cx="1092200" cy="1892300"/>
          </a:xfrm>
          <a:prstGeom prst="rect">
            <a:avLst/>
          </a:prstGeom>
        </p:spPr>
      </p:pic>
      <p:pic>
        <p:nvPicPr>
          <p:cNvPr id="10" name="Image 3" descr="https://kimi-img.moonshot.cn/pub/slides/slides_tmpl/image/25-08-27-20:02:17-d2nf7i98bjvh7rlj06m0.png"/>
          <p:cNvPicPr>
            <a:picLocks noChangeAspect="1"/>
          </p:cNvPicPr>
          <p:nvPr/>
        </p:nvPicPr>
        <p:blipFill>
          <a:blip r:embed="rId2"/>
          <a:stretch>
            <a:fillRect/>
          </a:stretch>
        </p:blipFill>
        <p:spPr>
          <a:xfrm rot="10800000">
            <a:off x="6640366" y="3671817"/>
            <a:ext cx="1092200" cy="1892300"/>
          </a:xfrm>
          <a:prstGeom prst="rect">
            <a:avLst/>
          </a:prstGeom>
        </p:spPr>
      </p:pic>
      <p:pic>
        <p:nvPicPr>
          <p:cNvPr id="11" name="Image 4" descr="https://kimi-img.moonshot.cn/pub/slides/slides_tmpl/image/25-08-27-20:02:17-d2nf7i98bjvh7rlj06m0.png"/>
          <p:cNvPicPr>
            <a:picLocks noChangeAspect="1"/>
          </p:cNvPicPr>
          <p:nvPr/>
        </p:nvPicPr>
        <p:blipFill>
          <a:blip r:embed="rId2"/>
          <a:stretch>
            <a:fillRect/>
          </a:stretch>
        </p:blipFill>
        <p:spPr>
          <a:xfrm>
            <a:off x="9679913" y="2713561"/>
            <a:ext cx="1092200" cy="1892300"/>
          </a:xfrm>
          <a:prstGeom prst="rect">
            <a:avLst/>
          </a:prstGeom>
        </p:spPr>
      </p:pic>
      <p:sp>
        <p:nvSpPr>
          <p:cNvPr id="12" name="Text 5"/>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The Four Kinematic Equations</a:t>
            </a:r>
            <a:endParaRPr lang="en-US" sz="1600" dirty="0"/>
          </a:p>
        </p:txBody>
      </p:sp>
      <p:pic>
        <p:nvPicPr>
          <p:cNvPr id="13" name="Image 5" descr="https://kimi-img.moonshot.cn/pub/slides/slides_tmpl/image/25-08-27-20:02:06-d2nf7fh8bjvh7rlj060g.png"/>
          <p:cNvPicPr>
            <a:picLocks noChangeAspect="1"/>
          </p:cNvPicPr>
          <p:nvPr/>
        </p:nvPicPr>
        <p:blipFill>
          <a:blip r:embed="rId3"/>
          <a:stretch>
            <a:fillRect/>
          </a:stretch>
        </p:blipFill>
        <p:spPr>
          <a:xfrm>
            <a:off x="662882" y="495145"/>
            <a:ext cx="1371600" cy="304800"/>
          </a:xfrm>
          <a:prstGeom prst="rect">
            <a:avLst/>
          </a:prstGeom>
        </p:spPr>
      </p:pic>
      <p:sp>
        <p:nvSpPr>
          <p:cNvPr id="14" name="Shape 6"/>
          <p:cNvSpPr/>
          <p:nvPr/>
        </p:nvSpPr>
        <p:spPr>
          <a:xfrm>
            <a:off x="1764991" y="4874930"/>
            <a:ext cx="652471" cy="328680"/>
          </a:xfrm>
          <a:prstGeom prst="rect">
            <a:avLst/>
          </a:prstGeom>
          <a:solidFill>
            <a:srgbClr val="000000">
              <a:alpha val="0"/>
            </a:srgbClr>
          </a:solidFill>
        </p:spPr>
      </p:sp>
      <p:sp>
        <p:nvSpPr>
          <p:cNvPr id="15" name="Text 7"/>
          <p:cNvSpPr/>
          <p:nvPr/>
        </p:nvSpPr>
        <p:spPr>
          <a:xfrm>
            <a:off x="1764991" y="4874930"/>
            <a:ext cx="652471" cy="328680"/>
          </a:xfrm>
          <a:prstGeom prst="rect">
            <a:avLst/>
          </a:prstGeom>
          <a:noFill/>
        </p:spPr>
        <p:txBody>
          <a:bodyPr wrap="square" lIns="0" tIns="0" rIns="0" bIns="0" rtlCol="0" anchor="t"/>
          <a:lstStyle/>
          <a:p>
            <a:pPr>
              <a:lnSpc>
                <a:spcPct val="110000"/>
              </a:lnSpc>
            </a:pPr>
            <a:r>
              <a:rPr lang="en-US" sz="2000" dirty="0">
                <a:solidFill>
                  <a:srgbClr val="FFFFFF"/>
                </a:solidFill>
                <a:latin typeface="MiSans" pitchFamily="34" charset="-122"/>
                <a:ea typeface="MiSans" pitchFamily="34" charset="-122"/>
                <a:cs typeface="MiSans" pitchFamily="34" charset="-120"/>
              </a:rPr>
              <a:t>01</a:t>
            </a:r>
            <a:endParaRPr lang="en-US" sz="1600" dirty="0"/>
          </a:p>
        </p:txBody>
      </p:sp>
      <p:sp>
        <p:nvSpPr>
          <p:cNvPr id="16" name="Text 8"/>
          <p:cNvSpPr/>
          <p:nvPr/>
        </p:nvSpPr>
        <p:spPr>
          <a:xfrm>
            <a:off x="2646256" y="4425970"/>
            <a:ext cx="3505796"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Equation 1: v = v₀ + at</a:t>
            </a:r>
            <a:endParaRPr lang="en-US" sz="1600" dirty="0"/>
          </a:p>
        </p:txBody>
      </p:sp>
      <p:sp>
        <p:nvSpPr>
          <p:cNvPr id="17" name="Shape 9"/>
          <p:cNvSpPr/>
          <p:nvPr/>
        </p:nvSpPr>
        <p:spPr>
          <a:xfrm>
            <a:off x="4813594" y="3064325"/>
            <a:ext cx="652471" cy="328680"/>
          </a:xfrm>
          <a:prstGeom prst="rect">
            <a:avLst/>
          </a:prstGeom>
          <a:solidFill>
            <a:srgbClr val="000000">
              <a:alpha val="0"/>
            </a:srgbClr>
          </a:solidFill>
        </p:spPr>
      </p:sp>
      <p:sp>
        <p:nvSpPr>
          <p:cNvPr id="18" name="Text 10"/>
          <p:cNvSpPr/>
          <p:nvPr/>
        </p:nvSpPr>
        <p:spPr>
          <a:xfrm>
            <a:off x="4813594" y="3064325"/>
            <a:ext cx="652471" cy="328680"/>
          </a:xfrm>
          <a:prstGeom prst="rect">
            <a:avLst/>
          </a:prstGeom>
          <a:noFill/>
        </p:spPr>
        <p:txBody>
          <a:bodyPr wrap="square" lIns="0" tIns="0" rIns="0" bIns="0" rtlCol="0" anchor="t"/>
          <a:lstStyle/>
          <a:p>
            <a:pPr>
              <a:lnSpc>
                <a:spcPct val="110000"/>
              </a:lnSpc>
            </a:pPr>
            <a:r>
              <a:rPr lang="en-US" sz="2000" dirty="0">
                <a:solidFill>
                  <a:srgbClr val="FFFFFF"/>
                </a:solidFill>
                <a:latin typeface="MiSans" pitchFamily="34" charset="-122"/>
                <a:ea typeface="MiSans" pitchFamily="34" charset="-122"/>
                <a:cs typeface="MiSans" pitchFamily="34" charset="-120"/>
              </a:rPr>
              <a:t>02</a:t>
            </a:r>
            <a:endParaRPr lang="en-US" sz="1600" dirty="0"/>
          </a:p>
        </p:txBody>
      </p:sp>
      <p:sp>
        <p:nvSpPr>
          <p:cNvPr id="19" name="Text 11"/>
          <p:cNvSpPr/>
          <p:nvPr/>
        </p:nvSpPr>
        <p:spPr>
          <a:xfrm>
            <a:off x="616288" y="1993666"/>
            <a:ext cx="3505796"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Equation 2: Δx = v₀t + ½at²</a:t>
            </a:r>
            <a:endParaRPr lang="en-US" sz="1600" dirty="0"/>
          </a:p>
        </p:txBody>
      </p:sp>
      <p:sp>
        <p:nvSpPr>
          <p:cNvPr id="20" name="Shape 12"/>
          <p:cNvSpPr/>
          <p:nvPr/>
        </p:nvSpPr>
        <p:spPr>
          <a:xfrm>
            <a:off x="6857735" y="4891864"/>
            <a:ext cx="652471" cy="328680"/>
          </a:xfrm>
          <a:prstGeom prst="rect">
            <a:avLst/>
          </a:prstGeom>
          <a:solidFill>
            <a:srgbClr val="000000">
              <a:alpha val="0"/>
            </a:srgbClr>
          </a:solidFill>
        </p:spPr>
      </p:sp>
      <p:sp>
        <p:nvSpPr>
          <p:cNvPr id="21" name="Text 13"/>
          <p:cNvSpPr/>
          <p:nvPr/>
        </p:nvSpPr>
        <p:spPr>
          <a:xfrm>
            <a:off x="6857735" y="4891864"/>
            <a:ext cx="652471" cy="328680"/>
          </a:xfrm>
          <a:prstGeom prst="rect">
            <a:avLst/>
          </a:prstGeom>
          <a:noFill/>
        </p:spPr>
        <p:txBody>
          <a:bodyPr wrap="square" lIns="0" tIns="0" rIns="0" bIns="0" rtlCol="0" anchor="t"/>
          <a:lstStyle/>
          <a:p>
            <a:pPr>
              <a:lnSpc>
                <a:spcPct val="110000"/>
              </a:lnSpc>
            </a:pPr>
            <a:r>
              <a:rPr lang="en-US" sz="2000" dirty="0">
                <a:solidFill>
                  <a:srgbClr val="FFFFFF"/>
                </a:solidFill>
                <a:latin typeface="MiSans" pitchFamily="34" charset="-122"/>
                <a:ea typeface="MiSans" pitchFamily="34" charset="-122"/>
                <a:cs typeface="MiSans" pitchFamily="34" charset="-120"/>
              </a:rPr>
              <a:t>03</a:t>
            </a:r>
            <a:endParaRPr lang="en-US" sz="1600" dirty="0"/>
          </a:p>
        </p:txBody>
      </p:sp>
      <p:sp>
        <p:nvSpPr>
          <p:cNvPr id="22" name="Text 14"/>
          <p:cNvSpPr/>
          <p:nvPr/>
        </p:nvSpPr>
        <p:spPr>
          <a:xfrm>
            <a:off x="7686006" y="4425970"/>
            <a:ext cx="3505796"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Equation 3: v² = v₀² + 2aΔx</a:t>
            </a:r>
            <a:endParaRPr lang="en-US" sz="1600" dirty="0"/>
          </a:p>
        </p:txBody>
      </p:sp>
      <p:sp>
        <p:nvSpPr>
          <p:cNvPr id="23" name="Shape 15"/>
          <p:cNvSpPr/>
          <p:nvPr/>
        </p:nvSpPr>
        <p:spPr>
          <a:xfrm>
            <a:off x="9899777" y="3082614"/>
            <a:ext cx="652471" cy="328680"/>
          </a:xfrm>
          <a:prstGeom prst="rect">
            <a:avLst/>
          </a:prstGeom>
          <a:solidFill>
            <a:srgbClr val="000000">
              <a:alpha val="0"/>
            </a:srgbClr>
          </a:solidFill>
        </p:spPr>
      </p:sp>
      <p:sp>
        <p:nvSpPr>
          <p:cNvPr id="24" name="Text 16"/>
          <p:cNvSpPr/>
          <p:nvPr/>
        </p:nvSpPr>
        <p:spPr>
          <a:xfrm>
            <a:off x="9899777" y="3082614"/>
            <a:ext cx="652471" cy="328680"/>
          </a:xfrm>
          <a:prstGeom prst="rect">
            <a:avLst/>
          </a:prstGeom>
          <a:noFill/>
        </p:spPr>
        <p:txBody>
          <a:bodyPr wrap="square" lIns="0" tIns="0" rIns="0" bIns="0" rtlCol="0" anchor="t"/>
          <a:lstStyle/>
          <a:p>
            <a:pPr>
              <a:lnSpc>
                <a:spcPct val="110000"/>
              </a:lnSpc>
            </a:pPr>
            <a:r>
              <a:rPr lang="en-US" sz="2000" dirty="0">
                <a:solidFill>
                  <a:srgbClr val="FFFFFF"/>
                </a:solidFill>
                <a:latin typeface="MiSans" pitchFamily="34" charset="-122"/>
                <a:ea typeface="MiSans" pitchFamily="34" charset="-122"/>
                <a:cs typeface="MiSans" pitchFamily="34" charset="-120"/>
              </a:rPr>
              <a:t>04</a:t>
            </a:r>
            <a:endParaRPr lang="en-US" sz="1600" dirty="0"/>
          </a:p>
        </p:txBody>
      </p:sp>
      <p:sp>
        <p:nvSpPr>
          <p:cNvPr id="25" name="Text 17"/>
          <p:cNvSpPr/>
          <p:nvPr/>
        </p:nvSpPr>
        <p:spPr>
          <a:xfrm>
            <a:off x="5632024" y="1993666"/>
            <a:ext cx="3505796"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Equation 4: Δx = ½(v + v₀)t</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3179" y="-1"/>
            <a:ext cx="12194137" cy="6865829"/>
          </a:xfrm>
          <a:prstGeom prst="rect">
            <a:avLst/>
          </a:prstGeom>
        </p:spPr>
      </p:pic>
      <p:sp>
        <p:nvSpPr>
          <p:cNvPr id="3" name="Shape 0"/>
          <p:cNvSpPr/>
          <p:nvPr/>
        </p:nvSpPr>
        <p:spPr>
          <a:xfrm flipH="1">
            <a:off x="11314843" y="981848"/>
            <a:ext cx="77797" cy="72000"/>
          </a:xfrm>
          <a:prstGeom prst="ellipse">
            <a:avLst/>
          </a:prstGeom>
          <a:solidFill>
            <a:srgbClr val="FFFFFF"/>
          </a:solidFill>
        </p:spPr>
      </p:sp>
      <p:pic>
        <p:nvPicPr>
          <p:cNvPr id="4" name="Image 1" descr="https://kimi-img.moonshot.cn/pub/slides/slides_tmpl/image/25-08-27-20:02:16-d2nf7i18bjvh7rlj06j0.png"/>
          <p:cNvPicPr>
            <a:picLocks noChangeAspect="1"/>
          </p:cNvPicPr>
          <p:nvPr/>
        </p:nvPicPr>
        <p:blipFill>
          <a:blip r:embed="rId2"/>
          <a:stretch>
            <a:fillRect/>
          </a:stretch>
        </p:blipFill>
        <p:spPr>
          <a:xfrm>
            <a:off x="227077" y="1736336"/>
            <a:ext cx="10151467" cy="1622141"/>
          </a:xfrm>
          <a:prstGeom prst="rect">
            <a:avLst/>
          </a:prstGeom>
        </p:spPr>
      </p:pic>
      <p:sp>
        <p:nvSpPr>
          <p:cNvPr id="5" name="Shape 1"/>
          <p:cNvSpPr/>
          <p:nvPr/>
        </p:nvSpPr>
        <p:spPr>
          <a:xfrm flipH="1">
            <a:off x="11186668" y="981848"/>
            <a:ext cx="77797" cy="72000"/>
          </a:xfrm>
          <a:prstGeom prst="ellipse">
            <a:avLst/>
          </a:prstGeom>
          <a:solidFill>
            <a:srgbClr val="FFFFFF">
              <a:alpha val="56471"/>
            </a:srgbClr>
          </a:solidFill>
        </p:spPr>
      </p:sp>
      <p:sp>
        <p:nvSpPr>
          <p:cNvPr id="6" name="Shape 2"/>
          <p:cNvSpPr/>
          <p:nvPr/>
        </p:nvSpPr>
        <p:spPr>
          <a:xfrm flipH="1">
            <a:off x="11055654" y="981848"/>
            <a:ext cx="77797" cy="72000"/>
          </a:xfrm>
          <a:prstGeom prst="ellipse">
            <a:avLst/>
          </a:prstGeom>
          <a:solidFill>
            <a:srgbClr val="FFFFFF"/>
          </a:solidFill>
        </p:spPr>
      </p:sp>
      <p:pic>
        <p:nvPicPr>
          <p:cNvPr id="7" name="Image 2" descr="https://kimi-img.moonshot.cn/pub/slides/slides_tmpl/image/25-08-27-20:02:16-d2nf7i18bjvh7rlj06jg.png"/>
          <p:cNvPicPr>
            <a:picLocks noChangeAspect="1"/>
          </p:cNvPicPr>
          <p:nvPr/>
        </p:nvPicPr>
        <p:blipFill>
          <a:blip r:embed="rId3"/>
          <a:stretch>
            <a:fillRect/>
          </a:stretch>
        </p:blipFill>
        <p:spPr>
          <a:xfrm>
            <a:off x="710957" y="2472057"/>
            <a:ext cx="1219200" cy="1219200"/>
          </a:xfrm>
          <a:prstGeom prst="rect">
            <a:avLst/>
          </a:prstGeom>
        </p:spPr>
      </p:pic>
      <p:pic>
        <p:nvPicPr>
          <p:cNvPr id="8" name="Image 3" descr="https://kimi-img.moonshot.cn/pub/slides/slides_tmpl/image/25-08-27-20:02:16-d2nf7i18bjvh7rlj06jg.png"/>
          <p:cNvPicPr>
            <a:picLocks noChangeAspect="1"/>
          </p:cNvPicPr>
          <p:nvPr/>
        </p:nvPicPr>
        <p:blipFill>
          <a:blip r:embed="rId3"/>
          <a:stretch>
            <a:fillRect/>
          </a:stretch>
        </p:blipFill>
        <p:spPr>
          <a:xfrm>
            <a:off x="7735823" y="1282634"/>
            <a:ext cx="1219200" cy="1219200"/>
          </a:xfrm>
          <a:prstGeom prst="rect">
            <a:avLst/>
          </a:prstGeom>
        </p:spPr>
      </p:pic>
      <p:sp>
        <p:nvSpPr>
          <p:cNvPr id="9" name="Shape 3"/>
          <p:cNvSpPr/>
          <p:nvPr/>
        </p:nvSpPr>
        <p:spPr>
          <a:xfrm flipH="1">
            <a:off x="10924640" y="981848"/>
            <a:ext cx="77797" cy="72000"/>
          </a:xfrm>
          <a:prstGeom prst="ellipse">
            <a:avLst/>
          </a:prstGeom>
          <a:solidFill>
            <a:srgbClr val="FFFFFF">
              <a:alpha val="56471"/>
            </a:srgbClr>
          </a:solidFill>
        </p:spPr>
      </p:sp>
      <p:pic>
        <p:nvPicPr>
          <p:cNvPr id="10" name="Image 4" descr="https://kimi-img.moonshot.cn/pub/slides/slides_tmpl/image/25-08-27-20:02:16-d2nf7i18bjvh7rlj06jg.png"/>
          <p:cNvPicPr>
            <a:picLocks noChangeAspect="1"/>
          </p:cNvPicPr>
          <p:nvPr/>
        </p:nvPicPr>
        <p:blipFill>
          <a:blip r:embed="rId3"/>
          <a:stretch>
            <a:fillRect/>
          </a:stretch>
        </p:blipFill>
        <p:spPr>
          <a:xfrm>
            <a:off x="4275303" y="1967581"/>
            <a:ext cx="1219200" cy="1219200"/>
          </a:xfrm>
          <a:prstGeom prst="rect">
            <a:avLst/>
          </a:prstGeom>
        </p:spPr>
      </p:pic>
      <p:sp>
        <p:nvSpPr>
          <p:cNvPr id="11" name="Shape 4"/>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sp>
        <p:nvSpPr>
          <p:cNvPr id="12" name="Text 5"/>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Projectile Motion Decomposed</a:t>
            </a:r>
            <a:endParaRPr lang="en-US" sz="1600" dirty="0"/>
          </a:p>
        </p:txBody>
      </p:sp>
      <p:pic>
        <p:nvPicPr>
          <p:cNvPr id="13" name="Image 5"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4" name="Shape 6"/>
          <p:cNvSpPr/>
          <p:nvPr/>
        </p:nvSpPr>
        <p:spPr>
          <a:xfrm>
            <a:off x="988010" y="2887496"/>
            <a:ext cx="665094" cy="295787"/>
          </a:xfrm>
          <a:prstGeom prst="rect">
            <a:avLst/>
          </a:prstGeom>
          <a:solidFill>
            <a:srgbClr val="000000">
              <a:alpha val="0"/>
            </a:srgbClr>
          </a:solidFill>
        </p:spPr>
      </p:sp>
      <p:sp>
        <p:nvSpPr>
          <p:cNvPr id="15" name="Text 7"/>
          <p:cNvSpPr/>
          <p:nvPr/>
        </p:nvSpPr>
        <p:spPr>
          <a:xfrm>
            <a:off x="988010" y="2887496"/>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16" name="Text 8"/>
          <p:cNvSpPr/>
          <p:nvPr/>
        </p:nvSpPr>
        <p:spPr>
          <a:xfrm>
            <a:off x="980435" y="3709885"/>
            <a:ext cx="3145914"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Horizontal Motion: Constant Velocity</a:t>
            </a:r>
            <a:endParaRPr lang="en-US" sz="1600" dirty="0"/>
          </a:p>
        </p:txBody>
      </p:sp>
      <p:sp>
        <p:nvSpPr>
          <p:cNvPr id="17" name="Text 9"/>
          <p:cNvSpPr/>
          <p:nvPr/>
        </p:nvSpPr>
        <p:spPr>
          <a:xfrm>
            <a:off x="900224" y="4069952"/>
            <a:ext cx="3360880" cy="247923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In projectile motion, horizontal velocity remains constant throughout flight because no horizontal acceleration exists (ignoring air resistance). The equation x = vₓt applies, where vₓ = v₀cosθ. This independence from vertical motion allows separate calculation of horizontal range using constant velocity kinematics.</a:t>
            </a:r>
            <a:endParaRPr lang="en-US" sz="1600" dirty="0"/>
          </a:p>
        </p:txBody>
      </p:sp>
      <p:sp>
        <p:nvSpPr>
          <p:cNvPr id="18" name="Shape 10"/>
          <p:cNvSpPr/>
          <p:nvPr/>
        </p:nvSpPr>
        <p:spPr>
          <a:xfrm>
            <a:off x="4552356" y="2399512"/>
            <a:ext cx="665094" cy="295787"/>
          </a:xfrm>
          <a:prstGeom prst="rect">
            <a:avLst/>
          </a:prstGeom>
          <a:solidFill>
            <a:srgbClr val="000000">
              <a:alpha val="0"/>
            </a:srgbClr>
          </a:solidFill>
        </p:spPr>
      </p:sp>
      <p:sp>
        <p:nvSpPr>
          <p:cNvPr id="19" name="Text 11"/>
          <p:cNvSpPr/>
          <p:nvPr/>
        </p:nvSpPr>
        <p:spPr>
          <a:xfrm>
            <a:off x="4552356" y="2399512"/>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2"/>
          <p:cNvSpPr/>
          <p:nvPr/>
        </p:nvSpPr>
        <p:spPr>
          <a:xfrm>
            <a:off x="4589908" y="3340917"/>
            <a:ext cx="3145915"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Vertical Motion: Accelerated by Gravity</a:t>
            </a:r>
            <a:endParaRPr lang="en-US" sz="1600" dirty="0"/>
          </a:p>
        </p:txBody>
      </p:sp>
      <p:sp>
        <p:nvSpPr>
          <p:cNvPr id="21" name="Text 13"/>
          <p:cNvSpPr/>
          <p:nvPr/>
        </p:nvSpPr>
        <p:spPr>
          <a:xfrm>
            <a:off x="4482425" y="3738964"/>
            <a:ext cx="3360880" cy="218059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Vertical motion experiences constant downward acceleration of g = 9.8 m/s². The equations y = vᵧt - ½gt² and vᵧ = v₀sinθ - gt describe the parabolic trajectory. Maximum height occurs when vertical velocity becomes zero, allowing calculation of peak position and total flight time.</a:t>
            </a:r>
            <a:endParaRPr lang="en-US" sz="1600" dirty="0"/>
          </a:p>
        </p:txBody>
      </p:sp>
      <p:sp>
        <p:nvSpPr>
          <p:cNvPr id="22" name="Shape 14"/>
          <p:cNvSpPr/>
          <p:nvPr/>
        </p:nvSpPr>
        <p:spPr>
          <a:xfrm>
            <a:off x="8012876" y="1697449"/>
            <a:ext cx="665094" cy="295787"/>
          </a:xfrm>
          <a:prstGeom prst="rect">
            <a:avLst/>
          </a:prstGeom>
          <a:solidFill>
            <a:srgbClr val="000000">
              <a:alpha val="0"/>
            </a:srgbClr>
          </a:solidFill>
        </p:spPr>
      </p:sp>
      <p:sp>
        <p:nvSpPr>
          <p:cNvPr id="23" name="Text 15"/>
          <p:cNvSpPr/>
          <p:nvPr/>
        </p:nvSpPr>
        <p:spPr>
          <a:xfrm>
            <a:off x="8012876" y="1697449"/>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4" name="Text 16"/>
          <p:cNvSpPr/>
          <p:nvPr/>
        </p:nvSpPr>
        <p:spPr>
          <a:xfrm>
            <a:off x="8215423" y="2586938"/>
            <a:ext cx="3177217"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Optimal Launch Angle and Range</a:t>
            </a:r>
            <a:endParaRPr lang="en-US" sz="1600" dirty="0"/>
          </a:p>
        </p:txBody>
      </p:sp>
      <p:sp>
        <p:nvSpPr>
          <p:cNvPr id="25" name="Text 17"/>
          <p:cNvSpPr/>
          <p:nvPr/>
        </p:nvSpPr>
        <p:spPr>
          <a:xfrm>
            <a:off x="8105303" y="2994308"/>
            <a:ext cx="3360880" cy="3291443"/>
          </a:xfrm>
          <a:prstGeom prst="rect">
            <a:avLst/>
          </a:prstGeom>
          <a:noFill/>
        </p:spPr>
        <p:txBody>
          <a:bodyPr wrap="square" lIns="91440" tIns="45720" rIns="91440" bIns="45720" rtlCol="0" anchor="t">
            <a:spAutoFit/>
          </a:bodyPr>
          <a:lstStyle/>
          <a:p>
            <a:pPr>
              <a:lnSpc>
                <a:spcPct val="150000"/>
              </a:lnSpc>
            </a:pPr>
            <a:r>
              <a:rPr lang="en-US" sz="1400" dirty="0">
                <a:solidFill>
                  <a:srgbClr val="FFFFFF"/>
                </a:solidFill>
                <a:latin typeface="MiSans" pitchFamily="34" charset="-122"/>
                <a:ea typeface="MiSans" pitchFamily="34" charset="-122"/>
                <a:cs typeface="MiSans" pitchFamily="34" charset="-120"/>
              </a:rPr>
              <a:t>Maximum horizontal range occurs at a 45-degree launch angle on level ground, derived from combining horizontal and vertical components. The range formula R = (v₀²sin2θ)/g shows that complementary angles yield equal ranges. Understanding this symmetry helps predict projectile landing positions without full trajectory calculations.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1042" y="8615"/>
            <a:ext cx="12192000" cy="6864626"/>
          </a:xfrm>
          <a:prstGeom prst="rect">
            <a:avLst/>
          </a:prstGeom>
        </p:spPr>
      </p:pic>
      <p:pic>
        <p:nvPicPr>
          <p:cNvPr id="3" name="Image 1" descr="https://kimi-img.moonshot.cn/pub/slides/slides_tmpl/image/25-08-27-20:02:16-d2nf7i18bjvh7rlj06eg.png"/>
          <p:cNvPicPr>
            <a:picLocks noChangeAspect="1"/>
          </p:cNvPicPr>
          <p:nvPr/>
        </p:nvPicPr>
        <p:blipFill>
          <a:blip r:embed="rId2"/>
          <a:stretch>
            <a:fillRect/>
          </a:stretch>
        </p:blipFill>
        <p:spPr>
          <a:xfrm>
            <a:off x="-1042" y="8615"/>
            <a:ext cx="12607263" cy="3716515"/>
          </a:xfrm>
          <a:prstGeom prst="rect">
            <a:avLst/>
          </a:prstGeom>
        </p:spPr>
      </p:pic>
      <p:sp>
        <p:nvSpPr>
          <p:cNvPr id="4" name="Text 0"/>
          <p:cNvSpPr/>
          <p:nvPr/>
        </p:nvSpPr>
        <p:spPr>
          <a:xfrm>
            <a:off x="934263" y="479263"/>
            <a:ext cx="3049055" cy="606887"/>
          </a:xfrm>
          <a:prstGeom prst="rect">
            <a:avLst/>
          </a:prstGeom>
          <a:noFill/>
        </p:spPr>
        <p:txBody>
          <a:bodyPr wrap="square" lIns="91440" tIns="45720" rIns="91440" bIns="45720" rtlCol="0" anchor="ctr"/>
          <a:lstStyle/>
          <a:p>
            <a:pPr>
              <a:lnSpc>
                <a:spcPct val="90000"/>
              </a:lnSpc>
            </a:pPr>
            <a:r>
              <a:rPr lang="en-US" sz="4400" dirty="0">
                <a:solidFill>
                  <a:srgbClr val="000000"/>
                </a:solidFill>
                <a:latin typeface="MiSans" pitchFamily="34" charset="-122"/>
                <a:ea typeface="MiSans" pitchFamily="34" charset="-122"/>
                <a:cs typeface="MiSans" pitchFamily="34" charset="-120"/>
              </a:rPr>
              <a:t> </a:t>
            </a:r>
            <a:endParaRPr lang="en-US" sz="1600" dirty="0"/>
          </a:p>
        </p:txBody>
      </p:sp>
      <p:sp>
        <p:nvSpPr>
          <p:cNvPr id="5"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6"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7"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8"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9" name="Shape 5"/>
          <p:cNvSpPr/>
          <p:nvPr/>
        </p:nvSpPr>
        <p:spPr>
          <a:xfrm>
            <a:off x="1131723" y="6270738"/>
            <a:ext cx="0" cy="125950"/>
          </a:xfrm>
          <a:prstGeom prst="line">
            <a:avLst/>
          </a:prstGeom>
          <a:noFill/>
          <a:ln w="12700">
            <a:solidFill>
              <a:srgbClr val="FFFFFF"/>
            </a:solidFill>
            <a:prstDash val="solid"/>
            <a:headEnd type="none"/>
            <a:tailEnd type="none"/>
          </a:ln>
        </p:spPr>
      </p:sp>
      <p:pic>
        <p:nvPicPr>
          <p:cNvPr id="10" name="Image 2" descr="https://kimi-img.moonshot.cn/pub/slides/slides_tmpl/image/25-08-27-20:02:14-d2nf7hh8bjvh7rlj06b0.png"/>
          <p:cNvPicPr>
            <a:picLocks noChangeAspect="1"/>
          </p:cNvPicPr>
          <p:nvPr/>
        </p:nvPicPr>
        <p:blipFill>
          <a:blip r:embed="rId3"/>
          <a:stretch>
            <a:fillRect/>
          </a:stretch>
        </p:blipFill>
        <p:spPr>
          <a:xfrm>
            <a:off x="935771" y="3509350"/>
            <a:ext cx="825500" cy="825500"/>
          </a:xfrm>
          <a:prstGeom prst="rect">
            <a:avLst/>
          </a:prstGeom>
        </p:spPr>
      </p:pic>
      <p:sp>
        <p:nvSpPr>
          <p:cNvPr id="11" name="Shape 6"/>
          <p:cNvSpPr/>
          <p:nvPr/>
        </p:nvSpPr>
        <p:spPr>
          <a:xfrm flipH="1">
            <a:off x="11314843" y="981848"/>
            <a:ext cx="77797" cy="72000"/>
          </a:xfrm>
          <a:prstGeom prst="ellipse">
            <a:avLst/>
          </a:prstGeom>
          <a:solidFill>
            <a:srgbClr val="FFFFFF"/>
          </a:solidFill>
        </p:spPr>
      </p:sp>
      <p:sp>
        <p:nvSpPr>
          <p:cNvPr id="12" name="Shape 7"/>
          <p:cNvSpPr/>
          <p:nvPr/>
        </p:nvSpPr>
        <p:spPr>
          <a:xfrm flipH="1">
            <a:off x="11186668" y="981848"/>
            <a:ext cx="77797" cy="72000"/>
          </a:xfrm>
          <a:prstGeom prst="ellipse">
            <a:avLst/>
          </a:prstGeom>
          <a:solidFill>
            <a:srgbClr val="FFFFFF">
              <a:alpha val="56471"/>
            </a:srgbClr>
          </a:solidFill>
        </p:spPr>
      </p:sp>
      <p:sp>
        <p:nvSpPr>
          <p:cNvPr id="13" name="Shape 8"/>
          <p:cNvSpPr/>
          <p:nvPr/>
        </p:nvSpPr>
        <p:spPr>
          <a:xfrm flipH="1">
            <a:off x="11055654" y="981848"/>
            <a:ext cx="77797" cy="72000"/>
          </a:xfrm>
          <a:prstGeom prst="ellipse">
            <a:avLst/>
          </a:prstGeom>
          <a:solidFill>
            <a:srgbClr val="FFFFFF"/>
          </a:solidFill>
        </p:spPr>
      </p:sp>
      <p:sp>
        <p:nvSpPr>
          <p:cNvPr id="14" name="Shape 9"/>
          <p:cNvSpPr/>
          <p:nvPr/>
        </p:nvSpPr>
        <p:spPr>
          <a:xfrm flipH="1">
            <a:off x="10924640" y="981848"/>
            <a:ext cx="77797" cy="72000"/>
          </a:xfrm>
          <a:prstGeom prst="ellipse">
            <a:avLst/>
          </a:prstGeom>
          <a:solidFill>
            <a:srgbClr val="FFFFFF">
              <a:alpha val="56471"/>
            </a:srgbClr>
          </a:solidFill>
        </p:spPr>
      </p:sp>
      <p:pic>
        <p:nvPicPr>
          <p:cNvPr id="15" name="Image 3" descr="https://kimi-img.moonshot.cn/pub/slides/slides_tmpl/image/25-08-27-20:02:14-d2nf7hh8bjvh7rlj06b0.png"/>
          <p:cNvPicPr>
            <a:picLocks noChangeAspect="1"/>
          </p:cNvPicPr>
          <p:nvPr/>
        </p:nvPicPr>
        <p:blipFill>
          <a:blip r:embed="rId3"/>
          <a:stretch>
            <a:fillRect/>
          </a:stretch>
        </p:blipFill>
        <p:spPr>
          <a:xfrm>
            <a:off x="6277792" y="3509350"/>
            <a:ext cx="825500" cy="825500"/>
          </a:xfrm>
          <a:prstGeom prst="rect">
            <a:avLst/>
          </a:prstGeom>
        </p:spPr>
      </p:pic>
      <p:sp>
        <p:nvSpPr>
          <p:cNvPr id="16" name="Shape 10"/>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sp>
        <p:nvSpPr>
          <p:cNvPr id="17" name="Text 11"/>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Free Fall and Gravity Applications</a:t>
            </a:r>
            <a:endParaRPr lang="en-US" sz="1600" dirty="0"/>
          </a:p>
        </p:txBody>
      </p:sp>
      <p:pic>
        <p:nvPicPr>
          <p:cNvPr id="18" name="Image 4"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9" name="Shape 12"/>
          <p:cNvSpPr/>
          <p:nvPr/>
        </p:nvSpPr>
        <p:spPr>
          <a:xfrm>
            <a:off x="1010563" y="3753266"/>
            <a:ext cx="652471" cy="328680"/>
          </a:xfrm>
          <a:prstGeom prst="rect">
            <a:avLst/>
          </a:prstGeom>
          <a:solidFill>
            <a:srgbClr val="000000">
              <a:alpha val="0"/>
            </a:srgbClr>
          </a:solidFill>
        </p:spPr>
      </p:sp>
      <p:sp>
        <p:nvSpPr>
          <p:cNvPr id="20" name="Text 13"/>
          <p:cNvSpPr/>
          <p:nvPr/>
        </p:nvSpPr>
        <p:spPr>
          <a:xfrm>
            <a:off x="1010563" y="3753266"/>
            <a:ext cx="652471" cy="328680"/>
          </a:xfrm>
          <a:prstGeom prst="rect">
            <a:avLst/>
          </a:prstGeom>
          <a:noFill/>
        </p:spPr>
        <p:txBody>
          <a:bodyPr wrap="square" lIns="0" tIns="0" rIns="0" bIns="0" rtlCol="0" anchor="t"/>
          <a:lstStyle/>
          <a:p>
            <a:pPr algn="ctr">
              <a:lnSpc>
                <a:spcPct val="110000"/>
              </a:lnSpc>
            </a:pPr>
            <a:r>
              <a:rPr lang="en-US" sz="2000" dirty="0">
                <a:solidFill>
                  <a:srgbClr val="FFFFFF"/>
                </a:solidFill>
                <a:latin typeface="MiSans" pitchFamily="34" charset="-122"/>
                <a:ea typeface="MiSans" pitchFamily="34" charset="-122"/>
                <a:cs typeface="MiSans" pitchFamily="34" charset="-120"/>
              </a:rPr>
              <a:t>01</a:t>
            </a:r>
            <a:endParaRPr lang="en-US" sz="1600" dirty="0"/>
          </a:p>
        </p:txBody>
      </p:sp>
      <p:sp>
        <p:nvSpPr>
          <p:cNvPr id="21" name="Text 14"/>
          <p:cNvSpPr/>
          <p:nvPr/>
        </p:nvSpPr>
        <p:spPr>
          <a:xfrm>
            <a:off x="1858043" y="3138526"/>
            <a:ext cx="3421380"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Sign Conventions and Coordinate Systems</a:t>
            </a:r>
            <a:endParaRPr lang="en-US" sz="1600" dirty="0"/>
          </a:p>
        </p:txBody>
      </p:sp>
      <p:sp>
        <p:nvSpPr>
          <p:cNvPr id="22" name="Text 15"/>
          <p:cNvSpPr/>
          <p:nvPr/>
        </p:nvSpPr>
        <p:spPr>
          <a:xfrm>
            <a:off x="1761271" y="3922100"/>
            <a:ext cx="3875101" cy="2651482"/>
          </a:xfrm>
          <a:prstGeom prst="rect">
            <a:avLst/>
          </a:prstGeom>
          <a:noFill/>
        </p:spPr>
        <p:txBody>
          <a:bodyPr wrap="square" lIns="91440" tIns="45720" rIns="91440" bIns="45720" rtlCol="0" anchor="t">
            <a:spAutoFit/>
          </a:bodyPr>
          <a:lstStyle/>
          <a:p>
            <a:pPr>
              <a:lnSpc>
                <a:spcPct val="150000"/>
              </a:lnSpc>
            </a:pPr>
            <a:r>
              <a:rPr lang="en-US" sz="1400" dirty="0">
                <a:solidFill>
                  <a:srgbClr val="FFFFFF"/>
                </a:solidFill>
                <a:latin typeface="MiSans" pitchFamily="34" charset="-122"/>
                <a:ea typeface="MiSans" pitchFamily="34" charset="-122"/>
                <a:cs typeface="MiSans" pitchFamily="34" charset="-120"/>
              </a:rPr>
              <a:t>Free fall requires careful sign convention selection. Choosing upward as positive makes acceleration a = -g, while downward-positive makes a = +g. Consistency throughout problem-solving is essential—initial velocity signs must match your chosen coordinate system to avoid calculation errors in velocity and displacement results.</a:t>
            </a:r>
            <a:endParaRPr lang="en-US" sz="1600" dirty="0"/>
          </a:p>
        </p:txBody>
      </p:sp>
      <p:sp>
        <p:nvSpPr>
          <p:cNvPr id="23" name="Shape 16"/>
          <p:cNvSpPr/>
          <p:nvPr/>
        </p:nvSpPr>
        <p:spPr>
          <a:xfrm>
            <a:off x="6352584" y="3753266"/>
            <a:ext cx="652471" cy="328680"/>
          </a:xfrm>
          <a:prstGeom prst="rect">
            <a:avLst/>
          </a:prstGeom>
          <a:solidFill>
            <a:srgbClr val="000000">
              <a:alpha val="0"/>
            </a:srgbClr>
          </a:solidFill>
        </p:spPr>
      </p:sp>
      <p:sp>
        <p:nvSpPr>
          <p:cNvPr id="24" name="Text 17"/>
          <p:cNvSpPr/>
          <p:nvPr/>
        </p:nvSpPr>
        <p:spPr>
          <a:xfrm>
            <a:off x="6352584" y="3753266"/>
            <a:ext cx="652471" cy="328680"/>
          </a:xfrm>
          <a:prstGeom prst="rect">
            <a:avLst/>
          </a:prstGeom>
          <a:noFill/>
        </p:spPr>
        <p:txBody>
          <a:bodyPr wrap="square" lIns="0" tIns="0" rIns="0" bIns="0" rtlCol="0" anchor="t"/>
          <a:lstStyle/>
          <a:p>
            <a:pPr algn="ctr">
              <a:lnSpc>
                <a:spcPct val="110000"/>
              </a:lnSpc>
            </a:pPr>
            <a:r>
              <a:rPr lang="en-US" sz="2000" dirty="0">
                <a:solidFill>
                  <a:srgbClr val="FFFFFF"/>
                </a:solidFill>
                <a:latin typeface="MiSans" pitchFamily="34" charset="-122"/>
                <a:ea typeface="MiSans" pitchFamily="34" charset="-122"/>
                <a:cs typeface="MiSans" pitchFamily="34" charset="-120"/>
              </a:rPr>
              <a:t>02</a:t>
            </a:r>
            <a:endParaRPr lang="en-US" sz="1600" dirty="0"/>
          </a:p>
        </p:txBody>
      </p:sp>
      <p:sp>
        <p:nvSpPr>
          <p:cNvPr id="25" name="Text 18"/>
          <p:cNvSpPr/>
          <p:nvPr/>
        </p:nvSpPr>
        <p:spPr>
          <a:xfrm>
            <a:off x="7200064" y="3752661"/>
            <a:ext cx="3421380"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Common Free Fall Problem Types</a:t>
            </a:r>
            <a:endParaRPr lang="en-US" sz="1600" dirty="0"/>
          </a:p>
        </p:txBody>
      </p:sp>
      <p:sp>
        <p:nvSpPr>
          <p:cNvPr id="26" name="Text 19"/>
          <p:cNvSpPr/>
          <p:nvPr/>
        </p:nvSpPr>
        <p:spPr>
          <a:xfrm>
            <a:off x="7049539" y="469366"/>
            <a:ext cx="3875101" cy="2971562"/>
          </a:xfrm>
          <a:prstGeom prst="rect">
            <a:avLst/>
          </a:prstGeom>
          <a:noFill/>
        </p:spPr>
        <p:txBody>
          <a:bodyPr wrap="square" lIns="91440" tIns="45720" rIns="91440" bIns="45720" rtlCol="0" anchor="t">
            <a:spAutoFit/>
          </a:bodyPr>
          <a:lstStyle/>
          <a:p>
            <a:pPr>
              <a:lnSpc>
                <a:spcPct val="150000"/>
              </a:lnSpc>
            </a:pPr>
            <a:r>
              <a:rPr lang="en-US" sz="1400" dirty="0">
                <a:solidFill>
                  <a:srgbClr val="FFFFFF"/>
                </a:solidFill>
                <a:latin typeface="MiSans" pitchFamily="34" charset="-122"/>
                <a:ea typeface="MiSans" pitchFamily="34" charset="-122"/>
                <a:cs typeface="MiSans" pitchFamily="34" charset="-120"/>
              </a:rPr>
              <a:t>Dropped objects start with zero initial velocity, simplifying calculations to Δy = ½gt². Thrown objects require incorporating initial velocity direction—upward throws decelerate to zero velocity at peak height before accelerating downward. Objects thrown downward combine initial velocity with gravitational acceleration for faster descent calculations.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3426"/>
            <a:ext cx="12191999" cy="6864626"/>
          </a:xfrm>
          <a:prstGeom prst="rect">
            <a:avLst/>
          </a:prstGeom>
        </p:spPr>
      </p:pic>
      <p:sp>
        <p:nvSpPr>
          <p:cNvPr id="3" name="Text 0"/>
          <p:cNvSpPr/>
          <p:nvPr/>
        </p:nvSpPr>
        <p:spPr>
          <a:xfrm>
            <a:off x="4119359" y="3709831"/>
            <a:ext cx="3832016" cy="1029692"/>
          </a:xfrm>
          <a:prstGeom prst="rect">
            <a:avLst/>
          </a:prstGeom>
          <a:noFill/>
        </p:spPr>
        <p:txBody>
          <a:bodyPr wrap="square" lIns="0" tIns="0" rIns="0" bIns="0" rtlCol="0" anchor="t">
            <a:spAutoFit/>
          </a:bodyPr>
          <a:lstStyle/>
          <a:p>
            <a:pPr algn="ctr">
              <a:lnSpc>
                <a:spcPct val="100000"/>
              </a:lnSpc>
            </a:pPr>
            <a:r>
              <a:rPr lang="en-US" sz="3200" dirty="0">
                <a:solidFill>
                  <a:srgbClr val="FFFFFF"/>
                </a:solidFill>
                <a:latin typeface="MiSans" pitchFamily="34" charset="-122"/>
                <a:ea typeface="MiSans" pitchFamily="34" charset="-122"/>
                <a:cs typeface="MiSans" pitchFamily="34" charset="-120"/>
              </a:rPr>
              <a:t>Newton's Laws &amp; Forces</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9" name="Shape 6"/>
          <p:cNvSpPr/>
          <p:nvPr/>
        </p:nvSpPr>
        <p:spPr>
          <a:xfrm>
            <a:off x="10796832" y="6396446"/>
            <a:ext cx="116844" cy="116844"/>
          </a:xfrm>
          <a:prstGeom prst="ellipse">
            <a:avLst/>
          </a:prstGeom>
          <a:solidFill>
            <a:srgbClr val="FFFFFF"/>
          </a:solidFill>
        </p:spPr>
      </p:sp>
      <p:sp>
        <p:nvSpPr>
          <p:cNvPr id="10" name="Shape 7"/>
          <p:cNvSpPr/>
          <p:nvPr/>
        </p:nvSpPr>
        <p:spPr>
          <a:xfrm>
            <a:off x="10989337" y="6396446"/>
            <a:ext cx="116844" cy="116844"/>
          </a:xfrm>
          <a:prstGeom prst="ellipse">
            <a:avLst/>
          </a:prstGeom>
          <a:solidFill>
            <a:srgbClr val="FFFFFF">
              <a:alpha val="56471"/>
            </a:srgbClr>
          </a:solidFill>
        </p:spPr>
      </p:sp>
      <p:sp>
        <p:nvSpPr>
          <p:cNvPr id="11" name="Shape 8"/>
          <p:cNvSpPr/>
          <p:nvPr/>
        </p:nvSpPr>
        <p:spPr>
          <a:xfrm>
            <a:off x="11186107" y="6396446"/>
            <a:ext cx="116844" cy="116844"/>
          </a:xfrm>
          <a:prstGeom prst="ellipse">
            <a:avLst/>
          </a:prstGeom>
          <a:solidFill>
            <a:srgbClr val="FFFFFF"/>
          </a:solidFill>
        </p:spPr>
      </p:sp>
      <p:sp>
        <p:nvSpPr>
          <p:cNvPr id="12" name="Shape 9"/>
          <p:cNvSpPr/>
          <p:nvPr/>
        </p:nvSpPr>
        <p:spPr>
          <a:xfrm>
            <a:off x="11382877" y="6396446"/>
            <a:ext cx="116844" cy="116844"/>
          </a:xfrm>
          <a:prstGeom prst="ellipse">
            <a:avLst/>
          </a:prstGeom>
          <a:solidFill>
            <a:srgbClr val="FFFFFF">
              <a:alpha val="56471"/>
            </a:srgbClr>
          </a:solidFill>
        </p:spPr>
      </p:sp>
      <p:pic>
        <p:nvPicPr>
          <p:cNvPr id="13" name="Image 1" descr="https://kimi-img.moonshot.cn/pub/slides/slides_tmpl/image/25-08-27-20:02:06-d2nf7fh8bjvh7rlj0600.png"/>
          <p:cNvPicPr>
            <a:picLocks noChangeAspect="1"/>
          </p:cNvPicPr>
          <p:nvPr/>
        </p:nvPicPr>
        <p:blipFill>
          <a:blip r:embed="rId2"/>
          <a:stretch>
            <a:fillRect/>
          </a:stretch>
        </p:blipFill>
        <p:spPr>
          <a:xfrm>
            <a:off x="4267199" y="3446152"/>
            <a:ext cx="3657600" cy="12700"/>
          </a:xfrm>
          <a:prstGeom prst="rect">
            <a:avLst/>
          </a:prstGeom>
        </p:spPr>
      </p:pic>
      <p:sp>
        <p:nvSpPr>
          <p:cNvPr id="14" name="Shape 10"/>
          <p:cNvSpPr/>
          <p:nvPr/>
        </p:nvSpPr>
        <p:spPr>
          <a:xfrm>
            <a:off x="4893310" y="1477010"/>
            <a:ext cx="2284095" cy="2335530"/>
          </a:xfrm>
          <a:prstGeom prst="rect">
            <a:avLst/>
          </a:prstGeom>
          <a:solidFill>
            <a:srgbClr val="000000">
              <a:alpha val="0"/>
            </a:srgbClr>
          </a:solidFill>
        </p:spPr>
      </p:sp>
      <p:sp>
        <p:nvSpPr>
          <p:cNvPr id="15" name="Text 11"/>
          <p:cNvSpPr/>
          <p:nvPr/>
        </p:nvSpPr>
        <p:spPr>
          <a:xfrm>
            <a:off x="4893310" y="1477010"/>
            <a:ext cx="2284095" cy="2335530"/>
          </a:xfrm>
          <a:prstGeom prst="rect">
            <a:avLst/>
          </a:prstGeom>
          <a:noFill/>
        </p:spPr>
        <p:txBody>
          <a:bodyPr wrap="square" lIns="0" tIns="0" rIns="0" bIns="0" rtlCol="0" anchor="t"/>
          <a:lstStyle/>
          <a:p>
            <a:pPr>
              <a:lnSpc>
                <a:spcPct val="110000"/>
              </a:lnSpc>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02</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3179" y="-1"/>
            <a:ext cx="12194137" cy="6865829"/>
          </a:xfrm>
          <a:prstGeom prst="rect">
            <a:avLst/>
          </a:prstGeom>
        </p:spPr>
      </p:pic>
      <p:pic>
        <p:nvPicPr>
          <p:cNvPr id="3" name="Image 1" descr="https://kimi-img.moonshot.cn/pub/slides/slides_tmpl/image/25-08-27-20:02:17-d2nf7i98bjvh7rlj06og.png"/>
          <p:cNvPicPr>
            <a:picLocks noChangeAspect="1"/>
          </p:cNvPicPr>
          <p:nvPr/>
        </p:nvPicPr>
        <p:blipFill>
          <a:blip r:embed="rId2"/>
          <a:stretch>
            <a:fillRect/>
          </a:stretch>
        </p:blipFill>
        <p:spPr>
          <a:xfrm>
            <a:off x="3081756" y="1348595"/>
            <a:ext cx="3200400" cy="4991100"/>
          </a:xfrm>
          <a:prstGeom prst="rect">
            <a:avLst/>
          </a:prstGeom>
        </p:spPr>
      </p:pic>
      <p:pic>
        <p:nvPicPr>
          <p:cNvPr id="4" name="Image 2" descr="https://kimi-img.moonshot.cn/pub/slides/slides_tmpl/image/25-08-27-20:02:17-d2nf7i98bjvh7rlj06p0.png"/>
          <p:cNvPicPr>
            <a:picLocks noChangeAspect="1"/>
          </p:cNvPicPr>
          <p:nvPr/>
        </p:nvPicPr>
        <p:blipFill>
          <a:blip r:embed="rId3"/>
          <a:stretch>
            <a:fillRect/>
          </a:stretch>
        </p:blipFill>
        <p:spPr>
          <a:xfrm>
            <a:off x="258160" y="1348595"/>
            <a:ext cx="3213100" cy="5334000"/>
          </a:xfrm>
          <a:prstGeom prst="rect">
            <a:avLst/>
          </a:prstGeom>
        </p:spPr>
      </p:pic>
      <p:sp>
        <p:nvSpPr>
          <p:cNvPr id="5" name="Shape 0"/>
          <p:cNvSpPr/>
          <p:nvPr/>
        </p:nvSpPr>
        <p:spPr>
          <a:xfrm flipH="1">
            <a:off x="11314843" y="981848"/>
            <a:ext cx="77797" cy="72000"/>
          </a:xfrm>
          <a:prstGeom prst="ellipse">
            <a:avLst/>
          </a:prstGeom>
          <a:solidFill>
            <a:srgbClr val="FFFFFF"/>
          </a:solidFill>
        </p:spPr>
      </p:sp>
      <p:sp>
        <p:nvSpPr>
          <p:cNvPr id="6" name="Shape 1"/>
          <p:cNvSpPr/>
          <p:nvPr/>
        </p:nvSpPr>
        <p:spPr>
          <a:xfrm flipH="1">
            <a:off x="11186668" y="981848"/>
            <a:ext cx="77797" cy="72000"/>
          </a:xfrm>
          <a:prstGeom prst="ellipse">
            <a:avLst/>
          </a:prstGeom>
          <a:solidFill>
            <a:srgbClr val="FFFFFF">
              <a:alpha val="56471"/>
            </a:srgbClr>
          </a:solidFill>
        </p:spPr>
      </p:sp>
      <p:sp>
        <p:nvSpPr>
          <p:cNvPr id="7" name="Shape 2"/>
          <p:cNvSpPr/>
          <p:nvPr/>
        </p:nvSpPr>
        <p:spPr>
          <a:xfrm flipH="1">
            <a:off x="11055654" y="981848"/>
            <a:ext cx="77797" cy="72000"/>
          </a:xfrm>
          <a:prstGeom prst="ellipse">
            <a:avLst/>
          </a:prstGeom>
          <a:solidFill>
            <a:srgbClr val="FFFFFF"/>
          </a:solidFill>
        </p:spPr>
      </p:sp>
      <p:sp>
        <p:nvSpPr>
          <p:cNvPr id="8" name="Shape 3"/>
          <p:cNvSpPr/>
          <p:nvPr/>
        </p:nvSpPr>
        <p:spPr>
          <a:xfrm flipH="1">
            <a:off x="10924640" y="981848"/>
            <a:ext cx="77797" cy="72000"/>
          </a:xfrm>
          <a:prstGeom prst="ellipse">
            <a:avLst/>
          </a:prstGeom>
          <a:solidFill>
            <a:srgbClr val="FFFFFF">
              <a:alpha val="56471"/>
            </a:srgbClr>
          </a:solidFill>
        </p:spPr>
      </p:sp>
      <p:pic>
        <p:nvPicPr>
          <p:cNvPr id="9" name="Image 3" descr="https://kimi-img.moonshot.cn/pub/slides/slides_tmpl/image/25-08-27-20:02:17-d2nf7i98bjvh7rlj06og.png"/>
          <p:cNvPicPr>
            <a:picLocks noChangeAspect="1"/>
          </p:cNvPicPr>
          <p:nvPr/>
        </p:nvPicPr>
        <p:blipFill>
          <a:blip r:embed="rId2"/>
          <a:stretch>
            <a:fillRect/>
          </a:stretch>
        </p:blipFill>
        <p:spPr>
          <a:xfrm>
            <a:off x="8696494" y="1348595"/>
            <a:ext cx="3200400" cy="4991100"/>
          </a:xfrm>
          <a:prstGeom prst="rect">
            <a:avLst/>
          </a:prstGeom>
        </p:spPr>
      </p:pic>
      <p:pic>
        <p:nvPicPr>
          <p:cNvPr id="10" name="Image 4" descr="https://kimi-img.moonshot.cn/pub/slides/slides_tmpl/image/25-08-27-20:02:17-d2nf7i98bjvh7rlj06p0.png"/>
          <p:cNvPicPr>
            <a:picLocks noChangeAspect="1"/>
          </p:cNvPicPr>
          <p:nvPr/>
        </p:nvPicPr>
        <p:blipFill>
          <a:blip r:embed="rId3"/>
          <a:stretch>
            <a:fillRect/>
          </a:stretch>
        </p:blipFill>
        <p:spPr>
          <a:xfrm>
            <a:off x="5888940" y="1348595"/>
            <a:ext cx="3213100" cy="5334000"/>
          </a:xfrm>
          <a:prstGeom prst="rect">
            <a:avLst/>
          </a:prstGeom>
        </p:spPr>
      </p:pic>
      <p:sp>
        <p:nvSpPr>
          <p:cNvPr id="11" name="Text 4"/>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Force Analysis Fundamentals</a:t>
            </a:r>
            <a:endParaRPr lang="en-US" sz="1600" dirty="0"/>
          </a:p>
        </p:txBody>
      </p:sp>
      <p:pic>
        <p:nvPicPr>
          <p:cNvPr id="12" name="Image 5"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3" name="Shape 5"/>
          <p:cNvSpPr/>
          <p:nvPr/>
        </p:nvSpPr>
        <p:spPr>
          <a:xfrm>
            <a:off x="1539058" y="1889094"/>
            <a:ext cx="652471" cy="328680"/>
          </a:xfrm>
          <a:prstGeom prst="rect">
            <a:avLst/>
          </a:prstGeom>
          <a:solidFill>
            <a:srgbClr val="000000">
              <a:alpha val="0"/>
            </a:srgbClr>
          </a:solidFill>
        </p:spPr>
      </p:sp>
      <p:sp>
        <p:nvSpPr>
          <p:cNvPr id="14" name="Text 6"/>
          <p:cNvSpPr/>
          <p:nvPr/>
        </p:nvSpPr>
        <p:spPr>
          <a:xfrm>
            <a:off x="1539058" y="1889094"/>
            <a:ext cx="652471" cy="328680"/>
          </a:xfrm>
          <a:prstGeom prst="rect">
            <a:avLst/>
          </a:prstGeom>
          <a:noFill/>
        </p:spPr>
        <p:txBody>
          <a:bodyPr wrap="square" lIns="0" tIns="0" rIns="0" bIns="0" rtlCol="0" anchor="t"/>
          <a:lstStyle/>
          <a:p>
            <a:pPr algn="ctr">
              <a:lnSpc>
                <a:spcPct val="110000"/>
              </a:lnSpc>
            </a:pPr>
            <a:r>
              <a:rPr lang="en-US" sz="2000" dirty="0">
                <a:solidFill>
                  <a:srgbClr val="FFFFFF"/>
                </a:solidFill>
                <a:latin typeface="MiSans" pitchFamily="34" charset="-122"/>
                <a:ea typeface="MiSans" pitchFamily="34" charset="-122"/>
                <a:cs typeface="MiSans" pitchFamily="34" charset="-120"/>
              </a:rPr>
              <a:t>01</a:t>
            </a:r>
            <a:endParaRPr lang="en-US" sz="1600" dirty="0"/>
          </a:p>
        </p:txBody>
      </p:sp>
      <p:sp>
        <p:nvSpPr>
          <p:cNvPr id="15" name="Text 7"/>
          <p:cNvSpPr/>
          <p:nvPr/>
        </p:nvSpPr>
        <p:spPr>
          <a:xfrm>
            <a:off x="821088" y="2380887"/>
            <a:ext cx="2087245" cy="81022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Newton's Second Law: F_net = ma</a:t>
            </a:r>
            <a:endParaRPr lang="en-US" sz="1600" dirty="0"/>
          </a:p>
        </p:txBody>
      </p:sp>
      <p:sp>
        <p:nvSpPr>
          <p:cNvPr id="16" name="Text 8"/>
          <p:cNvSpPr/>
          <p:nvPr/>
        </p:nvSpPr>
        <p:spPr>
          <a:xfrm>
            <a:off x="640080" y="3166650"/>
            <a:ext cx="2565346" cy="3298484"/>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The cornerstone of dynamics states that net force equals mass times acceleration. This vector equation demands consideration of force directions—forces in the same direction add, while opposing forces subtract. The acceleration direction always matches the net force direction, regardless of velocity direction</a:t>
            </a:r>
            <a:endParaRPr lang="en-US" sz="1600" dirty="0"/>
          </a:p>
        </p:txBody>
      </p:sp>
      <p:sp>
        <p:nvSpPr>
          <p:cNvPr id="17" name="Shape 9"/>
          <p:cNvSpPr/>
          <p:nvPr/>
        </p:nvSpPr>
        <p:spPr>
          <a:xfrm>
            <a:off x="4349947" y="1876545"/>
            <a:ext cx="652471" cy="328680"/>
          </a:xfrm>
          <a:prstGeom prst="rect">
            <a:avLst/>
          </a:prstGeom>
          <a:solidFill>
            <a:srgbClr val="000000">
              <a:alpha val="0"/>
            </a:srgbClr>
          </a:solidFill>
        </p:spPr>
      </p:sp>
      <p:sp>
        <p:nvSpPr>
          <p:cNvPr id="18" name="Text 10"/>
          <p:cNvSpPr/>
          <p:nvPr/>
        </p:nvSpPr>
        <p:spPr>
          <a:xfrm>
            <a:off x="4349947" y="1876545"/>
            <a:ext cx="652471" cy="328680"/>
          </a:xfrm>
          <a:prstGeom prst="rect">
            <a:avLst/>
          </a:prstGeom>
          <a:noFill/>
        </p:spPr>
        <p:txBody>
          <a:bodyPr wrap="square" lIns="0" tIns="0" rIns="0" bIns="0" rtlCol="0" anchor="t"/>
          <a:lstStyle/>
          <a:p>
            <a:pPr algn="ctr">
              <a:lnSpc>
                <a:spcPct val="110000"/>
              </a:lnSpc>
            </a:pPr>
            <a:r>
              <a:rPr lang="en-US" sz="2000" dirty="0">
                <a:solidFill>
                  <a:srgbClr val="FFFFFF"/>
                </a:solidFill>
                <a:latin typeface="MiSans" pitchFamily="34" charset="-122"/>
                <a:ea typeface="MiSans" pitchFamily="34" charset="-122"/>
                <a:cs typeface="MiSans" pitchFamily="34" charset="-120"/>
              </a:rPr>
              <a:t>02</a:t>
            </a:r>
            <a:endParaRPr lang="en-US" sz="1600" dirty="0"/>
          </a:p>
        </p:txBody>
      </p:sp>
      <p:sp>
        <p:nvSpPr>
          <p:cNvPr id="19" name="Text 11"/>
          <p:cNvSpPr/>
          <p:nvPr/>
        </p:nvSpPr>
        <p:spPr>
          <a:xfrm>
            <a:off x="3657774" y="2518007"/>
            <a:ext cx="2087245" cy="53598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Gravitational Force: F_g = mg</a:t>
            </a:r>
            <a:endParaRPr lang="en-US" sz="1600" dirty="0"/>
          </a:p>
        </p:txBody>
      </p:sp>
      <p:sp>
        <p:nvSpPr>
          <p:cNvPr id="20" name="Text 12"/>
          <p:cNvSpPr/>
          <p:nvPr/>
        </p:nvSpPr>
        <p:spPr>
          <a:xfrm>
            <a:off x="3457575" y="3090545"/>
            <a:ext cx="2638425" cy="3673038"/>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Weight represents the gravitational force exerted by Earth on mass m. Near Earth's surface, g = 9.8 m/s² provides constant acceleration. This force acts vertically downward regardless of motion state, distinguishing it from apparent weight experienced in accelerating reference frames like elevators or orbiting spacecraft.</a:t>
            </a:r>
            <a:endParaRPr lang="en-US" sz="1600" dirty="0"/>
          </a:p>
        </p:txBody>
      </p:sp>
      <p:sp>
        <p:nvSpPr>
          <p:cNvPr id="21" name="Shape 13"/>
          <p:cNvSpPr/>
          <p:nvPr/>
        </p:nvSpPr>
        <p:spPr>
          <a:xfrm>
            <a:off x="7169838" y="1889094"/>
            <a:ext cx="652471" cy="328680"/>
          </a:xfrm>
          <a:prstGeom prst="rect">
            <a:avLst/>
          </a:prstGeom>
          <a:solidFill>
            <a:srgbClr val="000000">
              <a:alpha val="0"/>
            </a:srgbClr>
          </a:solidFill>
        </p:spPr>
      </p:sp>
      <p:sp>
        <p:nvSpPr>
          <p:cNvPr id="22" name="Text 14"/>
          <p:cNvSpPr/>
          <p:nvPr/>
        </p:nvSpPr>
        <p:spPr>
          <a:xfrm>
            <a:off x="7169838" y="1889094"/>
            <a:ext cx="652471" cy="328680"/>
          </a:xfrm>
          <a:prstGeom prst="rect">
            <a:avLst/>
          </a:prstGeom>
          <a:noFill/>
        </p:spPr>
        <p:txBody>
          <a:bodyPr wrap="square" lIns="0" tIns="0" rIns="0" bIns="0" rtlCol="0" anchor="t"/>
          <a:lstStyle/>
          <a:p>
            <a:pPr algn="ctr">
              <a:lnSpc>
                <a:spcPct val="110000"/>
              </a:lnSpc>
            </a:pPr>
            <a:r>
              <a:rPr lang="en-US" sz="2000" dirty="0">
                <a:solidFill>
                  <a:srgbClr val="FFFFFF"/>
                </a:solidFill>
                <a:latin typeface="MiSans" pitchFamily="34" charset="-122"/>
                <a:ea typeface="MiSans" pitchFamily="34" charset="-122"/>
                <a:cs typeface="MiSans" pitchFamily="34" charset="-120"/>
              </a:rPr>
              <a:t>03</a:t>
            </a:r>
            <a:endParaRPr lang="en-US" sz="1600" dirty="0"/>
          </a:p>
        </p:txBody>
      </p:sp>
      <p:sp>
        <p:nvSpPr>
          <p:cNvPr id="23" name="Text 15"/>
          <p:cNvSpPr/>
          <p:nvPr/>
        </p:nvSpPr>
        <p:spPr>
          <a:xfrm>
            <a:off x="6477014" y="2518007"/>
            <a:ext cx="2087245" cy="53598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Normal and Tension Forces</a:t>
            </a:r>
            <a:endParaRPr lang="en-US" sz="1600" dirty="0"/>
          </a:p>
        </p:txBody>
      </p:sp>
      <p:sp>
        <p:nvSpPr>
          <p:cNvPr id="24" name="Text 16"/>
          <p:cNvSpPr/>
          <p:nvPr/>
        </p:nvSpPr>
        <p:spPr>
          <a:xfrm>
            <a:off x="6212840" y="3090545"/>
            <a:ext cx="2630039" cy="3673038"/>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Normal force is a contact force perpendicular to surfaces, preventing object penetration. It adjusts magnitude based on other forces—equal to weight on horizontal surfaces but varying on inclines or with applied forces. Tension force transmits pulling forces through strings, cables, and ropes, constant throughout massless, frictionless strings.</a:t>
            </a:r>
            <a:endParaRPr lang="en-US" sz="1600" dirty="0"/>
          </a:p>
        </p:txBody>
      </p:sp>
      <p:sp>
        <p:nvSpPr>
          <p:cNvPr id="25" name="Shape 17"/>
          <p:cNvSpPr/>
          <p:nvPr/>
        </p:nvSpPr>
        <p:spPr>
          <a:xfrm>
            <a:off x="9964685" y="1876545"/>
            <a:ext cx="652471" cy="328680"/>
          </a:xfrm>
          <a:prstGeom prst="rect">
            <a:avLst/>
          </a:prstGeom>
          <a:solidFill>
            <a:srgbClr val="000000">
              <a:alpha val="0"/>
            </a:srgbClr>
          </a:solidFill>
        </p:spPr>
      </p:sp>
      <p:sp>
        <p:nvSpPr>
          <p:cNvPr id="26" name="Text 18"/>
          <p:cNvSpPr/>
          <p:nvPr/>
        </p:nvSpPr>
        <p:spPr>
          <a:xfrm>
            <a:off x="9964685" y="1876545"/>
            <a:ext cx="652471" cy="328680"/>
          </a:xfrm>
          <a:prstGeom prst="rect">
            <a:avLst/>
          </a:prstGeom>
          <a:noFill/>
        </p:spPr>
        <p:txBody>
          <a:bodyPr wrap="square" lIns="0" tIns="0" rIns="0" bIns="0" rtlCol="0" anchor="t"/>
          <a:lstStyle/>
          <a:p>
            <a:pPr algn="ctr">
              <a:lnSpc>
                <a:spcPct val="110000"/>
              </a:lnSpc>
            </a:pPr>
            <a:r>
              <a:rPr lang="en-US" sz="2000" dirty="0">
                <a:solidFill>
                  <a:srgbClr val="FFFFFF"/>
                </a:solidFill>
                <a:latin typeface="MiSans" pitchFamily="34" charset="-122"/>
                <a:ea typeface="MiSans" pitchFamily="34" charset="-122"/>
                <a:cs typeface="MiSans" pitchFamily="34" charset="-120"/>
              </a:rPr>
              <a:t>04</a:t>
            </a:r>
            <a:endParaRPr lang="en-US" sz="1600" dirty="0"/>
          </a:p>
        </p:txBody>
      </p:sp>
      <p:sp>
        <p:nvSpPr>
          <p:cNvPr id="27" name="Text 19"/>
          <p:cNvSpPr/>
          <p:nvPr/>
        </p:nvSpPr>
        <p:spPr>
          <a:xfrm>
            <a:off x="9272512" y="2518007"/>
            <a:ext cx="2087245" cy="53598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Friction: Static and Kinetic</a:t>
            </a:r>
            <a:endParaRPr lang="en-US" sz="1600" dirty="0"/>
          </a:p>
        </p:txBody>
      </p:sp>
      <p:sp>
        <p:nvSpPr>
          <p:cNvPr id="28" name="Text 20"/>
          <p:cNvSpPr/>
          <p:nvPr/>
        </p:nvSpPr>
        <p:spPr>
          <a:xfrm>
            <a:off x="9040495" y="3090545"/>
            <a:ext cx="2788551" cy="3673038"/>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Static friction (f_s ≤ μ_sN) prevents motion initiation and matches applied forces up to a maximum. Kinetic friction (f_k = μ_kN) acts during sliding motion, typically smaller than maximum static friction. The inequality for static friction requires careful analysis to determine whether objects remain stationary or begin moving under applied forces.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1041" y="0"/>
            <a:ext cx="12192000" cy="6864626"/>
          </a:xfrm>
          <a:prstGeom prst="rect">
            <a:avLst/>
          </a:prstGeom>
        </p:spPr>
      </p:pic>
      <p:pic>
        <p:nvPicPr>
          <p:cNvPr id="3" name="Image 1" descr="https://kimi-img.moonshot.cn/pub/slides/slides_tmpl/image/25-08-27-20:02:17-d2nf7i98bjvh7rlj06o0.png"/>
          <p:cNvPicPr>
            <a:picLocks noChangeAspect="1"/>
          </p:cNvPicPr>
          <p:nvPr/>
        </p:nvPicPr>
        <p:blipFill>
          <a:blip r:embed="rId2"/>
          <a:stretch>
            <a:fillRect/>
          </a:stretch>
        </p:blipFill>
        <p:spPr>
          <a:xfrm>
            <a:off x="-368946" y="-475463"/>
            <a:ext cx="13015728" cy="7644359"/>
          </a:xfrm>
          <a:prstGeom prst="rect">
            <a:avLst/>
          </a:prstGeom>
        </p:spPr>
      </p:pic>
      <p:pic>
        <p:nvPicPr>
          <p:cNvPr id="4" name="Image 2" descr="https://kimi-img.moonshot.cn/pub/slides/slides_tmpl/image/25-08-27-20:02:17-d2nf7i98bjvh7rlj06mg.png"/>
          <p:cNvPicPr>
            <a:picLocks noChangeAspect="1"/>
          </p:cNvPicPr>
          <p:nvPr/>
        </p:nvPicPr>
        <p:blipFill>
          <a:blip r:embed="rId3">
            <a:alphaModFix amt="67000"/>
          </a:blip>
          <a:stretch>
            <a:fillRect/>
          </a:stretch>
        </p:blipFill>
        <p:spPr>
          <a:xfrm>
            <a:off x="-1041" y="0"/>
            <a:ext cx="5384800" cy="6858000"/>
          </a:xfrm>
          <a:prstGeom prst="rect">
            <a:avLst/>
          </a:prstGeom>
        </p:spPr>
      </p:pic>
      <p:sp>
        <p:nvSpPr>
          <p:cNvPr id="5" name="Text 0"/>
          <p:cNvSpPr/>
          <p:nvPr/>
        </p:nvSpPr>
        <p:spPr>
          <a:xfrm>
            <a:off x="934263" y="479263"/>
            <a:ext cx="3049055" cy="606887"/>
          </a:xfrm>
          <a:prstGeom prst="rect">
            <a:avLst/>
          </a:prstGeom>
          <a:noFill/>
        </p:spPr>
        <p:txBody>
          <a:bodyPr wrap="square" lIns="91440" tIns="45720" rIns="91440" bIns="45720" rtlCol="0" anchor="ctr"/>
          <a:lstStyle/>
          <a:p>
            <a:pPr>
              <a:lnSpc>
                <a:spcPct val="90000"/>
              </a:lnSpc>
            </a:pPr>
            <a:r>
              <a:rPr lang="en-US" sz="4400" dirty="0">
                <a:solidFill>
                  <a:srgbClr val="000000"/>
                </a:solidFill>
                <a:latin typeface="MiSans" pitchFamily="34" charset="-122"/>
                <a:ea typeface="MiSans" pitchFamily="34" charset="-122"/>
                <a:cs typeface="MiSans" pitchFamily="34" charset="-120"/>
              </a:rPr>
              <a:t> </a:t>
            </a:r>
            <a:endParaRPr lang="en-US" sz="1600" dirty="0"/>
          </a:p>
        </p:txBody>
      </p:sp>
      <p:sp>
        <p:nvSpPr>
          <p:cNvPr id="6"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7"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8"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9"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10"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11" name="Shape 6"/>
          <p:cNvSpPr/>
          <p:nvPr/>
        </p:nvSpPr>
        <p:spPr>
          <a:xfrm flipH="1">
            <a:off x="11314843" y="981848"/>
            <a:ext cx="77797" cy="72000"/>
          </a:xfrm>
          <a:prstGeom prst="ellipse">
            <a:avLst/>
          </a:prstGeom>
          <a:solidFill>
            <a:srgbClr val="FFFFFF"/>
          </a:solidFill>
        </p:spPr>
      </p:sp>
      <p:sp>
        <p:nvSpPr>
          <p:cNvPr id="12" name="Shape 7"/>
          <p:cNvSpPr/>
          <p:nvPr/>
        </p:nvSpPr>
        <p:spPr>
          <a:xfrm flipH="1">
            <a:off x="11186668" y="981848"/>
            <a:ext cx="77797" cy="72000"/>
          </a:xfrm>
          <a:prstGeom prst="ellipse">
            <a:avLst/>
          </a:prstGeom>
          <a:solidFill>
            <a:srgbClr val="FFFFFF">
              <a:alpha val="56471"/>
            </a:srgbClr>
          </a:solidFill>
        </p:spPr>
      </p:sp>
      <p:pic>
        <p:nvPicPr>
          <p:cNvPr id="13" name="Image 3" descr="https://kimi-img.moonshot.cn/pub/slides/slides_tmpl/image/25-08-27-20:02:17-d2nf7i98bjvh7rlj06l0.png"/>
          <p:cNvPicPr>
            <a:picLocks noChangeAspect="1"/>
          </p:cNvPicPr>
          <p:nvPr/>
        </p:nvPicPr>
        <p:blipFill>
          <a:blip r:embed="rId4"/>
          <a:stretch>
            <a:fillRect/>
          </a:stretch>
        </p:blipFill>
        <p:spPr>
          <a:xfrm>
            <a:off x="4049549" y="807440"/>
            <a:ext cx="1435100" cy="1447800"/>
          </a:xfrm>
          <a:prstGeom prst="rect">
            <a:avLst/>
          </a:prstGeom>
        </p:spPr>
      </p:pic>
      <p:sp>
        <p:nvSpPr>
          <p:cNvPr id="14" name="Shape 8"/>
          <p:cNvSpPr/>
          <p:nvPr/>
        </p:nvSpPr>
        <p:spPr>
          <a:xfrm flipH="1">
            <a:off x="11055654" y="981848"/>
            <a:ext cx="77797" cy="72000"/>
          </a:xfrm>
          <a:prstGeom prst="ellipse">
            <a:avLst/>
          </a:prstGeom>
          <a:solidFill>
            <a:srgbClr val="FFFFFF"/>
          </a:solidFill>
        </p:spPr>
      </p:sp>
      <p:sp>
        <p:nvSpPr>
          <p:cNvPr id="15" name="Shape 9"/>
          <p:cNvSpPr/>
          <p:nvPr/>
        </p:nvSpPr>
        <p:spPr>
          <a:xfrm flipH="1">
            <a:off x="10924640" y="981848"/>
            <a:ext cx="77797" cy="72000"/>
          </a:xfrm>
          <a:prstGeom prst="ellipse">
            <a:avLst/>
          </a:prstGeom>
          <a:solidFill>
            <a:srgbClr val="FFFFFF">
              <a:alpha val="56471"/>
            </a:srgbClr>
          </a:solidFill>
        </p:spPr>
      </p:sp>
      <p:pic>
        <p:nvPicPr>
          <p:cNvPr id="16" name="Image 4" descr="https://kimi-img.moonshot.cn/pub/slides/slides_tmpl/image/25-08-27-20:02:17-d2nf7i98bjvh7rlj06l0.png"/>
          <p:cNvPicPr>
            <a:picLocks noChangeAspect="1"/>
          </p:cNvPicPr>
          <p:nvPr/>
        </p:nvPicPr>
        <p:blipFill>
          <a:blip r:embed="rId4"/>
          <a:stretch>
            <a:fillRect/>
          </a:stretch>
        </p:blipFill>
        <p:spPr>
          <a:xfrm>
            <a:off x="4598189" y="2636240"/>
            <a:ext cx="1435100" cy="1447800"/>
          </a:xfrm>
          <a:prstGeom prst="rect">
            <a:avLst/>
          </a:prstGeom>
        </p:spPr>
      </p:pic>
      <p:pic>
        <p:nvPicPr>
          <p:cNvPr id="17" name="Image 5" descr="https://kimi-img.moonshot.cn/pub/slides/slides_tmpl/image/25-08-27-20:02:17-d2nf7i98bjvh7rlj06l0.png"/>
          <p:cNvPicPr>
            <a:picLocks noChangeAspect="1"/>
          </p:cNvPicPr>
          <p:nvPr/>
        </p:nvPicPr>
        <p:blipFill>
          <a:blip r:embed="rId4"/>
          <a:stretch>
            <a:fillRect/>
          </a:stretch>
        </p:blipFill>
        <p:spPr>
          <a:xfrm>
            <a:off x="4140989" y="4501616"/>
            <a:ext cx="1435100" cy="1447800"/>
          </a:xfrm>
          <a:prstGeom prst="rect">
            <a:avLst/>
          </a:prstGeom>
        </p:spPr>
      </p:pic>
      <p:sp>
        <p:nvSpPr>
          <p:cNvPr id="18" name="Text 10"/>
          <p:cNvSpPr/>
          <p:nvPr/>
        </p:nvSpPr>
        <p:spPr>
          <a:xfrm>
            <a:off x="542215" y="2826876"/>
            <a:ext cx="3569045" cy="125716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Inclined Planes and Tension</a:t>
            </a:r>
            <a:endParaRPr lang="en-US" sz="1600" dirty="0"/>
          </a:p>
        </p:txBody>
      </p:sp>
      <p:pic>
        <p:nvPicPr>
          <p:cNvPr id="19" name="Image 6" descr="https://kimi-img.moonshot.cn/pub/slides/slides_tmpl/image/25-08-27-20:02:06-d2nf7fh8bjvh7rlj060g.png"/>
          <p:cNvPicPr>
            <a:picLocks noChangeAspect="1"/>
          </p:cNvPicPr>
          <p:nvPr/>
        </p:nvPicPr>
        <p:blipFill>
          <a:blip r:embed="rId5"/>
          <a:stretch>
            <a:fillRect/>
          </a:stretch>
        </p:blipFill>
        <p:spPr>
          <a:xfrm>
            <a:off x="662882" y="2323945"/>
            <a:ext cx="1371600" cy="304800"/>
          </a:xfrm>
          <a:prstGeom prst="rect">
            <a:avLst/>
          </a:prstGeom>
        </p:spPr>
      </p:pic>
      <p:sp>
        <p:nvSpPr>
          <p:cNvPr id="20" name="Shape 11"/>
          <p:cNvSpPr/>
          <p:nvPr/>
        </p:nvSpPr>
        <p:spPr>
          <a:xfrm>
            <a:off x="4430532" y="1276424"/>
            <a:ext cx="665094" cy="460126"/>
          </a:xfrm>
          <a:prstGeom prst="rect">
            <a:avLst/>
          </a:prstGeom>
          <a:solidFill>
            <a:srgbClr val="000000">
              <a:alpha val="0"/>
            </a:srgbClr>
          </a:solidFill>
        </p:spPr>
      </p:sp>
      <p:sp>
        <p:nvSpPr>
          <p:cNvPr id="21" name="Text 12"/>
          <p:cNvSpPr/>
          <p:nvPr/>
        </p:nvSpPr>
        <p:spPr>
          <a:xfrm>
            <a:off x="4430532" y="1276424"/>
            <a:ext cx="665094" cy="460126"/>
          </a:xfrm>
          <a:prstGeom prst="rect">
            <a:avLst/>
          </a:prstGeom>
          <a:noFill/>
        </p:spPr>
        <p:txBody>
          <a:bodyPr wrap="square" lIns="0" tIns="0" rIns="0" bIns="0" rtlCol="0" anchor="t"/>
          <a:lstStyle/>
          <a:p>
            <a:pPr algn="ctr">
              <a:lnSpc>
                <a:spcPct val="110000"/>
              </a:lnSpc>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22" name="Text 13"/>
          <p:cNvSpPr/>
          <p:nvPr/>
        </p:nvSpPr>
        <p:spPr>
          <a:xfrm>
            <a:off x="5467550" y="1040364"/>
            <a:ext cx="5268832" cy="30698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Inclined Plane Force Decomposition</a:t>
            </a:r>
            <a:endParaRPr lang="en-US" sz="1600" dirty="0"/>
          </a:p>
        </p:txBody>
      </p:sp>
      <p:sp>
        <p:nvSpPr>
          <p:cNvPr id="23" name="Text 14"/>
          <p:cNvSpPr/>
          <p:nvPr/>
        </p:nvSpPr>
        <p:spPr>
          <a:xfrm>
            <a:off x="5376266" y="1440456"/>
            <a:ext cx="6513060" cy="1195784"/>
          </a:xfrm>
          <a:prstGeom prst="rect">
            <a:avLst/>
          </a:prstGeom>
          <a:noFill/>
        </p:spPr>
        <p:txBody>
          <a:bodyPr wrap="square" lIns="91440" tIns="45720" rIns="91440" bIns="45720" rtlCol="0" anchor="t"/>
          <a:lstStyle/>
          <a:p>
            <a:pPr>
              <a:lnSpc>
                <a:spcPct val="100000"/>
              </a:lnSpc>
            </a:pPr>
            <a:r>
              <a:rPr lang="en-US" sz="1200" dirty="0">
                <a:solidFill>
                  <a:srgbClr val="FFFFFF"/>
                </a:solidFill>
                <a:latin typeface="MiSans" pitchFamily="34" charset="-122"/>
                <a:ea typeface="MiSans" pitchFamily="34" charset="-122"/>
                <a:cs typeface="MiSans" pitchFamily="34" charset="-120"/>
              </a:rPr>
              <a:t>On ramps, gravity decomposes into parallel and perpendicular components. The parallel component F_parallel = mg sinθ accelerates objects down the incline, while the perpendicular component F_perpendicular = mg cosθ determines normal force. This decomposition transforms complex 2D problems into solvable 1D equations along and perpendicular to the surface.</a:t>
            </a:r>
            <a:endParaRPr lang="en-US" sz="1600" dirty="0"/>
          </a:p>
        </p:txBody>
      </p:sp>
      <p:sp>
        <p:nvSpPr>
          <p:cNvPr id="24" name="Shape 15"/>
          <p:cNvSpPr/>
          <p:nvPr/>
        </p:nvSpPr>
        <p:spPr>
          <a:xfrm>
            <a:off x="4983192" y="3093501"/>
            <a:ext cx="665094" cy="460126"/>
          </a:xfrm>
          <a:prstGeom prst="rect">
            <a:avLst/>
          </a:prstGeom>
          <a:solidFill>
            <a:srgbClr val="000000">
              <a:alpha val="0"/>
            </a:srgbClr>
          </a:solidFill>
        </p:spPr>
      </p:sp>
      <p:sp>
        <p:nvSpPr>
          <p:cNvPr id="25" name="Text 16"/>
          <p:cNvSpPr/>
          <p:nvPr/>
        </p:nvSpPr>
        <p:spPr>
          <a:xfrm>
            <a:off x="4983192" y="3093501"/>
            <a:ext cx="665094" cy="460126"/>
          </a:xfrm>
          <a:prstGeom prst="rect">
            <a:avLst/>
          </a:prstGeom>
          <a:noFill/>
        </p:spPr>
        <p:txBody>
          <a:bodyPr wrap="square" lIns="0" tIns="0" rIns="0" bIns="0" rtlCol="0" anchor="t"/>
          <a:lstStyle/>
          <a:p>
            <a:pPr algn="ctr">
              <a:lnSpc>
                <a:spcPct val="110000"/>
              </a:lnSpc>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6" name="Text 17"/>
          <p:cNvSpPr/>
          <p:nvPr/>
        </p:nvSpPr>
        <p:spPr>
          <a:xfrm>
            <a:off x="6018879" y="2855717"/>
            <a:ext cx="5268832" cy="30698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Atwood Machine Analysis</a:t>
            </a:r>
            <a:endParaRPr lang="en-US" sz="1600" dirty="0"/>
          </a:p>
        </p:txBody>
      </p:sp>
      <p:sp>
        <p:nvSpPr>
          <p:cNvPr id="27" name="Text 18"/>
          <p:cNvSpPr/>
          <p:nvPr/>
        </p:nvSpPr>
        <p:spPr>
          <a:xfrm>
            <a:off x="5927595" y="3250296"/>
            <a:ext cx="5828116" cy="1168956"/>
          </a:xfrm>
          <a:prstGeom prst="rect">
            <a:avLst/>
          </a:prstGeom>
          <a:noFill/>
        </p:spPr>
        <p:txBody>
          <a:bodyPr wrap="square" lIns="91440" tIns="45720" rIns="91440" bIns="45720" rtlCol="0" anchor="t">
            <a:spAutoFit/>
          </a:bodyPr>
          <a:lstStyle/>
          <a:p>
            <a:pPr>
              <a:lnSpc>
                <a:spcPct val="100000"/>
              </a:lnSpc>
            </a:pPr>
            <a:r>
              <a:rPr lang="en-US" sz="1200" dirty="0">
                <a:solidFill>
                  <a:srgbClr val="FFFFFF"/>
                </a:solidFill>
                <a:latin typeface="MiSans" pitchFamily="34" charset="-122"/>
                <a:ea typeface="MiSans" pitchFamily="34" charset="-122"/>
                <a:cs typeface="MiSans" pitchFamily="34" charset="-120"/>
              </a:rPr>
              <a:t>Pulley systems with two masses connected by a string create coupled motion. Writing F_net = ma for each mass yields simultaneous equations: T - m₁g = m₁a for the ascending mass and m₂g - T = m₂a for the descending mass. Eliminating tension T gives system acceleration a = (m₂ - m₁)g/(m₁ + m₂).</a:t>
            </a:r>
            <a:endParaRPr lang="en-US" sz="1600" dirty="0"/>
          </a:p>
        </p:txBody>
      </p:sp>
      <p:sp>
        <p:nvSpPr>
          <p:cNvPr id="28" name="Shape 19"/>
          <p:cNvSpPr/>
          <p:nvPr/>
        </p:nvSpPr>
        <p:spPr>
          <a:xfrm>
            <a:off x="4514269" y="4976089"/>
            <a:ext cx="665094" cy="460126"/>
          </a:xfrm>
          <a:prstGeom prst="rect">
            <a:avLst/>
          </a:prstGeom>
          <a:solidFill>
            <a:srgbClr val="000000">
              <a:alpha val="0"/>
            </a:srgbClr>
          </a:solidFill>
        </p:spPr>
      </p:sp>
      <p:sp>
        <p:nvSpPr>
          <p:cNvPr id="29" name="Text 20"/>
          <p:cNvSpPr/>
          <p:nvPr/>
        </p:nvSpPr>
        <p:spPr>
          <a:xfrm>
            <a:off x="4514269" y="4976089"/>
            <a:ext cx="665094" cy="460126"/>
          </a:xfrm>
          <a:prstGeom prst="rect">
            <a:avLst/>
          </a:prstGeom>
          <a:noFill/>
        </p:spPr>
        <p:txBody>
          <a:bodyPr wrap="square" lIns="0" tIns="0" rIns="0" bIns="0" rtlCol="0" anchor="t"/>
          <a:lstStyle/>
          <a:p>
            <a:pPr algn="ctr">
              <a:lnSpc>
                <a:spcPct val="110000"/>
              </a:lnSpc>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30" name="Text 21"/>
          <p:cNvSpPr/>
          <p:nvPr/>
        </p:nvSpPr>
        <p:spPr>
          <a:xfrm>
            <a:off x="5548232" y="4738305"/>
            <a:ext cx="5268832" cy="30698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Multi-Body System Strategies</a:t>
            </a:r>
            <a:endParaRPr lang="en-US" sz="1600" dirty="0"/>
          </a:p>
        </p:txBody>
      </p:sp>
      <p:sp>
        <p:nvSpPr>
          <p:cNvPr id="31" name="Text 22"/>
          <p:cNvSpPr/>
          <p:nvPr/>
        </p:nvSpPr>
        <p:spPr>
          <a:xfrm>
            <a:off x="5456948" y="5147444"/>
            <a:ext cx="6298763" cy="1443196"/>
          </a:xfrm>
          <a:prstGeom prst="rect">
            <a:avLst/>
          </a:prstGeom>
          <a:noFill/>
        </p:spPr>
        <p:txBody>
          <a:bodyPr wrap="square" lIns="91440" tIns="45720" rIns="91440" bIns="45720" rtlCol="0" anchor="t"/>
          <a:lstStyle/>
          <a:p>
            <a:pPr>
              <a:lnSpc>
                <a:spcPct val="100000"/>
              </a:lnSpc>
            </a:pPr>
            <a:r>
              <a:rPr lang="en-US" sz="1200" dirty="0">
                <a:solidFill>
                  <a:srgbClr val="FFFFFF"/>
                </a:solidFill>
                <a:latin typeface="MiSans" pitchFamily="34" charset="-122"/>
                <a:ea typeface="MiSans" pitchFamily="34" charset="-122"/>
                <a:cs typeface="MiSans" pitchFamily="34" charset="-120"/>
              </a:rPr>
              <a:t>For connected objects, treat the entire system to find acceleration using total mass and external forces, then isolate individual objects to find internal forces like tension. This two-step approach simplifies complex arrangements while ensuring force consistency throughout the system, applicable to stacked blocks, connected carts, and pulley arrangements.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1041" y="0"/>
            <a:ext cx="12192000" cy="6864626"/>
          </a:xfrm>
          <a:prstGeom prst="rect">
            <a:avLst/>
          </a:prstGeom>
        </p:spPr>
      </p:pic>
      <p:pic>
        <p:nvPicPr>
          <p:cNvPr id="3" name="Image 1" descr="https://kimi-img.moonshot.cn/pub/slides/slides_tmpl/image/25-08-27-20:02:16-d2nf7i18bjvh7rlj06i0.png"/>
          <p:cNvPicPr>
            <a:picLocks noChangeAspect="1"/>
          </p:cNvPicPr>
          <p:nvPr/>
        </p:nvPicPr>
        <p:blipFill>
          <a:blip r:embed="rId2"/>
          <a:stretch>
            <a:fillRect/>
          </a:stretch>
        </p:blipFill>
        <p:spPr>
          <a:xfrm>
            <a:off x="6327163" y="-38729"/>
            <a:ext cx="5985953" cy="7199142"/>
          </a:xfrm>
          <a:prstGeom prst="rect">
            <a:avLst/>
          </a:prstGeom>
        </p:spPr>
      </p:pic>
      <p:sp>
        <p:nvSpPr>
          <p:cNvPr id="4" name="Shape 0"/>
          <p:cNvSpPr/>
          <p:nvPr/>
        </p:nvSpPr>
        <p:spPr>
          <a:xfrm flipH="1">
            <a:off x="11314843" y="981848"/>
            <a:ext cx="77797" cy="72000"/>
          </a:xfrm>
          <a:prstGeom prst="ellipse">
            <a:avLst/>
          </a:prstGeom>
          <a:solidFill>
            <a:srgbClr val="FFFFFF"/>
          </a:solidFill>
        </p:spPr>
      </p:sp>
      <p:sp>
        <p:nvSpPr>
          <p:cNvPr id="5" name="Shape 1"/>
          <p:cNvSpPr/>
          <p:nvPr/>
        </p:nvSpPr>
        <p:spPr>
          <a:xfrm flipH="1">
            <a:off x="11186668" y="981848"/>
            <a:ext cx="77797" cy="72000"/>
          </a:xfrm>
          <a:prstGeom prst="ellipse">
            <a:avLst/>
          </a:prstGeom>
          <a:solidFill>
            <a:srgbClr val="FFFFFF">
              <a:alpha val="56471"/>
            </a:srgbClr>
          </a:solidFill>
        </p:spPr>
      </p:sp>
      <p:sp>
        <p:nvSpPr>
          <p:cNvPr id="6" name="Shape 2"/>
          <p:cNvSpPr/>
          <p:nvPr/>
        </p:nvSpPr>
        <p:spPr>
          <a:xfrm flipH="1">
            <a:off x="11055654" y="981848"/>
            <a:ext cx="77797" cy="72000"/>
          </a:xfrm>
          <a:prstGeom prst="ellipse">
            <a:avLst/>
          </a:prstGeom>
          <a:solidFill>
            <a:srgbClr val="FFFFFF"/>
          </a:solidFill>
        </p:spPr>
      </p:sp>
      <p:sp>
        <p:nvSpPr>
          <p:cNvPr id="7" name="Shape 3"/>
          <p:cNvSpPr/>
          <p:nvPr/>
        </p:nvSpPr>
        <p:spPr>
          <a:xfrm flipH="1">
            <a:off x="10924640" y="981848"/>
            <a:ext cx="77797" cy="72000"/>
          </a:xfrm>
          <a:prstGeom prst="ellipse">
            <a:avLst/>
          </a:prstGeom>
          <a:solidFill>
            <a:srgbClr val="FFFFFF">
              <a:alpha val="56471"/>
            </a:srgbClr>
          </a:solidFill>
        </p:spPr>
      </p:sp>
      <p:sp>
        <p:nvSpPr>
          <p:cNvPr id="8" name="Shape 4"/>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pic>
        <p:nvPicPr>
          <p:cNvPr id="9" name="Image 2" descr="https://kimi-img.moonshot.cn/pub/slides/slides_tmpl/image/25-08-27-20:02:15-d2nf7hp8bjvh7rlj06d0.png"/>
          <p:cNvPicPr>
            <a:picLocks noChangeAspect="1"/>
          </p:cNvPicPr>
          <p:nvPr/>
        </p:nvPicPr>
        <p:blipFill>
          <a:blip r:embed="rId3"/>
          <a:stretch>
            <a:fillRect/>
          </a:stretch>
        </p:blipFill>
        <p:spPr>
          <a:xfrm>
            <a:off x="364778" y="2109792"/>
            <a:ext cx="1219200" cy="1219200"/>
          </a:xfrm>
          <a:prstGeom prst="rect">
            <a:avLst/>
          </a:prstGeom>
        </p:spPr>
      </p:pic>
      <p:pic>
        <p:nvPicPr>
          <p:cNvPr id="10" name="Image 3" descr="https://kimi-img.moonshot.cn/pub/slides/slides_tmpl/image/25-08-27-20:02:15-d2nf7hp8bjvh7rlj06d0.png"/>
          <p:cNvPicPr>
            <a:picLocks noChangeAspect="1"/>
          </p:cNvPicPr>
          <p:nvPr/>
        </p:nvPicPr>
        <p:blipFill>
          <a:blip r:embed="rId3"/>
          <a:stretch>
            <a:fillRect/>
          </a:stretch>
        </p:blipFill>
        <p:spPr>
          <a:xfrm>
            <a:off x="4461290" y="2109792"/>
            <a:ext cx="1219200" cy="1219200"/>
          </a:xfrm>
          <a:prstGeom prst="rect">
            <a:avLst/>
          </a:prstGeom>
        </p:spPr>
      </p:pic>
      <p:sp>
        <p:nvSpPr>
          <p:cNvPr id="11" name="Shape 5"/>
          <p:cNvSpPr/>
          <p:nvPr/>
        </p:nvSpPr>
        <p:spPr>
          <a:xfrm>
            <a:off x="779721" y="6270738"/>
            <a:ext cx="0" cy="125950"/>
          </a:xfrm>
          <a:prstGeom prst="line">
            <a:avLst/>
          </a:prstGeom>
          <a:noFill/>
          <a:ln w="12700">
            <a:solidFill>
              <a:srgbClr val="FFFFFF"/>
            </a:solidFill>
            <a:prstDash val="solid"/>
            <a:headEnd type="none"/>
            <a:tailEnd type="none"/>
          </a:ln>
        </p:spPr>
      </p:sp>
      <p:sp>
        <p:nvSpPr>
          <p:cNvPr id="12" name="Shape 6"/>
          <p:cNvSpPr/>
          <p:nvPr/>
        </p:nvSpPr>
        <p:spPr>
          <a:xfrm>
            <a:off x="867722" y="6270738"/>
            <a:ext cx="0" cy="125950"/>
          </a:xfrm>
          <a:prstGeom prst="line">
            <a:avLst/>
          </a:prstGeom>
          <a:noFill/>
          <a:ln w="12700">
            <a:solidFill>
              <a:srgbClr val="FFFFFF"/>
            </a:solidFill>
            <a:prstDash val="solid"/>
            <a:headEnd type="none"/>
            <a:tailEnd type="none"/>
          </a:ln>
        </p:spPr>
      </p:sp>
      <p:sp>
        <p:nvSpPr>
          <p:cNvPr id="13" name="Shape 7"/>
          <p:cNvSpPr/>
          <p:nvPr/>
        </p:nvSpPr>
        <p:spPr>
          <a:xfrm>
            <a:off x="955722" y="6166356"/>
            <a:ext cx="0" cy="220414"/>
          </a:xfrm>
          <a:prstGeom prst="line">
            <a:avLst/>
          </a:prstGeom>
          <a:noFill/>
          <a:ln w="12700">
            <a:solidFill>
              <a:srgbClr val="FFFFFF"/>
            </a:solidFill>
            <a:prstDash val="solid"/>
            <a:headEnd type="none"/>
            <a:tailEnd type="none"/>
          </a:ln>
        </p:spPr>
      </p:sp>
      <p:sp>
        <p:nvSpPr>
          <p:cNvPr id="14" name="Shape 8"/>
          <p:cNvSpPr/>
          <p:nvPr/>
        </p:nvSpPr>
        <p:spPr>
          <a:xfrm>
            <a:off x="1043723" y="6270738"/>
            <a:ext cx="0" cy="125950"/>
          </a:xfrm>
          <a:prstGeom prst="line">
            <a:avLst/>
          </a:prstGeom>
          <a:noFill/>
          <a:ln w="12700">
            <a:solidFill>
              <a:srgbClr val="FFFFFF"/>
            </a:solidFill>
            <a:prstDash val="solid"/>
            <a:headEnd type="none"/>
            <a:tailEnd type="none"/>
          </a:ln>
        </p:spPr>
      </p:sp>
      <p:sp>
        <p:nvSpPr>
          <p:cNvPr id="15" name="Shape 9"/>
          <p:cNvSpPr/>
          <p:nvPr/>
        </p:nvSpPr>
        <p:spPr>
          <a:xfrm>
            <a:off x="1131723" y="6270738"/>
            <a:ext cx="0" cy="125950"/>
          </a:xfrm>
          <a:prstGeom prst="line">
            <a:avLst/>
          </a:prstGeom>
          <a:noFill/>
          <a:ln w="12700">
            <a:solidFill>
              <a:srgbClr val="FFFFFF"/>
            </a:solidFill>
            <a:prstDash val="solid"/>
            <a:headEnd type="none"/>
            <a:tailEnd type="none"/>
          </a:ln>
        </p:spPr>
      </p:sp>
      <p:sp>
        <p:nvSpPr>
          <p:cNvPr id="16" name="Text 10"/>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Circular Motion Dynamics</a:t>
            </a:r>
            <a:endParaRPr lang="en-US" sz="1600" dirty="0"/>
          </a:p>
        </p:txBody>
      </p:sp>
      <p:pic>
        <p:nvPicPr>
          <p:cNvPr id="17" name="Image 4"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8" name="Shape 11"/>
          <p:cNvSpPr/>
          <p:nvPr/>
        </p:nvSpPr>
        <p:spPr>
          <a:xfrm>
            <a:off x="641831" y="2543535"/>
            <a:ext cx="665094" cy="295787"/>
          </a:xfrm>
          <a:prstGeom prst="rect">
            <a:avLst/>
          </a:prstGeom>
          <a:solidFill>
            <a:srgbClr val="000000">
              <a:alpha val="0"/>
            </a:srgbClr>
          </a:solidFill>
        </p:spPr>
      </p:sp>
      <p:sp>
        <p:nvSpPr>
          <p:cNvPr id="19" name="Text 12"/>
          <p:cNvSpPr/>
          <p:nvPr/>
        </p:nvSpPr>
        <p:spPr>
          <a:xfrm>
            <a:off x="641831" y="2543535"/>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20" name="Text 13"/>
          <p:cNvSpPr/>
          <p:nvPr/>
        </p:nvSpPr>
        <p:spPr>
          <a:xfrm>
            <a:off x="652396" y="3216481"/>
            <a:ext cx="4053511"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Centripetal Acceleration and Force</a:t>
            </a:r>
            <a:endParaRPr lang="en-US" sz="1600" dirty="0"/>
          </a:p>
        </p:txBody>
      </p:sp>
      <p:sp>
        <p:nvSpPr>
          <p:cNvPr id="21" name="Text 14"/>
          <p:cNvSpPr/>
          <p:nvPr/>
        </p:nvSpPr>
        <p:spPr>
          <a:xfrm>
            <a:off x="577383" y="3663293"/>
            <a:ext cx="3627449" cy="277768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Objects in circular motion experience centripetal acceleration a_c = v²/r = ω²r directed toward the circle's center. This acceleration requires centripetal force F_c = mv²/r, provided by tension, friction, normal force, or gravity depending on the situation. The term 'centripetal' describes direction toward center, not a new force type—identifying the actual force source is crucial.</a:t>
            </a:r>
            <a:endParaRPr lang="en-US" sz="1600" dirty="0"/>
          </a:p>
        </p:txBody>
      </p:sp>
      <p:sp>
        <p:nvSpPr>
          <p:cNvPr id="22" name="Shape 15"/>
          <p:cNvSpPr/>
          <p:nvPr/>
        </p:nvSpPr>
        <p:spPr>
          <a:xfrm>
            <a:off x="4738343" y="2543535"/>
            <a:ext cx="665094" cy="295787"/>
          </a:xfrm>
          <a:prstGeom prst="rect">
            <a:avLst/>
          </a:prstGeom>
          <a:solidFill>
            <a:srgbClr val="000000">
              <a:alpha val="0"/>
            </a:srgbClr>
          </a:solidFill>
        </p:spPr>
      </p:sp>
      <p:sp>
        <p:nvSpPr>
          <p:cNvPr id="23" name="Text 16"/>
          <p:cNvSpPr/>
          <p:nvPr/>
        </p:nvSpPr>
        <p:spPr>
          <a:xfrm>
            <a:off x="4738343" y="2543535"/>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4" name="Text 17"/>
          <p:cNvSpPr/>
          <p:nvPr/>
        </p:nvSpPr>
        <p:spPr>
          <a:xfrm>
            <a:off x="5680490" y="2425605"/>
            <a:ext cx="4056104"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Vertical Circular Motion Variations</a:t>
            </a:r>
            <a:endParaRPr lang="en-US" sz="1600" dirty="0"/>
          </a:p>
        </p:txBody>
      </p:sp>
      <p:sp>
        <p:nvSpPr>
          <p:cNvPr id="25" name="Text 18"/>
          <p:cNvSpPr/>
          <p:nvPr/>
        </p:nvSpPr>
        <p:spPr>
          <a:xfrm>
            <a:off x="4705907" y="3282074"/>
            <a:ext cx="3586780" cy="277768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In vertical circles, normal force varies with position. At the bottom, normal force exceeds weight (N = mg + mv²/r), creating the 'heavy' feeling. At the top, minimum speed requires mg = mv²/r to maintain contact. Roller coasters, bucket swings, and loop-the-loop problems apply these principles, with critical speed determining whether objects complete the loop or fall.</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3426"/>
            <a:ext cx="12191999" cy="6864626"/>
          </a:xfrm>
          <a:prstGeom prst="rect">
            <a:avLst/>
          </a:prstGeom>
        </p:spPr>
      </p:pic>
      <p:sp>
        <p:nvSpPr>
          <p:cNvPr id="3" name="Text 0"/>
          <p:cNvSpPr/>
          <p:nvPr/>
        </p:nvSpPr>
        <p:spPr>
          <a:xfrm>
            <a:off x="4119359" y="3709831"/>
            <a:ext cx="3832016" cy="489347"/>
          </a:xfrm>
          <a:prstGeom prst="rect">
            <a:avLst/>
          </a:prstGeom>
          <a:noFill/>
        </p:spPr>
        <p:txBody>
          <a:bodyPr wrap="square" lIns="0" tIns="0" rIns="0" bIns="0" rtlCol="0" anchor="t">
            <a:spAutoFit/>
          </a:bodyPr>
          <a:lstStyle/>
          <a:p>
            <a:pPr algn="ctr">
              <a:lnSpc>
                <a:spcPct val="100000"/>
              </a:lnSpc>
            </a:pPr>
            <a:r>
              <a:rPr lang="en-US" sz="3200" dirty="0">
                <a:solidFill>
                  <a:srgbClr val="FFFFFF"/>
                </a:solidFill>
                <a:latin typeface="MiSans" pitchFamily="34" charset="-122"/>
                <a:ea typeface="MiSans" pitchFamily="34" charset="-122"/>
                <a:cs typeface="MiSans" pitchFamily="34" charset="-120"/>
              </a:rPr>
              <a:t>Energy and Work</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9" name="Shape 6"/>
          <p:cNvSpPr/>
          <p:nvPr/>
        </p:nvSpPr>
        <p:spPr>
          <a:xfrm>
            <a:off x="10796832" y="6396446"/>
            <a:ext cx="116844" cy="116844"/>
          </a:xfrm>
          <a:prstGeom prst="ellipse">
            <a:avLst/>
          </a:prstGeom>
          <a:solidFill>
            <a:srgbClr val="FFFFFF"/>
          </a:solidFill>
        </p:spPr>
      </p:sp>
      <p:sp>
        <p:nvSpPr>
          <p:cNvPr id="10" name="Shape 7"/>
          <p:cNvSpPr/>
          <p:nvPr/>
        </p:nvSpPr>
        <p:spPr>
          <a:xfrm>
            <a:off x="10989337" y="6396446"/>
            <a:ext cx="116844" cy="116844"/>
          </a:xfrm>
          <a:prstGeom prst="ellipse">
            <a:avLst/>
          </a:prstGeom>
          <a:solidFill>
            <a:srgbClr val="FFFFFF">
              <a:alpha val="56471"/>
            </a:srgbClr>
          </a:solidFill>
        </p:spPr>
      </p:sp>
      <p:sp>
        <p:nvSpPr>
          <p:cNvPr id="11" name="Shape 8"/>
          <p:cNvSpPr/>
          <p:nvPr/>
        </p:nvSpPr>
        <p:spPr>
          <a:xfrm>
            <a:off x="11186107" y="6396446"/>
            <a:ext cx="116844" cy="116844"/>
          </a:xfrm>
          <a:prstGeom prst="ellipse">
            <a:avLst/>
          </a:prstGeom>
          <a:solidFill>
            <a:srgbClr val="FFFFFF"/>
          </a:solidFill>
        </p:spPr>
      </p:sp>
      <p:sp>
        <p:nvSpPr>
          <p:cNvPr id="12" name="Shape 9"/>
          <p:cNvSpPr/>
          <p:nvPr/>
        </p:nvSpPr>
        <p:spPr>
          <a:xfrm>
            <a:off x="11382877" y="6396446"/>
            <a:ext cx="116844" cy="116844"/>
          </a:xfrm>
          <a:prstGeom prst="ellipse">
            <a:avLst/>
          </a:prstGeom>
          <a:solidFill>
            <a:srgbClr val="FFFFFF">
              <a:alpha val="56471"/>
            </a:srgbClr>
          </a:solidFill>
        </p:spPr>
      </p:sp>
      <p:pic>
        <p:nvPicPr>
          <p:cNvPr id="13" name="Image 1" descr="https://kimi-img.moonshot.cn/pub/slides/slides_tmpl/image/25-08-27-20:02:06-d2nf7fh8bjvh7rlj0600.png"/>
          <p:cNvPicPr>
            <a:picLocks noChangeAspect="1"/>
          </p:cNvPicPr>
          <p:nvPr/>
        </p:nvPicPr>
        <p:blipFill>
          <a:blip r:embed="rId2"/>
          <a:stretch>
            <a:fillRect/>
          </a:stretch>
        </p:blipFill>
        <p:spPr>
          <a:xfrm>
            <a:off x="4267199" y="3446152"/>
            <a:ext cx="3657600" cy="12700"/>
          </a:xfrm>
          <a:prstGeom prst="rect">
            <a:avLst/>
          </a:prstGeom>
        </p:spPr>
      </p:pic>
      <p:sp>
        <p:nvSpPr>
          <p:cNvPr id="14" name="Shape 10"/>
          <p:cNvSpPr/>
          <p:nvPr/>
        </p:nvSpPr>
        <p:spPr>
          <a:xfrm>
            <a:off x="4893310" y="1477010"/>
            <a:ext cx="2284095" cy="2335530"/>
          </a:xfrm>
          <a:prstGeom prst="rect">
            <a:avLst/>
          </a:prstGeom>
          <a:solidFill>
            <a:srgbClr val="000000">
              <a:alpha val="0"/>
            </a:srgbClr>
          </a:solidFill>
        </p:spPr>
      </p:sp>
      <p:sp>
        <p:nvSpPr>
          <p:cNvPr id="15" name="Text 11"/>
          <p:cNvSpPr/>
          <p:nvPr/>
        </p:nvSpPr>
        <p:spPr>
          <a:xfrm>
            <a:off x="4893310" y="1477010"/>
            <a:ext cx="2284095" cy="2335530"/>
          </a:xfrm>
          <a:prstGeom prst="rect">
            <a:avLst/>
          </a:prstGeom>
          <a:noFill/>
        </p:spPr>
        <p:txBody>
          <a:bodyPr wrap="square" lIns="0" tIns="0" rIns="0" bIns="0" rtlCol="0" anchor="t"/>
          <a:lstStyle/>
          <a:p>
            <a:pPr>
              <a:lnSpc>
                <a:spcPct val="110000"/>
              </a:lnSpc>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03</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3178" y="-1"/>
            <a:ext cx="12195178" cy="6866415"/>
          </a:xfrm>
          <a:prstGeom prst="rect">
            <a:avLst/>
          </a:prstGeom>
        </p:spPr>
      </p:pic>
      <p:sp>
        <p:nvSpPr>
          <p:cNvPr id="3" name="Shape 0"/>
          <p:cNvSpPr/>
          <p:nvPr/>
        </p:nvSpPr>
        <p:spPr>
          <a:xfrm flipH="1">
            <a:off x="11314843" y="981848"/>
            <a:ext cx="77797" cy="72000"/>
          </a:xfrm>
          <a:prstGeom prst="ellipse">
            <a:avLst/>
          </a:prstGeom>
          <a:solidFill>
            <a:srgbClr val="FFFFFF"/>
          </a:solidFill>
        </p:spPr>
      </p:sp>
      <p:sp>
        <p:nvSpPr>
          <p:cNvPr id="4" name="Shape 1"/>
          <p:cNvSpPr/>
          <p:nvPr/>
        </p:nvSpPr>
        <p:spPr>
          <a:xfrm flipH="1">
            <a:off x="11186668" y="981848"/>
            <a:ext cx="77797" cy="72000"/>
          </a:xfrm>
          <a:prstGeom prst="ellipse">
            <a:avLst/>
          </a:prstGeom>
          <a:solidFill>
            <a:srgbClr val="FFFFFF">
              <a:alpha val="56471"/>
            </a:srgbClr>
          </a:solidFill>
        </p:spPr>
      </p:sp>
      <p:sp>
        <p:nvSpPr>
          <p:cNvPr id="5" name="Shape 2"/>
          <p:cNvSpPr/>
          <p:nvPr/>
        </p:nvSpPr>
        <p:spPr>
          <a:xfrm flipH="1">
            <a:off x="11055654" y="981848"/>
            <a:ext cx="77797" cy="72000"/>
          </a:xfrm>
          <a:prstGeom prst="ellipse">
            <a:avLst/>
          </a:prstGeom>
          <a:solidFill>
            <a:srgbClr val="FFFFFF"/>
          </a:solidFill>
        </p:spPr>
      </p:sp>
      <p:sp>
        <p:nvSpPr>
          <p:cNvPr id="6" name="Shape 3"/>
          <p:cNvSpPr/>
          <p:nvPr/>
        </p:nvSpPr>
        <p:spPr>
          <a:xfrm flipH="1">
            <a:off x="10924640" y="981848"/>
            <a:ext cx="77797" cy="72000"/>
          </a:xfrm>
          <a:prstGeom prst="ellipse">
            <a:avLst/>
          </a:prstGeom>
          <a:solidFill>
            <a:srgbClr val="FFFFFF">
              <a:alpha val="56471"/>
            </a:srgbClr>
          </a:solidFill>
        </p:spPr>
      </p:sp>
      <p:sp>
        <p:nvSpPr>
          <p:cNvPr id="7" name="Shape 4"/>
          <p:cNvSpPr/>
          <p:nvPr/>
        </p:nvSpPr>
        <p:spPr>
          <a:xfrm>
            <a:off x="655955" y="1817370"/>
            <a:ext cx="3330575" cy="4055745"/>
          </a:xfrm>
          <a:prstGeom prst="rect">
            <a:avLst/>
          </a:prstGeom>
          <a:solidFill>
            <a:srgbClr val="FFFFFF">
              <a:alpha val="8235"/>
            </a:srgbClr>
          </a:solidFill>
        </p:spPr>
      </p:sp>
      <p:pic>
        <p:nvPicPr>
          <p:cNvPr id="8" name="Image 1" descr="https://kimi-img.moonshot.cn/pub/slides/slides_tmpl/image/25-08-27-20:02:16-d2nf7i18bjvh7rlj06ig.png"/>
          <p:cNvPicPr>
            <a:picLocks noChangeAspect="1"/>
          </p:cNvPicPr>
          <p:nvPr/>
        </p:nvPicPr>
        <p:blipFill>
          <a:blip r:embed="rId2"/>
          <a:stretch>
            <a:fillRect/>
          </a:stretch>
        </p:blipFill>
        <p:spPr>
          <a:xfrm>
            <a:off x="421988" y="5592002"/>
            <a:ext cx="11036320" cy="1264578"/>
          </a:xfrm>
          <a:prstGeom prst="rect">
            <a:avLst/>
          </a:prstGeom>
        </p:spPr>
      </p:pic>
      <p:sp>
        <p:nvSpPr>
          <p:cNvPr id="9" name="Shape 5"/>
          <p:cNvSpPr/>
          <p:nvPr/>
        </p:nvSpPr>
        <p:spPr>
          <a:xfrm>
            <a:off x="4331970" y="1817370"/>
            <a:ext cx="3330575" cy="4055745"/>
          </a:xfrm>
          <a:prstGeom prst="rect">
            <a:avLst/>
          </a:prstGeom>
          <a:solidFill>
            <a:srgbClr val="FFFFFF">
              <a:alpha val="8235"/>
            </a:srgbClr>
          </a:solidFill>
        </p:spPr>
      </p:sp>
      <p:sp>
        <p:nvSpPr>
          <p:cNvPr id="10" name="Shape 6"/>
          <p:cNvSpPr/>
          <p:nvPr/>
        </p:nvSpPr>
        <p:spPr>
          <a:xfrm>
            <a:off x="8007985" y="1817370"/>
            <a:ext cx="3330575" cy="4055745"/>
          </a:xfrm>
          <a:prstGeom prst="rect">
            <a:avLst/>
          </a:prstGeom>
          <a:solidFill>
            <a:srgbClr val="FFFFFF">
              <a:alpha val="8235"/>
            </a:srgbClr>
          </a:solidFill>
        </p:spPr>
      </p:sp>
      <p:sp>
        <p:nvSpPr>
          <p:cNvPr id="11" name="Text 7"/>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Work and Power Calculations</a:t>
            </a:r>
            <a:endParaRPr lang="en-US" sz="1600" dirty="0"/>
          </a:p>
        </p:txBody>
      </p:sp>
      <p:pic>
        <p:nvPicPr>
          <p:cNvPr id="12" name="Image 2" descr="https://kimi-img.moonshot.cn/pub/slides/slides_tmpl/image/25-08-27-20:02:06-d2nf7fh8bjvh7rlj060g.png"/>
          <p:cNvPicPr>
            <a:picLocks noChangeAspect="1"/>
          </p:cNvPicPr>
          <p:nvPr/>
        </p:nvPicPr>
        <p:blipFill>
          <a:blip r:embed="rId3"/>
          <a:stretch>
            <a:fillRect/>
          </a:stretch>
        </p:blipFill>
        <p:spPr>
          <a:xfrm>
            <a:off x="662882" y="495145"/>
            <a:ext cx="1371600" cy="304800"/>
          </a:xfrm>
          <a:prstGeom prst="rect">
            <a:avLst/>
          </a:prstGeom>
        </p:spPr>
      </p:pic>
      <p:sp>
        <p:nvSpPr>
          <p:cNvPr id="13" name="Shape 8"/>
          <p:cNvSpPr/>
          <p:nvPr/>
        </p:nvSpPr>
        <p:spPr>
          <a:xfrm>
            <a:off x="1539437" y="1898138"/>
            <a:ext cx="1473726" cy="525850"/>
          </a:xfrm>
          <a:prstGeom prst="rect">
            <a:avLst/>
          </a:prstGeom>
          <a:solidFill>
            <a:srgbClr val="000000">
              <a:alpha val="0"/>
            </a:srgbClr>
          </a:solidFill>
        </p:spPr>
      </p:sp>
      <p:sp>
        <p:nvSpPr>
          <p:cNvPr id="14" name="Text 9"/>
          <p:cNvSpPr/>
          <p:nvPr/>
        </p:nvSpPr>
        <p:spPr>
          <a:xfrm>
            <a:off x="1539437" y="1898138"/>
            <a:ext cx="1473726" cy="525850"/>
          </a:xfrm>
          <a:prstGeom prst="rect">
            <a:avLst/>
          </a:prstGeom>
          <a:noFill/>
        </p:spPr>
        <p:txBody>
          <a:bodyPr wrap="square" lIns="0" tIns="0" rIns="0" bIns="0" rtlCol="0" anchor="t"/>
          <a:lstStyle/>
          <a:p>
            <a:pPr algn="ctr">
              <a:lnSpc>
                <a:spcPct val="110000"/>
              </a:lnSpc>
            </a:pPr>
            <a:r>
              <a:rPr lang="en-US" sz="3200" dirty="0">
                <a:solidFill>
                  <a:srgbClr val="FFFFFF"/>
                </a:solidFill>
                <a:latin typeface="MiSans" pitchFamily="34" charset="-122"/>
                <a:ea typeface="MiSans" pitchFamily="34" charset="-122"/>
                <a:cs typeface="MiSans" pitchFamily="34" charset="-120"/>
              </a:rPr>
              <a:t>01</a:t>
            </a:r>
            <a:endParaRPr lang="en-US" sz="1600" dirty="0"/>
          </a:p>
        </p:txBody>
      </p:sp>
      <p:sp>
        <p:nvSpPr>
          <p:cNvPr id="15" name="Text 10"/>
          <p:cNvSpPr/>
          <p:nvPr/>
        </p:nvSpPr>
        <p:spPr>
          <a:xfrm>
            <a:off x="957274" y="2518829"/>
            <a:ext cx="2746185" cy="53598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Work Definition: W = Fd cosθ</a:t>
            </a:r>
            <a:endParaRPr lang="en-US" sz="1600" dirty="0"/>
          </a:p>
        </p:txBody>
      </p:sp>
      <p:sp>
        <p:nvSpPr>
          <p:cNvPr id="16" name="Text 11"/>
          <p:cNvSpPr/>
          <p:nvPr/>
        </p:nvSpPr>
        <p:spPr>
          <a:xfrm>
            <a:off x="801687" y="3081037"/>
            <a:ext cx="3057361" cy="277768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Work requires force component in the displacement direction. When force and displacement align (θ = 0°), maximum work occurs. Perpendicular forces (θ = 90°) do zero work. Opposing forces (θ = 180°) do negative work, removing energy from systems. This scalar quantity transfers energy between objects and fields, measured in joules.</a:t>
            </a:r>
            <a:endParaRPr lang="en-US" sz="1600" dirty="0"/>
          </a:p>
        </p:txBody>
      </p:sp>
      <p:sp>
        <p:nvSpPr>
          <p:cNvPr id="17" name="Shape 12"/>
          <p:cNvSpPr/>
          <p:nvPr/>
        </p:nvSpPr>
        <p:spPr>
          <a:xfrm>
            <a:off x="5468380" y="1898138"/>
            <a:ext cx="997955" cy="525850"/>
          </a:xfrm>
          <a:prstGeom prst="rect">
            <a:avLst/>
          </a:prstGeom>
          <a:solidFill>
            <a:srgbClr val="000000">
              <a:alpha val="0"/>
            </a:srgbClr>
          </a:solidFill>
        </p:spPr>
      </p:sp>
      <p:sp>
        <p:nvSpPr>
          <p:cNvPr id="18" name="Text 13"/>
          <p:cNvSpPr/>
          <p:nvPr/>
        </p:nvSpPr>
        <p:spPr>
          <a:xfrm>
            <a:off x="5468380" y="1898138"/>
            <a:ext cx="997955" cy="525850"/>
          </a:xfrm>
          <a:prstGeom prst="rect">
            <a:avLst/>
          </a:prstGeom>
          <a:noFill/>
        </p:spPr>
        <p:txBody>
          <a:bodyPr wrap="square" lIns="0" tIns="0" rIns="0" bIns="0" rtlCol="0" anchor="t"/>
          <a:lstStyle/>
          <a:p>
            <a:pPr algn="ctr">
              <a:lnSpc>
                <a:spcPct val="110000"/>
              </a:lnSpc>
            </a:pPr>
            <a:r>
              <a:rPr lang="en-US" sz="3200" dirty="0">
                <a:solidFill>
                  <a:srgbClr val="FFFFFF"/>
                </a:solidFill>
                <a:latin typeface="MiSans" pitchFamily="34" charset="-122"/>
                <a:ea typeface="MiSans" pitchFamily="34" charset="-122"/>
                <a:cs typeface="MiSans" pitchFamily="34" charset="-120"/>
              </a:rPr>
              <a:t>02</a:t>
            </a:r>
            <a:endParaRPr lang="en-US" sz="1600" dirty="0"/>
          </a:p>
        </p:txBody>
      </p:sp>
      <p:sp>
        <p:nvSpPr>
          <p:cNvPr id="19" name="Text 14"/>
          <p:cNvSpPr/>
          <p:nvPr/>
        </p:nvSpPr>
        <p:spPr>
          <a:xfrm>
            <a:off x="4633162" y="2518829"/>
            <a:ext cx="2746185" cy="53598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Power as Work Rate: P = W/t = Fv</a:t>
            </a:r>
            <a:endParaRPr lang="en-US" sz="1600" dirty="0"/>
          </a:p>
        </p:txBody>
      </p:sp>
      <p:sp>
        <p:nvSpPr>
          <p:cNvPr id="20" name="Text 15"/>
          <p:cNvSpPr/>
          <p:nvPr/>
        </p:nvSpPr>
        <p:spPr>
          <a:xfrm>
            <a:off x="4477575" y="3081037"/>
            <a:ext cx="3057361" cy="307613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Power measures how quickly work is performed, with units of watts (joules per second). The alternative form P = Fv applies when force acts at constant velocity, explaining why vehicles require more power to maintain high speeds against air resistance. Understanding power helps analyze engine performance, human exertion limits, and energy consumption rates.</a:t>
            </a:r>
            <a:endParaRPr lang="en-US" sz="1600" dirty="0"/>
          </a:p>
        </p:txBody>
      </p:sp>
      <p:sp>
        <p:nvSpPr>
          <p:cNvPr id="21" name="Shape 16"/>
          <p:cNvSpPr/>
          <p:nvPr/>
        </p:nvSpPr>
        <p:spPr>
          <a:xfrm>
            <a:off x="9144268" y="1898138"/>
            <a:ext cx="831960" cy="525850"/>
          </a:xfrm>
          <a:prstGeom prst="rect">
            <a:avLst/>
          </a:prstGeom>
          <a:solidFill>
            <a:srgbClr val="000000">
              <a:alpha val="0"/>
            </a:srgbClr>
          </a:solidFill>
        </p:spPr>
      </p:sp>
      <p:sp>
        <p:nvSpPr>
          <p:cNvPr id="22" name="Text 17"/>
          <p:cNvSpPr/>
          <p:nvPr/>
        </p:nvSpPr>
        <p:spPr>
          <a:xfrm>
            <a:off x="9144268" y="1898138"/>
            <a:ext cx="831960" cy="525850"/>
          </a:xfrm>
          <a:prstGeom prst="rect">
            <a:avLst/>
          </a:prstGeom>
          <a:noFill/>
        </p:spPr>
        <p:txBody>
          <a:bodyPr wrap="square" lIns="0" tIns="0" rIns="0" bIns="0" rtlCol="0" anchor="t"/>
          <a:lstStyle/>
          <a:p>
            <a:pPr algn="ctr">
              <a:lnSpc>
                <a:spcPct val="110000"/>
              </a:lnSpc>
            </a:pPr>
            <a:r>
              <a:rPr lang="en-US" sz="3200" dirty="0">
                <a:solidFill>
                  <a:srgbClr val="FFFFFF"/>
                </a:solidFill>
                <a:latin typeface="MiSans" pitchFamily="34" charset="-122"/>
                <a:ea typeface="MiSans" pitchFamily="34" charset="-122"/>
                <a:cs typeface="MiSans" pitchFamily="34" charset="-120"/>
              </a:rPr>
              <a:t>03</a:t>
            </a:r>
            <a:endParaRPr lang="en-US" sz="1600" dirty="0"/>
          </a:p>
        </p:txBody>
      </p:sp>
      <p:sp>
        <p:nvSpPr>
          <p:cNvPr id="23" name="Text 18"/>
          <p:cNvSpPr/>
          <p:nvPr/>
        </p:nvSpPr>
        <p:spPr>
          <a:xfrm>
            <a:off x="8309050" y="2518829"/>
            <a:ext cx="2746185" cy="535980"/>
          </a:xfrm>
          <a:prstGeom prst="rect">
            <a:avLst/>
          </a:prstGeom>
          <a:noFill/>
        </p:spPr>
        <p:txBody>
          <a:bodyPr wrap="square" lIns="0" tIns="0" rIns="0" bIns="0" rtlCol="0" anchor="t">
            <a:spAutoFit/>
          </a:bodyPr>
          <a:lstStyle/>
          <a:p>
            <a:pPr algn="ct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Work-Energy Theorem: W_net = ΔK</a:t>
            </a:r>
            <a:endParaRPr lang="en-US" sz="1600" dirty="0"/>
          </a:p>
        </p:txBody>
      </p:sp>
      <p:sp>
        <p:nvSpPr>
          <p:cNvPr id="24" name="Text 19"/>
          <p:cNvSpPr/>
          <p:nvPr/>
        </p:nvSpPr>
        <p:spPr>
          <a:xfrm>
            <a:off x="8153463" y="3081037"/>
            <a:ext cx="3057361" cy="277768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The net work on an object equals its kinetic energy change, providing an alternative to kinematic approaches. This theorem is particularly powerful for variable forces or complex paths where acceleration isn't constant. It connects force application over distance directly to speed changes, bypassing time calculations entirely in many problems.</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0" y="0"/>
            <a:ext cx="12192000" cy="6864626"/>
          </a:xfrm>
          <a:prstGeom prst="rect">
            <a:avLst/>
          </a:prstGeom>
        </p:spPr>
      </p:pic>
      <p:sp>
        <p:nvSpPr>
          <p:cNvPr id="3" name="Shape 0"/>
          <p:cNvSpPr/>
          <p:nvPr/>
        </p:nvSpPr>
        <p:spPr>
          <a:xfrm>
            <a:off x="4316708" y="1979810"/>
            <a:ext cx="6875424" cy="1909146"/>
          </a:xfrm>
          <a:prstGeom prst="rect">
            <a:avLst/>
          </a:prstGeom>
          <a:solidFill>
            <a:srgbClr val="FFFFFF">
              <a:alpha val="8235"/>
            </a:srgbClr>
          </a:solidFill>
        </p:spPr>
      </p:sp>
      <p:pic>
        <p:nvPicPr>
          <p:cNvPr id="4" name="Image 1" descr="https://kimi-img.moonshot.cn/pub/slides/slides_tmpl/image/25-08-27-20:02:13-d2nf7h98bjvh7rlj066g.jpg"/>
          <p:cNvPicPr>
            <a:picLocks noChangeAspect="1"/>
          </p:cNvPicPr>
          <p:nvPr/>
        </p:nvPicPr>
        <p:blipFill>
          <a:blip r:embed="rId2"/>
          <a:stretch>
            <a:fillRect/>
          </a:stretch>
        </p:blipFill>
        <p:spPr>
          <a:xfrm>
            <a:off x="1007418" y="1979809"/>
            <a:ext cx="3120319" cy="1895890"/>
          </a:xfrm>
          <a:prstGeom prst="rect">
            <a:avLst/>
          </a:prstGeom>
        </p:spPr>
      </p:pic>
      <p:sp>
        <p:nvSpPr>
          <p:cNvPr id="5" name="Shape 1"/>
          <p:cNvSpPr/>
          <p:nvPr/>
        </p:nvSpPr>
        <p:spPr>
          <a:xfrm flipH="1">
            <a:off x="11451321" y="672670"/>
            <a:ext cx="77797" cy="72000"/>
          </a:xfrm>
          <a:prstGeom prst="ellipse">
            <a:avLst/>
          </a:prstGeom>
          <a:solidFill>
            <a:srgbClr val="FFFFFF"/>
          </a:solidFill>
        </p:spPr>
      </p:sp>
      <p:sp>
        <p:nvSpPr>
          <p:cNvPr id="6" name="Shape 2"/>
          <p:cNvSpPr/>
          <p:nvPr/>
        </p:nvSpPr>
        <p:spPr>
          <a:xfrm flipH="1">
            <a:off x="11323146" y="672670"/>
            <a:ext cx="77797" cy="72000"/>
          </a:xfrm>
          <a:prstGeom prst="ellipse">
            <a:avLst/>
          </a:prstGeom>
          <a:solidFill>
            <a:srgbClr val="FFFFFF">
              <a:alpha val="56471"/>
            </a:srgbClr>
          </a:solidFill>
        </p:spPr>
      </p:sp>
      <p:sp>
        <p:nvSpPr>
          <p:cNvPr id="7" name="Shape 3"/>
          <p:cNvSpPr/>
          <p:nvPr/>
        </p:nvSpPr>
        <p:spPr>
          <a:xfrm flipH="1">
            <a:off x="11192132" y="672670"/>
            <a:ext cx="77797" cy="72000"/>
          </a:xfrm>
          <a:prstGeom prst="ellipse">
            <a:avLst/>
          </a:prstGeom>
          <a:solidFill>
            <a:srgbClr val="FFFFFF"/>
          </a:solidFill>
        </p:spPr>
      </p:sp>
      <p:sp>
        <p:nvSpPr>
          <p:cNvPr id="8" name="Shape 4"/>
          <p:cNvSpPr/>
          <p:nvPr/>
        </p:nvSpPr>
        <p:spPr>
          <a:xfrm flipH="1">
            <a:off x="11061118" y="672670"/>
            <a:ext cx="77797" cy="72000"/>
          </a:xfrm>
          <a:prstGeom prst="ellipse">
            <a:avLst/>
          </a:prstGeom>
          <a:solidFill>
            <a:srgbClr val="FFFFFF">
              <a:alpha val="56471"/>
            </a:srgbClr>
          </a:solidFill>
        </p:spPr>
      </p:sp>
      <p:sp>
        <p:nvSpPr>
          <p:cNvPr id="9" name="Shape 5"/>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sp>
        <p:nvSpPr>
          <p:cNvPr id="10" name="Shape 6"/>
          <p:cNvSpPr/>
          <p:nvPr/>
        </p:nvSpPr>
        <p:spPr>
          <a:xfrm rot="13500000">
            <a:off x="4389082" y="2283179"/>
            <a:ext cx="224914" cy="224914"/>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1" name="Shape 7"/>
          <p:cNvSpPr/>
          <p:nvPr/>
        </p:nvSpPr>
        <p:spPr>
          <a:xfrm>
            <a:off x="980841" y="4045676"/>
            <a:ext cx="6875424" cy="1909146"/>
          </a:xfrm>
          <a:prstGeom prst="rect">
            <a:avLst/>
          </a:prstGeom>
          <a:solidFill>
            <a:srgbClr val="FFFFFF">
              <a:alpha val="8235"/>
            </a:srgbClr>
          </a:solidFill>
        </p:spPr>
      </p:sp>
      <p:sp>
        <p:nvSpPr>
          <p:cNvPr id="12" name="Shape 8"/>
          <p:cNvSpPr/>
          <p:nvPr/>
        </p:nvSpPr>
        <p:spPr>
          <a:xfrm rot="13500000">
            <a:off x="1053215" y="4349045"/>
            <a:ext cx="224914" cy="224914"/>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3" name="Shape 9"/>
          <p:cNvSpPr/>
          <p:nvPr/>
        </p:nvSpPr>
        <p:spPr>
          <a:xfrm>
            <a:off x="3352616" y="3064564"/>
            <a:ext cx="1782539" cy="887359"/>
          </a:xfrm>
          <a:prstGeom prst="rect">
            <a:avLst/>
          </a:prstGeom>
          <a:solidFill>
            <a:srgbClr val="000000">
              <a:alpha val="0"/>
            </a:srgbClr>
          </a:solidFill>
        </p:spPr>
      </p:sp>
      <p:sp>
        <p:nvSpPr>
          <p:cNvPr id="14" name="Text 10"/>
          <p:cNvSpPr/>
          <p:nvPr/>
        </p:nvSpPr>
        <p:spPr>
          <a:xfrm>
            <a:off x="3352616" y="3064564"/>
            <a:ext cx="1782539" cy="887359"/>
          </a:xfrm>
          <a:prstGeom prst="rect">
            <a:avLst/>
          </a:prstGeom>
          <a:noFill/>
        </p:spPr>
        <p:txBody>
          <a:bodyPr wrap="square" lIns="0" tIns="0" rIns="0" bIns="0" rtlCol="0" anchor="t"/>
          <a:lstStyle/>
          <a:p>
            <a:pPr>
              <a:lnSpc>
                <a:spcPct val="110000"/>
              </a:lnSpc>
            </a:pPr>
            <a:r>
              <a:rPr lang="en-US" sz="5400" dirty="0">
                <a:solidFill>
                  <a:srgbClr val="FFFFFF"/>
                </a:solidFill>
                <a:latin typeface="MiSans" pitchFamily="34" charset="-122"/>
                <a:ea typeface="MiSans" pitchFamily="34" charset="-122"/>
                <a:cs typeface="MiSans" pitchFamily="34" charset="-120"/>
              </a:rPr>
              <a:t>01</a:t>
            </a:r>
            <a:endParaRPr lang="en-US" sz="1600" dirty="0"/>
          </a:p>
        </p:txBody>
      </p:sp>
      <p:sp>
        <p:nvSpPr>
          <p:cNvPr id="15" name="Shape 11"/>
          <p:cNvSpPr/>
          <p:nvPr/>
        </p:nvSpPr>
        <p:spPr>
          <a:xfrm>
            <a:off x="8224660" y="5124096"/>
            <a:ext cx="1782539" cy="887359"/>
          </a:xfrm>
          <a:prstGeom prst="rect">
            <a:avLst/>
          </a:prstGeom>
          <a:solidFill>
            <a:srgbClr val="000000">
              <a:alpha val="0"/>
            </a:srgbClr>
          </a:solidFill>
        </p:spPr>
      </p:sp>
      <p:sp>
        <p:nvSpPr>
          <p:cNvPr id="16" name="Text 12"/>
          <p:cNvSpPr/>
          <p:nvPr/>
        </p:nvSpPr>
        <p:spPr>
          <a:xfrm>
            <a:off x="8224660" y="5124096"/>
            <a:ext cx="1782539" cy="887359"/>
          </a:xfrm>
          <a:prstGeom prst="rect">
            <a:avLst/>
          </a:prstGeom>
          <a:noFill/>
        </p:spPr>
        <p:txBody>
          <a:bodyPr wrap="square" lIns="0" tIns="0" rIns="0" bIns="0" rtlCol="0" anchor="t"/>
          <a:lstStyle/>
          <a:p>
            <a:pPr>
              <a:lnSpc>
                <a:spcPct val="110000"/>
              </a:lnSpc>
            </a:pPr>
            <a:r>
              <a:rPr lang="en-US" sz="5400" b="1" dirty="0">
                <a:solidFill>
                  <a:srgbClr val="FFFFFF"/>
                </a:solidFill>
                <a:latin typeface="PingFang SC Semibold" pitchFamily="34" charset="0"/>
                <a:ea typeface="PingFang SC Semibold" pitchFamily="34" charset="-122"/>
                <a:cs typeface="PingFang SC Semibold" pitchFamily="34" charset="-120"/>
              </a:rPr>
              <a:t>02</a:t>
            </a:r>
            <a:endParaRPr lang="en-US" sz="1600" dirty="0"/>
          </a:p>
        </p:txBody>
      </p:sp>
      <p:pic>
        <p:nvPicPr>
          <p:cNvPr id="17" name="Image 2" descr="https://kimi-img.moonshot.cn/pub/slides/slides_tmpl/image/25-08-27-20:02:13-d2nf7h98bjvh7rlj0670.jpg"/>
          <p:cNvPicPr>
            <a:picLocks noChangeAspect="1"/>
          </p:cNvPicPr>
          <p:nvPr/>
        </p:nvPicPr>
        <p:blipFill>
          <a:blip r:embed="rId3"/>
          <a:srcRect/>
          <a:stretch>
            <a:fillRect/>
          </a:stretch>
        </p:blipFill>
        <p:spPr>
          <a:xfrm>
            <a:off x="8071813" y="4028147"/>
            <a:ext cx="3120319" cy="1926675"/>
          </a:xfrm>
          <a:prstGeom prst="rect">
            <a:avLst/>
          </a:prstGeom>
        </p:spPr>
      </p:pic>
      <p:sp>
        <p:nvSpPr>
          <p:cNvPr id="18" name="Shape 13"/>
          <p:cNvSpPr/>
          <p:nvPr/>
        </p:nvSpPr>
        <p:spPr>
          <a:xfrm>
            <a:off x="8164596" y="3951923"/>
            <a:ext cx="1782539" cy="887359"/>
          </a:xfrm>
          <a:prstGeom prst="rect">
            <a:avLst/>
          </a:prstGeom>
          <a:solidFill>
            <a:srgbClr val="000000">
              <a:alpha val="0"/>
            </a:srgbClr>
          </a:solidFill>
        </p:spPr>
      </p:sp>
      <p:sp>
        <p:nvSpPr>
          <p:cNvPr id="19" name="Text 14"/>
          <p:cNvSpPr/>
          <p:nvPr/>
        </p:nvSpPr>
        <p:spPr>
          <a:xfrm>
            <a:off x="8164596" y="3951923"/>
            <a:ext cx="1782539" cy="887359"/>
          </a:xfrm>
          <a:prstGeom prst="rect">
            <a:avLst/>
          </a:prstGeom>
          <a:noFill/>
        </p:spPr>
        <p:txBody>
          <a:bodyPr wrap="square" lIns="0" tIns="0" rIns="0" bIns="0" rtlCol="0" anchor="t"/>
          <a:lstStyle/>
          <a:p>
            <a:pPr>
              <a:lnSpc>
                <a:spcPct val="110000"/>
              </a:lnSpc>
            </a:pPr>
            <a:r>
              <a:rPr lang="en-US" sz="54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5"/>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Potential Energy Forms</a:t>
            </a:r>
            <a:endParaRPr lang="en-US" sz="1600" dirty="0"/>
          </a:p>
        </p:txBody>
      </p:sp>
      <p:pic>
        <p:nvPicPr>
          <p:cNvPr id="21" name="Image 3"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22" name="Text 16"/>
          <p:cNvSpPr/>
          <p:nvPr/>
        </p:nvSpPr>
        <p:spPr>
          <a:xfrm>
            <a:off x="4784761" y="2101849"/>
            <a:ext cx="4331168"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Gravitational Potential Energy: U_g = mgh</a:t>
            </a:r>
            <a:endParaRPr lang="en-US" sz="1600" dirty="0"/>
          </a:p>
        </p:txBody>
      </p:sp>
      <p:sp>
        <p:nvSpPr>
          <p:cNvPr id="23" name="Text 17"/>
          <p:cNvSpPr/>
          <p:nvPr/>
        </p:nvSpPr>
        <p:spPr>
          <a:xfrm>
            <a:off x="4419335" y="2644032"/>
            <a:ext cx="7420344" cy="158369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Gravitational potential energy depends on vertical position relative to a chosen reference level. The arbitrary zero point selection affects calculated values but not energy differences, which determine physical outcomes. Near Earth's surface, this linear height dependence applies; for large altitude changes, universal gravitation provides more accurate potential energy calculations.</a:t>
            </a:r>
            <a:endParaRPr lang="en-US" sz="1600" dirty="0"/>
          </a:p>
        </p:txBody>
      </p:sp>
      <p:sp>
        <p:nvSpPr>
          <p:cNvPr id="24" name="Text 18"/>
          <p:cNvSpPr/>
          <p:nvPr/>
        </p:nvSpPr>
        <p:spPr>
          <a:xfrm>
            <a:off x="1482684" y="4167715"/>
            <a:ext cx="5574031" cy="587573"/>
          </a:xfrm>
          <a:prstGeom prst="rect">
            <a:avLst/>
          </a:prstGeom>
          <a:noFill/>
        </p:spPr>
        <p:txBody>
          <a:bodyPr wrap="square" lIns="0" tIns="0" rIns="0" bIns="0" rtlCol="0" anchor="t"/>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Elastic Potential Energy: U_s = ½kx²</a:t>
            </a:r>
            <a:endParaRPr lang="en-US" sz="1600" dirty="0"/>
          </a:p>
        </p:txBody>
      </p:sp>
      <p:sp>
        <p:nvSpPr>
          <p:cNvPr id="25" name="Text 19"/>
          <p:cNvSpPr/>
          <p:nvPr/>
        </p:nvSpPr>
        <p:spPr>
          <a:xfrm>
            <a:off x="1279492" y="4476072"/>
            <a:ext cx="6678322" cy="158369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Springs and elastic materials store energy proportional to displacement squared from equilibrium. The spring constant k measures stiffness, with larger k indicating stronger resistance to deformation. This quadratic relationship means doubling spring stretch quadruples stored energy, explaining why over-stretching elastic materials can lead to sudden, dangerous energy release.</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15810" y="0"/>
            <a:ext cx="12218079" cy="6879310"/>
          </a:xfrm>
          <a:prstGeom prst="rect">
            <a:avLst/>
          </a:prstGeom>
        </p:spPr>
      </p:pic>
      <p:pic>
        <p:nvPicPr>
          <p:cNvPr id="3" name="Image 1" descr="https://kimi-img.moonshot.cn/pub/slides/slides_tmpl/image/25-08-27-20:02:15-d2nf7hp8bjvh7rlj06dg.png"/>
          <p:cNvPicPr>
            <a:picLocks noChangeAspect="1"/>
          </p:cNvPicPr>
          <p:nvPr/>
        </p:nvPicPr>
        <p:blipFill>
          <a:blip r:embed="rId2"/>
          <a:stretch>
            <a:fillRect/>
          </a:stretch>
        </p:blipFill>
        <p:spPr>
          <a:xfrm>
            <a:off x="-15810" y="2217961"/>
            <a:ext cx="15315171" cy="829824"/>
          </a:xfrm>
          <a:prstGeom prst="rect">
            <a:avLst/>
          </a:prstGeom>
        </p:spPr>
      </p:pic>
      <p:sp>
        <p:nvSpPr>
          <p:cNvPr id="4" name="Shape 0"/>
          <p:cNvSpPr/>
          <p:nvPr/>
        </p:nvSpPr>
        <p:spPr>
          <a:xfrm flipH="1">
            <a:off x="11314843" y="981848"/>
            <a:ext cx="77797" cy="72000"/>
          </a:xfrm>
          <a:prstGeom prst="ellipse">
            <a:avLst/>
          </a:prstGeom>
          <a:solidFill>
            <a:srgbClr val="FFFFFF"/>
          </a:solidFill>
        </p:spPr>
      </p:sp>
      <p:pic>
        <p:nvPicPr>
          <p:cNvPr id="5" name="Image 2" descr="https://kimi-img.moonshot.cn/pub/slides/slides_tmpl/image/25-08-27-20:02:15-d2nf7hp8bjvh7rlj06e0.png"/>
          <p:cNvPicPr>
            <a:picLocks noChangeAspect="1"/>
          </p:cNvPicPr>
          <p:nvPr/>
        </p:nvPicPr>
        <p:blipFill>
          <a:blip r:embed="rId3"/>
          <a:stretch>
            <a:fillRect/>
          </a:stretch>
        </p:blipFill>
        <p:spPr>
          <a:xfrm>
            <a:off x="1804785" y="2432913"/>
            <a:ext cx="1193800" cy="1193800"/>
          </a:xfrm>
          <a:prstGeom prst="rect">
            <a:avLst/>
          </a:prstGeom>
        </p:spPr>
      </p:pic>
      <p:sp>
        <p:nvSpPr>
          <p:cNvPr id="6" name="Shape 1"/>
          <p:cNvSpPr/>
          <p:nvPr/>
        </p:nvSpPr>
        <p:spPr>
          <a:xfrm flipH="1">
            <a:off x="11186668" y="981848"/>
            <a:ext cx="77797" cy="72000"/>
          </a:xfrm>
          <a:prstGeom prst="ellipse">
            <a:avLst/>
          </a:prstGeom>
          <a:solidFill>
            <a:srgbClr val="FFFFFF">
              <a:alpha val="56471"/>
            </a:srgbClr>
          </a:solidFill>
        </p:spPr>
      </p:sp>
      <p:sp>
        <p:nvSpPr>
          <p:cNvPr id="7" name="Shape 2"/>
          <p:cNvSpPr/>
          <p:nvPr/>
        </p:nvSpPr>
        <p:spPr>
          <a:xfrm flipH="1">
            <a:off x="11055654" y="981848"/>
            <a:ext cx="77797" cy="72000"/>
          </a:xfrm>
          <a:prstGeom prst="ellipse">
            <a:avLst/>
          </a:prstGeom>
          <a:solidFill>
            <a:srgbClr val="FFFFFF"/>
          </a:solidFill>
        </p:spPr>
      </p:sp>
      <p:sp>
        <p:nvSpPr>
          <p:cNvPr id="8" name="Shape 3"/>
          <p:cNvSpPr/>
          <p:nvPr/>
        </p:nvSpPr>
        <p:spPr>
          <a:xfrm flipH="1">
            <a:off x="10924640" y="981848"/>
            <a:ext cx="77797" cy="72000"/>
          </a:xfrm>
          <a:prstGeom prst="ellipse">
            <a:avLst/>
          </a:prstGeom>
          <a:solidFill>
            <a:srgbClr val="FFFFFF">
              <a:alpha val="56471"/>
            </a:srgbClr>
          </a:solidFill>
        </p:spPr>
      </p:sp>
      <p:pic>
        <p:nvPicPr>
          <p:cNvPr id="9" name="Image 3" descr="https://kimi-img.moonshot.cn/pub/slides/slides_tmpl/image/25-08-27-20:02:15-d2nf7hp8bjvh7rlj06e0.png"/>
          <p:cNvPicPr>
            <a:picLocks noChangeAspect="1"/>
          </p:cNvPicPr>
          <p:nvPr/>
        </p:nvPicPr>
        <p:blipFill>
          <a:blip r:embed="rId3"/>
          <a:stretch>
            <a:fillRect/>
          </a:stretch>
        </p:blipFill>
        <p:spPr>
          <a:xfrm>
            <a:off x="5572113" y="1664817"/>
            <a:ext cx="1193800" cy="1193800"/>
          </a:xfrm>
          <a:prstGeom prst="rect">
            <a:avLst/>
          </a:prstGeom>
        </p:spPr>
      </p:pic>
      <p:pic>
        <p:nvPicPr>
          <p:cNvPr id="10" name="Image 4" descr="https://kimi-img.moonshot.cn/pub/slides/slides_tmpl/image/25-08-27-20:02:15-d2nf7hp8bjvh7rlj06e0.png"/>
          <p:cNvPicPr>
            <a:picLocks noChangeAspect="1"/>
          </p:cNvPicPr>
          <p:nvPr/>
        </p:nvPicPr>
        <p:blipFill>
          <a:blip r:embed="rId3"/>
          <a:stretch>
            <a:fillRect/>
          </a:stretch>
        </p:blipFill>
        <p:spPr>
          <a:xfrm>
            <a:off x="9119985" y="2451201"/>
            <a:ext cx="1193800" cy="1193800"/>
          </a:xfrm>
          <a:prstGeom prst="rect">
            <a:avLst/>
          </a:prstGeom>
        </p:spPr>
      </p:pic>
      <p:sp>
        <p:nvSpPr>
          <p:cNvPr id="11" name="Shape 4"/>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sp>
        <p:nvSpPr>
          <p:cNvPr id="12" name="Text 5"/>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Conservation of Energy Principle</a:t>
            </a:r>
            <a:endParaRPr lang="en-US" sz="1600" dirty="0"/>
          </a:p>
        </p:txBody>
      </p:sp>
      <p:pic>
        <p:nvPicPr>
          <p:cNvPr id="13" name="Image 5"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4" name="Shape 6"/>
          <p:cNvSpPr/>
          <p:nvPr/>
        </p:nvSpPr>
        <p:spPr>
          <a:xfrm>
            <a:off x="2069138" y="2846751"/>
            <a:ext cx="665094" cy="295787"/>
          </a:xfrm>
          <a:prstGeom prst="rect">
            <a:avLst/>
          </a:prstGeom>
          <a:solidFill>
            <a:srgbClr val="000000">
              <a:alpha val="0"/>
            </a:srgbClr>
          </a:solidFill>
        </p:spPr>
      </p:sp>
      <p:sp>
        <p:nvSpPr>
          <p:cNvPr id="15" name="Text 7"/>
          <p:cNvSpPr/>
          <p:nvPr/>
        </p:nvSpPr>
        <p:spPr>
          <a:xfrm>
            <a:off x="2069138" y="2846751"/>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16" name="Text 8"/>
          <p:cNvSpPr/>
          <p:nvPr/>
        </p:nvSpPr>
        <p:spPr>
          <a:xfrm>
            <a:off x="906167" y="3573655"/>
            <a:ext cx="3338973"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Mechanical Energy Conservation</a:t>
            </a:r>
            <a:endParaRPr lang="en-US" sz="1600" dirty="0"/>
          </a:p>
        </p:txBody>
      </p:sp>
      <p:sp>
        <p:nvSpPr>
          <p:cNvPr id="17" name="Text 9"/>
          <p:cNvSpPr/>
          <p:nvPr/>
        </p:nvSpPr>
        <p:spPr>
          <a:xfrm>
            <a:off x="405653" y="4101622"/>
            <a:ext cx="3676015" cy="2777688"/>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When only conservative forces act, total mechanical energy E = K + U remains constant. This principle allows comparison of any two states without intermediate details—kinetic energy converts to potential energy and vice versa while their sum stays fixed. Pendulums, roller coasters, and spring-mass systems exemplify this energy transformation.</a:t>
            </a:r>
            <a:endParaRPr lang="en-US" sz="1600" dirty="0"/>
          </a:p>
        </p:txBody>
      </p:sp>
      <p:sp>
        <p:nvSpPr>
          <p:cNvPr id="18" name="Shape 10"/>
          <p:cNvSpPr/>
          <p:nvPr/>
        </p:nvSpPr>
        <p:spPr>
          <a:xfrm>
            <a:off x="5824743" y="2081751"/>
            <a:ext cx="665094" cy="295787"/>
          </a:xfrm>
          <a:prstGeom prst="rect">
            <a:avLst/>
          </a:prstGeom>
          <a:solidFill>
            <a:srgbClr val="000000">
              <a:alpha val="0"/>
            </a:srgbClr>
          </a:solidFill>
        </p:spPr>
      </p:sp>
      <p:sp>
        <p:nvSpPr>
          <p:cNvPr id="19" name="Text 11"/>
          <p:cNvSpPr/>
          <p:nvPr/>
        </p:nvSpPr>
        <p:spPr>
          <a:xfrm>
            <a:off x="5824743" y="2081751"/>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2"/>
          <p:cNvSpPr/>
          <p:nvPr/>
        </p:nvSpPr>
        <p:spPr>
          <a:xfrm>
            <a:off x="4582055" y="2823847"/>
            <a:ext cx="3338973"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Problem-Solving Strategy</a:t>
            </a:r>
            <a:endParaRPr lang="en-US" sz="1600" dirty="0"/>
          </a:p>
        </p:txBody>
      </p:sp>
      <p:sp>
        <p:nvSpPr>
          <p:cNvPr id="21" name="Text 13"/>
          <p:cNvSpPr/>
          <p:nvPr/>
        </p:nvSpPr>
        <p:spPr>
          <a:xfrm>
            <a:off x="4500245" y="3225165"/>
            <a:ext cx="3338830" cy="277768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Energy conservation problems require identifying initial and final states, choosing consistent reference levels, and equating total energies. List known quantities for each state, identify unknowns, and write E_initial = E_final. This systematic approach eliminates solving differential equations and works even for complex paths where force varies with position.</a:t>
            </a:r>
            <a:endParaRPr lang="en-US" sz="1600" dirty="0"/>
          </a:p>
        </p:txBody>
      </p:sp>
      <p:sp>
        <p:nvSpPr>
          <p:cNvPr id="22" name="Shape 14"/>
          <p:cNvSpPr/>
          <p:nvPr/>
        </p:nvSpPr>
        <p:spPr>
          <a:xfrm>
            <a:off x="9372615" y="2869908"/>
            <a:ext cx="665094" cy="295787"/>
          </a:xfrm>
          <a:prstGeom prst="rect">
            <a:avLst/>
          </a:prstGeom>
          <a:solidFill>
            <a:srgbClr val="000000">
              <a:alpha val="0"/>
            </a:srgbClr>
          </a:solidFill>
        </p:spPr>
      </p:sp>
      <p:sp>
        <p:nvSpPr>
          <p:cNvPr id="23" name="Text 15"/>
          <p:cNvSpPr/>
          <p:nvPr/>
        </p:nvSpPr>
        <p:spPr>
          <a:xfrm>
            <a:off x="9372615" y="2869908"/>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4" name="Text 16"/>
          <p:cNvSpPr/>
          <p:nvPr/>
        </p:nvSpPr>
        <p:spPr>
          <a:xfrm>
            <a:off x="8133176" y="3439655"/>
            <a:ext cx="3338973"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Non-Conservative Work: W_nc = ΔE_mechanical</a:t>
            </a:r>
            <a:endParaRPr lang="en-US" sz="1600" dirty="0"/>
          </a:p>
        </p:txBody>
      </p:sp>
      <p:sp>
        <p:nvSpPr>
          <p:cNvPr id="25" name="Text 17"/>
          <p:cNvSpPr/>
          <p:nvPr/>
        </p:nvSpPr>
        <p:spPr>
          <a:xfrm>
            <a:off x="8047990" y="3956685"/>
            <a:ext cx="3781525" cy="2777688"/>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Friction and air resistance dissipate mechanical energy as thermal energy. The work done by non-conservative forces equals total mechanical energy change. For systems with friction, initial mechanical energy plus non-conservative work (negative for friction) equals final mechanical energy, allowing quantitative analysis of energy loss in real-world scenarios.</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3426"/>
            <a:ext cx="12191999" cy="6864626"/>
          </a:xfrm>
          <a:prstGeom prst="rect">
            <a:avLst/>
          </a:prstGeom>
        </p:spPr>
      </p:pic>
      <p:sp>
        <p:nvSpPr>
          <p:cNvPr id="3" name="Text 0"/>
          <p:cNvSpPr/>
          <p:nvPr/>
        </p:nvSpPr>
        <p:spPr>
          <a:xfrm>
            <a:off x="4119359" y="3709831"/>
            <a:ext cx="3832016" cy="1029692"/>
          </a:xfrm>
          <a:prstGeom prst="rect">
            <a:avLst/>
          </a:prstGeom>
          <a:noFill/>
        </p:spPr>
        <p:txBody>
          <a:bodyPr wrap="square" lIns="0" tIns="0" rIns="0" bIns="0" rtlCol="0" anchor="t">
            <a:spAutoFit/>
          </a:bodyPr>
          <a:lstStyle/>
          <a:p>
            <a:pPr algn="ctr">
              <a:lnSpc>
                <a:spcPct val="100000"/>
              </a:lnSpc>
            </a:pPr>
            <a:r>
              <a:rPr lang="en-US" sz="3200" dirty="0">
                <a:solidFill>
                  <a:srgbClr val="FFFFFF"/>
                </a:solidFill>
                <a:latin typeface="MiSans" pitchFamily="34" charset="-122"/>
                <a:ea typeface="MiSans" pitchFamily="34" charset="-122"/>
                <a:cs typeface="MiSans" pitchFamily="34" charset="-120"/>
              </a:rPr>
              <a:t>Momentum and Collisions</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9" name="Shape 6"/>
          <p:cNvSpPr/>
          <p:nvPr/>
        </p:nvSpPr>
        <p:spPr>
          <a:xfrm>
            <a:off x="10796832" y="6396446"/>
            <a:ext cx="116844" cy="116844"/>
          </a:xfrm>
          <a:prstGeom prst="ellipse">
            <a:avLst/>
          </a:prstGeom>
          <a:solidFill>
            <a:srgbClr val="FFFFFF"/>
          </a:solidFill>
        </p:spPr>
      </p:sp>
      <p:sp>
        <p:nvSpPr>
          <p:cNvPr id="10" name="Shape 7"/>
          <p:cNvSpPr/>
          <p:nvPr/>
        </p:nvSpPr>
        <p:spPr>
          <a:xfrm>
            <a:off x="10989337" y="6396446"/>
            <a:ext cx="116844" cy="116844"/>
          </a:xfrm>
          <a:prstGeom prst="ellipse">
            <a:avLst/>
          </a:prstGeom>
          <a:solidFill>
            <a:srgbClr val="FFFFFF">
              <a:alpha val="56471"/>
            </a:srgbClr>
          </a:solidFill>
        </p:spPr>
      </p:sp>
      <p:sp>
        <p:nvSpPr>
          <p:cNvPr id="11" name="Shape 8"/>
          <p:cNvSpPr/>
          <p:nvPr/>
        </p:nvSpPr>
        <p:spPr>
          <a:xfrm>
            <a:off x="11186107" y="6396446"/>
            <a:ext cx="116844" cy="116844"/>
          </a:xfrm>
          <a:prstGeom prst="ellipse">
            <a:avLst/>
          </a:prstGeom>
          <a:solidFill>
            <a:srgbClr val="FFFFFF"/>
          </a:solidFill>
        </p:spPr>
      </p:sp>
      <p:sp>
        <p:nvSpPr>
          <p:cNvPr id="12" name="Shape 9"/>
          <p:cNvSpPr/>
          <p:nvPr/>
        </p:nvSpPr>
        <p:spPr>
          <a:xfrm>
            <a:off x="11382877" y="6396446"/>
            <a:ext cx="116844" cy="116844"/>
          </a:xfrm>
          <a:prstGeom prst="ellipse">
            <a:avLst/>
          </a:prstGeom>
          <a:solidFill>
            <a:srgbClr val="FFFFFF">
              <a:alpha val="56471"/>
            </a:srgbClr>
          </a:solidFill>
        </p:spPr>
      </p:sp>
      <p:pic>
        <p:nvPicPr>
          <p:cNvPr id="13" name="Image 1" descr="https://kimi-img.moonshot.cn/pub/slides/slides_tmpl/image/25-08-27-20:02:06-d2nf7fh8bjvh7rlj0600.png"/>
          <p:cNvPicPr>
            <a:picLocks noChangeAspect="1"/>
          </p:cNvPicPr>
          <p:nvPr/>
        </p:nvPicPr>
        <p:blipFill>
          <a:blip r:embed="rId2"/>
          <a:stretch>
            <a:fillRect/>
          </a:stretch>
        </p:blipFill>
        <p:spPr>
          <a:xfrm>
            <a:off x="4267199" y="3446152"/>
            <a:ext cx="3657600" cy="12700"/>
          </a:xfrm>
          <a:prstGeom prst="rect">
            <a:avLst/>
          </a:prstGeom>
        </p:spPr>
      </p:pic>
      <p:sp>
        <p:nvSpPr>
          <p:cNvPr id="14" name="Shape 10"/>
          <p:cNvSpPr/>
          <p:nvPr/>
        </p:nvSpPr>
        <p:spPr>
          <a:xfrm>
            <a:off x="4893310" y="1477010"/>
            <a:ext cx="2284095" cy="2335530"/>
          </a:xfrm>
          <a:prstGeom prst="rect">
            <a:avLst/>
          </a:prstGeom>
          <a:solidFill>
            <a:srgbClr val="000000">
              <a:alpha val="0"/>
            </a:srgbClr>
          </a:solidFill>
        </p:spPr>
      </p:sp>
      <p:sp>
        <p:nvSpPr>
          <p:cNvPr id="15" name="Text 11"/>
          <p:cNvSpPr/>
          <p:nvPr/>
        </p:nvSpPr>
        <p:spPr>
          <a:xfrm>
            <a:off x="4893310" y="1477010"/>
            <a:ext cx="2284095" cy="2335530"/>
          </a:xfrm>
          <a:prstGeom prst="rect">
            <a:avLst/>
          </a:prstGeom>
          <a:noFill/>
        </p:spPr>
        <p:txBody>
          <a:bodyPr wrap="square" lIns="0" tIns="0" rIns="0" bIns="0" rtlCol="0" anchor="t"/>
          <a:lstStyle/>
          <a:p>
            <a:pPr>
              <a:lnSpc>
                <a:spcPct val="110000"/>
              </a:lnSpc>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04</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1041" y="0"/>
            <a:ext cx="12192000" cy="6864626"/>
          </a:xfrm>
          <a:prstGeom prst="rect">
            <a:avLst/>
          </a:prstGeom>
        </p:spPr>
      </p:pic>
      <p:sp>
        <p:nvSpPr>
          <p:cNvPr id="3" name="Text 0"/>
          <p:cNvSpPr/>
          <p:nvPr/>
        </p:nvSpPr>
        <p:spPr>
          <a:xfrm>
            <a:off x="934263" y="479263"/>
            <a:ext cx="3049055" cy="606887"/>
          </a:xfrm>
          <a:prstGeom prst="rect">
            <a:avLst/>
          </a:prstGeom>
          <a:noFill/>
        </p:spPr>
        <p:txBody>
          <a:bodyPr wrap="square" lIns="91440" tIns="45720" rIns="91440" bIns="45720" rtlCol="0" anchor="ctr"/>
          <a:lstStyle/>
          <a:p>
            <a:pPr>
              <a:lnSpc>
                <a:spcPct val="90000"/>
              </a:lnSpc>
            </a:pPr>
            <a:r>
              <a:rPr lang="en-US" sz="4400" dirty="0">
                <a:solidFill>
                  <a:srgbClr val="000000"/>
                </a:solidFill>
                <a:latin typeface="MiSans" pitchFamily="34" charset="-122"/>
                <a:ea typeface="MiSans" pitchFamily="34" charset="-122"/>
                <a:cs typeface="MiSans" pitchFamily="34" charset="-120"/>
              </a:rPr>
              <a:t> </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pic>
        <p:nvPicPr>
          <p:cNvPr id="8" name="Image 1" descr="https://kimi-img.moonshot.cn/pub/slides/slides_tmpl/image/25-08-27-20:02:14-d2nf7hh8bjvh7rlj0690.png"/>
          <p:cNvPicPr>
            <a:picLocks noChangeAspect="1"/>
          </p:cNvPicPr>
          <p:nvPr/>
        </p:nvPicPr>
        <p:blipFill>
          <a:blip r:embed="rId2"/>
          <a:stretch>
            <a:fillRect/>
          </a:stretch>
        </p:blipFill>
        <p:spPr>
          <a:xfrm>
            <a:off x="3576455" y="1655432"/>
            <a:ext cx="6896100" cy="2413000"/>
          </a:xfrm>
          <a:prstGeom prst="rect">
            <a:avLst/>
          </a:prstGeom>
        </p:spPr>
      </p:pic>
      <p:pic>
        <p:nvPicPr>
          <p:cNvPr id="9" name="Image 2" descr="https://kimi-img.moonshot.cn/pub/slides/slides_tmpl/image/25-08-27-20:02:14-d2nf7hh8bjvh7rlj0690.png"/>
          <p:cNvPicPr>
            <a:picLocks noChangeAspect="1"/>
          </p:cNvPicPr>
          <p:nvPr/>
        </p:nvPicPr>
        <p:blipFill>
          <a:blip r:embed="rId2"/>
          <a:stretch>
            <a:fillRect/>
          </a:stretch>
        </p:blipFill>
        <p:spPr>
          <a:xfrm>
            <a:off x="4673735" y="3886568"/>
            <a:ext cx="6896100" cy="2413000"/>
          </a:xfrm>
          <a:prstGeom prst="rect">
            <a:avLst/>
          </a:prstGeom>
        </p:spPr>
      </p:pic>
      <p:sp>
        <p:nvSpPr>
          <p:cNvPr id="10"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11" name="Shape 6"/>
          <p:cNvSpPr/>
          <p:nvPr/>
        </p:nvSpPr>
        <p:spPr>
          <a:xfrm flipH="1">
            <a:off x="11314843" y="981848"/>
            <a:ext cx="77797" cy="72000"/>
          </a:xfrm>
          <a:prstGeom prst="ellipse">
            <a:avLst/>
          </a:prstGeom>
          <a:solidFill>
            <a:srgbClr val="FFFFFF"/>
          </a:solidFill>
        </p:spPr>
      </p:sp>
      <p:sp>
        <p:nvSpPr>
          <p:cNvPr id="12" name="Shape 7"/>
          <p:cNvSpPr/>
          <p:nvPr/>
        </p:nvSpPr>
        <p:spPr>
          <a:xfrm flipH="1">
            <a:off x="11186668" y="981848"/>
            <a:ext cx="77797" cy="72000"/>
          </a:xfrm>
          <a:prstGeom prst="ellipse">
            <a:avLst/>
          </a:prstGeom>
          <a:solidFill>
            <a:srgbClr val="FFFFFF">
              <a:alpha val="56471"/>
            </a:srgbClr>
          </a:solidFill>
        </p:spPr>
      </p:sp>
      <p:sp>
        <p:nvSpPr>
          <p:cNvPr id="13" name="Shape 8"/>
          <p:cNvSpPr/>
          <p:nvPr/>
        </p:nvSpPr>
        <p:spPr>
          <a:xfrm flipH="1">
            <a:off x="11055654" y="981848"/>
            <a:ext cx="77797" cy="72000"/>
          </a:xfrm>
          <a:prstGeom prst="ellipse">
            <a:avLst/>
          </a:prstGeom>
          <a:solidFill>
            <a:srgbClr val="FFFFFF"/>
          </a:solidFill>
        </p:spPr>
      </p:sp>
      <p:sp>
        <p:nvSpPr>
          <p:cNvPr id="14" name="Shape 9"/>
          <p:cNvSpPr/>
          <p:nvPr/>
        </p:nvSpPr>
        <p:spPr>
          <a:xfrm flipH="1">
            <a:off x="10924640" y="981848"/>
            <a:ext cx="77797" cy="72000"/>
          </a:xfrm>
          <a:prstGeom prst="ellipse">
            <a:avLst/>
          </a:prstGeom>
          <a:solidFill>
            <a:srgbClr val="FFFFFF">
              <a:alpha val="56471"/>
            </a:srgbClr>
          </a:solidFill>
        </p:spPr>
      </p:sp>
      <p:sp>
        <p:nvSpPr>
          <p:cNvPr id="15" name="Shape 10"/>
          <p:cNvSpPr/>
          <p:nvPr/>
        </p:nvSpPr>
        <p:spPr>
          <a:xfrm rot="13500000">
            <a:off x="4011449" y="2163980"/>
            <a:ext cx="224914" cy="224914"/>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6" name="Shape 11"/>
          <p:cNvSpPr/>
          <p:nvPr/>
        </p:nvSpPr>
        <p:spPr>
          <a:xfrm rot="13500000">
            <a:off x="5105057" y="4115013"/>
            <a:ext cx="224914" cy="224914"/>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7" name="Shape 12"/>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pic>
        <p:nvPicPr>
          <p:cNvPr id="18" name="Image 3" descr="https://kimi-img.moonshot.cn/pub/slides/slides_tmpl/image/25-08-27-20:02:14-d2nf7hh8bjvh7rlj06a0.png"/>
          <p:cNvPicPr>
            <a:picLocks noChangeAspect="1"/>
          </p:cNvPicPr>
          <p:nvPr/>
        </p:nvPicPr>
        <p:blipFill>
          <a:blip r:embed="rId3"/>
          <a:stretch>
            <a:fillRect/>
          </a:stretch>
        </p:blipFill>
        <p:spPr>
          <a:xfrm>
            <a:off x="1756190" y="4097938"/>
            <a:ext cx="3124200" cy="1892300"/>
          </a:xfrm>
          <a:prstGeom prst="rect">
            <a:avLst/>
          </a:prstGeom>
        </p:spPr>
      </p:pic>
      <p:pic>
        <p:nvPicPr>
          <p:cNvPr id="19" name="Image 4" descr="https://kimi-img.moonshot.cn/pub/slides/slides_tmpl/image/25-08-27-20:02:14-d2nf7hh8bjvh7rlj06ag.png"/>
          <p:cNvPicPr>
            <a:picLocks noChangeAspect="1"/>
          </p:cNvPicPr>
          <p:nvPr/>
        </p:nvPicPr>
        <p:blipFill>
          <a:blip r:embed="rId4"/>
          <a:stretch>
            <a:fillRect/>
          </a:stretch>
        </p:blipFill>
        <p:spPr>
          <a:xfrm>
            <a:off x="680870" y="1854716"/>
            <a:ext cx="3124200" cy="1905000"/>
          </a:xfrm>
          <a:prstGeom prst="rect">
            <a:avLst/>
          </a:prstGeom>
        </p:spPr>
      </p:pic>
      <p:sp>
        <p:nvSpPr>
          <p:cNvPr id="20" name="Text 13"/>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Impulse-Momentum Theorem</a:t>
            </a:r>
            <a:endParaRPr lang="en-US" sz="1600" dirty="0"/>
          </a:p>
        </p:txBody>
      </p:sp>
      <p:pic>
        <p:nvPicPr>
          <p:cNvPr id="21" name="Image 5" descr="https://kimi-img.moonshot.cn/pub/slides/slides_tmpl/image/25-08-27-20:02:06-d2nf7fh8bjvh7rlj060g.png"/>
          <p:cNvPicPr>
            <a:picLocks noChangeAspect="1"/>
          </p:cNvPicPr>
          <p:nvPr/>
        </p:nvPicPr>
        <p:blipFill>
          <a:blip r:embed="rId5"/>
          <a:stretch>
            <a:fillRect/>
          </a:stretch>
        </p:blipFill>
        <p:spPr>
          <a:xfrm>
            <a:off x="662882" y="495145"/>
            <a:ext cx="1371600" cy="304800"/>
          </a:xfrm>
          <a:prstGeom prst="rect">
            <a:avLst/>
          </a:prstGeom>
        </p:spPr>
      </p:pic>
      <p:sp>
        <p:nvSpPr>
          <p:cNvPr id="22" name="Text 14"/>
          <p:cNvSpPr/>
          <p:nvPr/>
        </p:nvSpPr>
        <p:spPr>
          <a:xfrm>
            <a:off x="4363924" y="1982650"/>
            <a:ext cx="4331168"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Momentum and Impulse Definitions</a:t>
            </a:r>
            <a:endParaRPr lang="en-US" sz="1600" dirty="0"/>
          </a:p>
        </p:txBody>
      </p:sp>
      <p:sp>
        <p:nvSpPr>
          <p:cNvPr id="23" name="Text 15"/>
          <p:cNvSpPr/>
          <p:nvPr/>
        </p:nvSpPr>
        <p:spPr>
          <a:xfrm>
            <a:off x="4041702" y="2524833"/>
            <a:ext cx="7528133" cy="158369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Linear momentum p = mv is a vector quantity representing motion's 'quantity of motion.' Impulse J = FΔt = Δp equals momentum change, showing that force applied over time alters motion state. This equivalence explains why safety devices increase impact time to reduce peak forces—airbags, crumple zones, and padded surfaces all exploit the impulse-momentum relationship.</a:t>
            </a:r>
            <a:endParaRPr lang="en-US" sz="1600" dirty="0"/>
          </a:p>
        </p:txBody>
      </p:sp>
      <p:sp>
        <p:nvSpPr>
          <p:cNvPr id="24" name="Text 16"/>
          <p:cNvSpPr/>
          <p:nvPr/>
        </p:nvSpPr>
        <p:spPr>
          <a:xfrm>
            <a:off x="5495584" y="4068432"/>
            <a:ext cx="5691084" cy="587573"/>
          </a:xfrm>
          <a:prstGeom prst="rect">
            <a:avLst/>
          </a:prstGeom>
          <a:noFill/>
        </p:spPr>
        <p:txBody>
          <a:bodyPr wrap="square" lIns="0" tIns="0" rIns="0" bIns="0" rtlCol="0" anchor="t"/>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Variable Forces and Force-Time Graphs</a:t>
            </a:r>
            <a:endParaRPr lang="en-US" sz="1600" dirty="0"/>
          </a:p>
        </p:txBody>
      </p:sp>
      <p:sp>
        <p:nvSpPr>
          <p:cNvPr id="25" name="Text 17"/>
          <p:cNvSpPr/>
          <p:nvPr/>
        </p:nvSpPr>
        <p:spPr>
          <a:xfrm>
            <a:off x="4880390" y="4472140"/>
            <a:ext cx="6933242" cy="158369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For non-constant forces, impulse equals the area under the force-time curve. This graphical interpretation allows momentum change calculation even when force varies complexly, such as in collisions where contact forces spike and decay rapidly. Average force can be determined from total impulse divided by contact duration, useful for estimating impact severity.</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0" y="0"/>
            <a:ext cx="12192000" cy="6864626"/>
          </a:xfrm>
          <a:prstGeom prst="rect">
            <a:avLst/>
          </a:prstGeom>
        </p:spPr>
      </p:pic>
      <p:sp>
        <p:nvSpPr>
          <p:cNvPr id="3" name="Shape 0"/>
          <p:cNvSpPr/>
          <p:nvPr/>
        </p:nvSpPr>
        <p:spPr>
          <a:xfrm>
            <a:off x="898525" y="2997835"/>
            <a:ext cx="3397885" cy="3533140"/>
          </a:xfrm>
          <a:prstGeom prst="rect">
            <a:avLst/>
          </a:prstGeom>
          <a:solidFill>
            <a:srgbClr val="FFFFFF">
              <a:alpha val="8235"/>
            </a:srgbClr>
          </a:solidFill>
        </p:spPr>
      </p:sp>
      <p:sp>
        <p:nvSpPr>
          <p:cNvPr id="4" name="Shape 1"/>
          <p:cNvSpPr/>
          <p:nvPr/>
        </p:nvSpPr>
        <p:spPr>
          <a:xfrm>
            <a:off x="10924640" y="981848"/>
            <a:ext cx="77797" cy="72000"/>
          </a:xfrm>
          <a:prstGeom prst="ellipse">
            <a:avLst/>
          </a:prstGeom>
          <a:solidFill>
            <a:srgbClr val="FFFFFF"/>
          </a:solidFill>
        </p:spPr>
      </p:sp>
      <p:sp>
        <p:nvSpPr>
          <p:cNvPr id="5" name="Shape 2"/>
          <p:cNvSpPr/>
          <p:nvPr/>
        </p:nvSpPr>
        <p:spPr>
          <a:xfrm>
            <a:off x="11052814" y="981848"/>
            <a:ext cx="77797" cy="72000"/>
          </a:xfrm>
          <a:prstGeom prst="ellipse">
            <a:avLst/>
          </a:prstGeom>
          <a:solidFill>
            <a:srgbClr val="FFFFFF">
              <a:alpha val="56471"/>
            </a:srgbClr>
          </a:solidFill>
        </p:spPr>
      </p:sp>
      <p:sp>
        <p:nvSpPr>
          <p:cNvPr id="6" name="Shape 3"/>
          <p:cNvSpPr/>
          <p:nvPr/>
        </p:nvSpPr>
        <p:spPr>
          <a:xfrm>
            <a:off x="11183828" y="981848"/>
            <a:ext cx="77797" cy="72000"/>
          </a:xfrm>
          <a:prstGeom prst="ellipse">
            <a:avLst/>
          </a:prstGeom>
          <a:solidFill>
            <a:srgbClr val="FFFFFF"/>
          </a:solidFill>
        </p:spPr>
      </p:sp>
      <p:pic>
        <p:nvPicPr>
          <p:cNvPr id="7" name="Image 1" descr="https://kimi-img.moonshot.cn/pub/slides/slides_tmpl/image/25-08-27-20:02:16-d2nf7i18bjvh7rlj06fg.png"/>
          <p:cNvPicPr>
            <a:picLocks noChangeAspect="1"/>
          </p:cNvPicPr>
          <p:nvPr/>
        </p:nvPicPr>
        <p:blipFill>
          <a:blip r:embed="rId2"/>
          <a:stretch>
            <a:fillRect/>
          </a:stretch>
        </p:blipFill>
        <p:spPr>
          <a:xfrm>
            <a:off x="4590354" y="5644713"/>
            <a:ext cx="3150235" cy="1155700"/>
          </a:xfrm>
          <a:prstGeom prst="rect">
            <a:avLst/>
          </a:prstGeom>
        </p:spPr>
      </p:pic>
      <p:sp>
        <p:nvSpPr>
          <p:cNvPr id="8" name="Shape 4"/>
          <p:cNvSpPr/>
          <p:nvPr/>
        </p:nvSpPr>
        <p:spPr>
          <a:xfrm>
            <a:off x="11314843" y="981848"/>
            <a:ext cx="77797" cy="72000"/>
          </a:xfrm>
          <a:prstGeom prst="ellipse">
            <a:avLst/>
          </a:prstGeom>
          <a:solidFill>
            <a:srgbClr val="FFFFFF">
              <a:alpha val="56471"/>
            </a:srgbClr>
          </a:solidFill>
        </p:spPr>
      </p:sp>
      <p:pic>
        <p:nvPicPr>
          <p:cNvPr id="9" name="Image 2" descr="https://kimi-img.moonshot.cn/pub/slides/slides_tmpl/image/25-08-27-20:02:16-d2nf7i18bjvh7rlj06g0.png"/>
          <p:cNvPicPr>
            <a:picLocks noChangeAspect="1"/>
          </p:cNvPicPr>
          <p:nvPr/>
        </p:nvPicPr>
        <p:blipFill>
          <a:blip r:embed="rId3"/>
          <a:stretch>
            <a:fillRect/>
          </a:stretch>
        </p:blipFill>
        <p:spPr>
          <a:xfrm>
            <a:off x="8202295" y="1855470"/>
            <a:ext cx="3225800" cy="1168400"/>
          </a:xfrm>
          <a:prstGeom prst="rect">
            <a:avLst/>
          </a:prstGeom>
        </p:spPr>
      </p:pic>
      <p:pic>
        <p:nvPicPr>
          <p:cNvPr id="10" name="Image 3" descr="https://kimi-img.moonshot.cn/pub/slides/slides_tmpl/image/25-08-27-20:02:16-d2nf7i18bjvh7rlj06gg.png"/>
          <p:cNvPicPr>
            <a:picLocks noChangeAspect="1"/>
          </p:cNvPicPr>
          <p:nvPr/>
        </p:nvPicPr>
        <p:blipFill>
          <a:blip r:embed="rId4"/>
          <a:stretch>
            <a:fillRect/>
          </a:stretch>
        </p:blipFill>
        <p:spPr>
          <a:xfrm>
            <a:off x="897255" y="1840230"/>
            <a:ext cx="3430905" cy="1254760"/>
          </a:xfrm>
          <a:prstGeom prst="rect">
            <a:avLst/>
          </a:prstGeom>
        </p:spPr>
      </p:pic>
      <p:sp>
        <p:nvSpPr>
          <p:cNvPr id="11" name="Shape 5"/>
          <p:cNvSpPr/>
          <p:nvPr/>
        </p:nvSpPr>
        <p:spPr>
          <a:xfrm rot="13500000">
            <a:off x="927735" y="3230245"/>
            <a:ext cx="190500" cy="204470"/>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2" name="Shape 6"/>
          <p:cNvSpPr/>
          <p:nvPr/>
        </p:nvSpPr>
        <p:spPr>
          <a:xfrm>
            <a:off x="8203565" y="2997835"/>
            <a:ext cx="3220720" cy="3533140"/>
          </a:xfrm>
          <a:prstGeom prst="rect">
            <a:avLst/>
          </a:prstGeom>
          <a:solidFill>
            <a:srgbClr val="FFFFFF">
              <a:alpha val="8235"/>
            </a:srgbClr>
          </a:solidFill>
        </p:spPr>
      </p:sp>
      <p:sp>
        <p:nvSpPr>
          <p:cNvPr id="13" name="Shape 7"/>
          <p:cNvSpPr/>
          <p:nvPr/>
        </p:nvSpPr>
        <p:spPr>
          <a:xfrm rot="13500000">
            <a:off x="8204943" y="3242306"/>
            <a:ext cx="190478" cy="190478"/>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4" name="Shape 8"/>
          <p:cNvSpPr/>
          <p:nvPr/>
        </p:nvSpPr>
        <p:spPr>
          <a:xfrm rot="13500000">
            <a:off x="4629803" y="2071497"/>
            <a:ext cx="190478" cy="190478"/>
          </a:xfrm>
          <a:prstGeom prst="rtTriangle">
            <a:avLst/>
          </a:prstGeom>
          <a:gradFill flip="none" rotWithShape="1">
            <a:gsLst>
              <a:gs pos="0">
                <a:srgbClr val="004BA0"/>
              </a:gs>
              <a:gs pos="50000">
                <a:srgbClr val="1F5EC3"/>
              </a:gs>
              <a:gs pos="100000">
                <a:srgbClr val="4E96D8"/>
              </a:gs>
            </a:gsLst>
            <a:lin ang="5400000" scaled="1"/>
          </a:gradFill>
          <a:effectLst>
            <a:outerShdw blurRad="145102" dist="50800" dir="2700000" algn="bl" rotWithShape="0">
              <a:srgbClr val="517BDA">
                <a:alpha val="76471"/>
              </a:srgbClr>
            </a:outerShdw>
          </a:effectLst>
        </p:spPr>
      </p:sp>
      <p:sp>
        <p:nvSpPr>
          <p:cNvPr id="15" name="Text 9"/>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Conservation of Momentum</a:t>
            </a:r>
            <a:endParaRPr lang="en-US" sz="1600" dirty="0"/>
          </a:p>
        </p:txBody>
      </p:sp>
      <p:pic>
        <p:nvPicPr>
          <p:cNvPr id="16" name="Image 4" descr="https://kimi-img.moonshot.cn/pub/slides/slides_tmpl/image/25-08-27-20:02:06-d2nf7fh8bjvh7rlj060g.png"/>
          <p:cNvPicPr>
            <a:picLocks noChangeAspect="1"/>
          </p:cNvPicPr>
          <p:nvPr/>
        </p:nvPicPr>
        <p:blipFill>
          <a:blip r:embed="rId5"/>
          <a:stretch>
            <a:fillRect/>
          </a:stretch>
        </p:blipFill>
        <p:spPr>
          <a:xfrm>
            <a:off x="662882" y="495145"/>
            <a:ext cx="1371600" cy="304800"/>
          </a:xfrm>
          <a:prstGeom prst="rect">
            <a:avLst/>
          </a:prstGeom>
        </p:spPr>
      </p:pic>
      <p:sp>
        <p:nvSpPr>
          <p:cNvPr id="17" name="Shape 10"/>
          <p:cNvSpPr/>
          <p:nvPr/>
        </p:nvSpPr>
        <p:spPr>
          <a:xfrm>
            <a:off x="1222375" y="2474595"/>
            <a:ext cx="701040" cy="525780"/>
          </a:xfrm>
          <a:prstGeom prst="rect">
            <a:avLst/>
          </a:prstGeom>
          <a:solidFill>
            <a:srgbClr val="000000">
              <a:alpha val="0"/>
            </a:srgbClr>
          </a:solidFill>
        </p:spPr>
      </p:sp>
      <p:sp>
        <p:nvSpPr>
          <p:cNvPr id="18" name="Text 11"/>
          <p:cNvSpPr/>
          <p:nvPr/>
        </p:nvSpPr>
        <p:spPr>
          <a:xfrm>
            <a:off x="1222375" y="2474595"/>
            <a:ext cx="701040" cy="525780"/>
          </a:xfrm>
          <a:prstGeom prst="rect">
            <a:avLst/>
          </a:prstGeom>
          <a:noFill/>
        </p:spPr>
        <p:txBody>
          <a:bodyPr wrap="square" lIns="0" tIns="0" rIns="0" bIns="0" rtlCol="0" anchor="t"/>
          <a:lstStyle/>
          <a:p>
            <a:pPr>
              <a:lnSpc>
                <a:spcPct val="110000"/>
              </a:lnSpc>
            </a:pPr>
            <a:r>
              <a:rPr lang="en-US" sz="3200" dirty="0">
                <a:solidFill>
                  <a:srgbClr val="FFFFFF"/>
                </a:solidFill>
                <a:latin typeface="MiSans" pitchFamily="34" charset="-122"/>
                <a:ea typeface="MiSans" pitchFamily="34" charset="-122"/>
                <a:cs typeface="MiSans" pitchFamily="34" charset="-120"/>
              </a:rPr>
              <a:t>01</a:t>
            </a:r>
            <a:endParaRPr lang="en-US" sz="1600" dirty="0"/>
          </a:p>
        </p:txBody>
      </p:sp>
      <p:sp>
        <p:nvSpPr>
          <p:cNvPr id="19" name="Shape 12"/>
          <p:cNvSpPr/>
          <p:nvPr/>
        </p:nvSpPr>
        <p:spPr>
          <a:xfrm>
            <a:off x="4595495" y="1845945"/>
            <a:ext cx="3145155" cy="3798768"/>
          </a:xfrm>
          <a:prstGeom prst="rect">
            <a:avLst/>
          </a:prstGeom>
          <a:solidFill>
            <a:srgbClr val="FFFFFF">
              <a:alpha val="8235"/>
            </a:srgbClr>
          </a:solidFill>
        </p:spPr>
      </p:sp>
      <p:sp>
        <p:nvSpPr>
          <p:cNvPr id="20" name="Text 13"/>
          <p:cNvSpPr/>
          <p:nvPr/>
        </p:nvSpPr>
        <p:spPr>
          <a:xfrm>
            <a:off x="1247140" y="3228340"/>
            <a:ext cx="2893060"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Isolated System Condition</a:t>
            </a:r>
            <a:endParaRPr lang="en-US" sz="1600" dirty="0"/>
          </a:p>
        </p:txBody>
      </p:sp>
      <p:sp>
        <p:nvSpPr>
          <p:cNvPr id="21" name="Text 14"/>
          <p:cNvSpPr/>
          <p:nvPr/>
        </p:nvSpPr>
        <p:spPr>
          <a:xfrm>
            <a:off x="898525" y="3739515"/>
            <a:ext cx="3397885" cy="276225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Total momentum is conserved when net external force equals zero, regardless of internal forces' complexity. This principle applies to collisions, explosions, and any interaction where external influences are negligible. The vector nature requires conservation in each direction separately—x-momentum and y-momentum are independently conserved in 2D problems.</a:t>
            </a:r>
            <a:endParaRPr lang="en-US" sz="1600" dirty="0"/>
          </a:p>
        </p:txBody>
      </p:sp>
      <p:sp>
        <p:nvSpPr>
          <p:cNvPr id="22" name="Shape 15"/>
          <p:cNvSpPr/>
          <p:nvPr/>
        </p:nvSpPr>
        <p:spPr>
          <a:xfrm>
            <a:off x="4618653" y="5644713"/>
            <a:ext cx="926582" cy="492840"/>
          </a:xfrm>
          <a:prstGeom prst="rect">
            <a:avLst/>
          </a:prstGeom>
          <a:solidFill>
            <a:srgbClr val="000000">
              <a:alpha val="0"/>
            </a:srgbClr>
          </a:solidFill>
        </p:spPr>
      </p:sp>
      <p:sp>
        <p:nvSpPr>
          <p:cNvPr id="23" name="Text 16"/>
          <p:cNvSpPr/>
          <p:nvPr/>
        </p:nvSpPr>
        <p:spPr>
          <a:xfrm>
            <a:off x="4618653" y="5644713"/>
            <a:ext cx="926582" cy="492840"/>
          </a:xfrm>
          <a:prstGeom prst="rect">
            <a:avLst/>
          </a:prstGeom>
          <a:noFill/>
        </p:spPr>
        <p:txBody>
          <a:bodyPr wrap="square" lIns="0" tIns="0" rIns="0" bIns="0" rtlCol="0" anchor="t"/>
          <a:lstStyle/>
          <a:p>
            <a:pPr>
              <a:lnSpc>
                <a:spcPct val="110000"/>
              </a:lnSpc>
            </a:pPr>
            <a:r>
              <a:rPr lang="en-US" sz="3200" dirty="0">
                <a:solidFill>
                  <a:srgbClr val="FFFFFF"/>
                </a:solidFill>
                <a:latin typeface="MiSans" pitchFamily="34" charset="-122"/>
                <a:ea typeface="MiSans" pitchFamily="34" charset="-122"/>
                <a:cs typeface="MiSans" pitchFamily="34" charset="-120"/>
              </a:rPr>
              <a:t>02</a:t>
            </a:r>
            <a:endParaRPr lang="en-US" sz="1600" dirty="0"/>
          </a:p>
        </p:txBody>
      </p:sp>
      <p:sp>
        <p:nvSpPr>
          <p:cNvPr id="24" name="Text 17"/>
          <p:cNvSpPr/>
          <p:nvPr/>
        </p:nvSpPr>
        <p:spPr>
          <a:xfrm>
            <a:off x="4938395" y="2058035"/>
            <a:ext cx="2687320"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Elastic vs. Inelastic Collisions</a:t>
            </a:r>
            <a:endParaRPr lang="en-US" sz="1600" dirty="0"/>
          </a:p>
        </p:txBody>
      </p:sp>
      <p:sp>
        <p:nvSpPr>
          <p:cNvPr id="25" name="Text 18"/>
          <p:cNvSpPr/>
          <p:nvPr/>
        </p:nvSpPr>
        <p:spPr>
          <a:xfrm>
            <a:off x="4594860" y="2568575"/>
            <a:ext cx="3225800" cy="307613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Elastic collisions conserve both momentum and kinetic energy, with objects bouncing apart. Inelastic collisions conserve momentum but not kinetic energy—some converts to thermal or deformation energy. Perfectly inelastic collisions have objects sticking together, maximizing kinetic energy loss while still conserving momentum, calculable from combined mass and common final velocity.</a:t>
            </a:r>
            <a:endParaRPr lang="en-US" sz="1600" dirty="0"/>
          </a:p>
        </p:txBody>
      </p:sp>
      <p:sp>
        <p:nvSpPr>
          <p:cNvPr id="26" name="Shape 19"/>
          <p:cNvSpPr/>
          <p:nvPr/>
        </p:nvSpPr>
        <p:spPr>
          <a:xfrm>
            <a:off x="8576490" y="2474715"/>
            <a:ext cx="652471" cy="525850"/>
          </a:xfrm>
          <a:prstGeom prst="rect">
            <a:avLst/>
          </a:prstGeom>
          <a:solidFill>
            <a:srgbClr val="000000">
              <a:alpha val="0"/>
            </a:srgbClr>
          </a:solidFill>
        </p:spPr>
      </p:sp>
      <p:sp>
        <p:nvSpPr>
          <p:cNvPr id="27" name="Text 20"/>
          <p:cNvSpPr/>
          <p:nvPr/>
        </p:nvSpPr>
        <p:spPr>
          <a:xfrm>
            <a:off x="8576490" y="2474715"/>
            <a:ext cx="652471" cy="525850"/>
          </a:xfrm>
          <a:prstGeom prst="rect">
            <a:avLst/>
          </a:prstGeom>
          <a:noFill/>
        </p:spPr>
        <p:txBody>
          <a:bodyPr wrap="square" lIns="0" tIns="0" rIns="0" bIns="0" rtlCol="0" anchor="t"/>
          <a:lstStyle/>
          <a:p>
            <a:pPr>
              <a:lnSpc>
                <a:spcPct val="110000"/>
              </a:lnSpc>
            </a:pPr>
            <a:r>
              <a:rPr lang="en-US" sz="3200" dirty="0">
                <a:solidFill>
                  <a:srgbClr val="FFFFFF"/>
                </a:solidFill>
                <a:latin typeface="MiSans" pitchFamily="34" charset="-122"/>
                <a:ea typeface="MiSans" pitchFamily="34" charset="-122"/>
                <a:cs typeface="MiSans" pitchFamily="34" charset="-120"/>
              </a:rPr>
              <a:t>03</a:t>
            </a:r>
            <a:endParaRPr lang="en-US" sz="1600" dirty="0"/>
          </a:p>
        </p:txBody>
      </p:sp>
      <p:sp>
        <p:nvSpPr>
          <p:cNvPr id="28" name="Text 21"/>
          <p:cNvSpPr/>
          <p:nvPr/>
        </p:nvSpPr>
        <p:spPr>
          <a:xfrm>
            <a:off x="8575675" y="3228340"/>
            <a:ext cx="2726690"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Explosion Problems</a:t>
            </a:r>
            <a:endParaRPr lang="en-US" sz="1600" dirty="0"/>
          </a:p>
        </p:txBody>
      </p:sp>
      <p:sp>
        <p:nvSpPr>
          <p:cNvPr id="29" name="Text 22"/>
          <p:cNvSpPr/>
          <p:nvPr/>
        </p:nvSpPr>
        <p:spPr>
          <a:xfrm>
            <a:off x="8217005" y="3432313"/>
            <a:ext cx="3175635" cy="3076138"/>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Explosions are reverse collisions where internal forces convert stored energy into kinetic energy. Initially stationary systems have zero total momentum, so fragments must move in directions ensuring vector sum remains zero. This principle explains rocket propulsion, recoil, and fragment scattering patterns, with momentum conservation determining post-explosion velocities from mass ratios.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0" y="0"/>
            <a:ext cx="12192000" cy="6864626"/>
          </a:xfrm>
          <a:prstGeom prst="rect">
            <a:avLst/>
          </a:prstGeom>
        </p:spPr>
      </p:pic>
      <p:pic>
        <p:nvPicPr>
          <p:cNvPr id="3" name="Image 1" descr="https://kimi-img.moonshot.cn/pub/slides/slides_tmpl/image/25-08-27-20:02:15-d2nf7hp8bjvh7rlj06bg.png"/>
          <p:cNvPicPr>
            <a:picLocks noChangeAspect="1"/>
          </p:cNvPicPr>
          <p:nvPr/>
        </p:nvPicPr>
        <p:blipFill>
          <a:blip r:embed="rId2"/>
          <a:stretch>
            <a:fillRect/>
          </a:stretch>
        </p:blipFill>
        <p:spPr>
          <a:xfrm>
            <a:off x="-189100" y="6626"/>
            <a:ext cx="6299200" cy="6858000"/>
          </a:xfrm>
          <a:prstGeom prst="rect">
            <a:avLst/>
          </a:prstGeom>
        </p:spPr>
      </p:pic>
      <p:sp>
        <p:nvSpPr>
          <p:cNvPr id="4" name="Shape 0"/>
          <p:cNvSpPr/>
          <p:nvPr/>
        </p:nvSpPr>
        <p:spPr>
          <a:xfrm>
            <a:off x="6136708" y="4206069"/>
            <a:ext cx="5236592" cy="1909146"/>
          </a:xfrm>
          <a:prstGeom prst="rect">
            <a:avLst/>
          </a:prstGeom>
          <a:solidFill>
            <a:srgbClr val="FFFFFF">
              <a:alpha val="8235"/>
            </a:srgbClr>
          </a:solidFill>
        </p:spPr>
      </p:sp>
      <p:sp>
        <p:nvSpPr>
          <p:cNvPr id="5" name="Shape 1"/>
          <p:cNvSpPr/>
          <p:nvPr/>
        </p:nvSpPr>
        <p:spPr>
          <a:xfrm>
            <a:off x="6136708" y="2006879"/>
            <a:ext cx="5236592" cy="1909146"/>
          </a:xfrm>
          <a:prstGeom prst="rect">
            <a:avLst/>
          </a:prstGeom>
          <a:solidFill>
            <a:srgbClr val="FFFFFF">
              <a:alpha val="8235"/>
            </a:srgbClr>
          </a:solidFill>
        </p:spPr>
      </p:sp>
      <p:sp>
        <p:nvSpPr>
          <p:cNvPr id="6" name="Text 2"/>
          <p:cNvSpPr/>
          <p:nvPr/>
        </p:nvSpPr>
        <p:spPr>
          <a:xfrm>
            <a:off x="934263" y="479263"/>
            <a:ext cx="3049055" cy="606887"/>
          </a:xfrm>
          <a:prstGeom prst="rect">
            <a:avLst/>
          </a:prstGeom>
          <a:noFill/>
        </p:spPr>
        <p:txBody>
          <a:bodyPr wrap="square" lIns="91440" tIns="45720" rIns="91440" bIns="45720" rtlCol="0" anchor="ctr"/>
          <a:lstStyle/>
          <a:p>
            <a:pPr>
              <a:lnSpc>
                <a:spcPct val="90000"/>
              </a:lnSpc>
            </a:pPr>
            <a:r>
              <a:rPr lang="en-US" sz="4400" dirty="0">
                <a:solidFill>
                  <a:srgbClr val="000000"/>
                </a:solidFill>
                <a:latin typeface="MiSans" pitchFamily="34" charset="-122"/>
                <a:ea typeface="MiSans" pitchFamily="34" charset="-122"/>
                <a:cs typeface="MiSans" pitchFamily="34" charset="-120"/>
              </a:rPr>
              <a:t> </a:t>
            </a:r>
            <a:endParaRPr lang="en-US" sz="1600" dirty="0"/>
          </a:p>
        </p:txBody>
      </p:sp>
      <p:pic>
        <p:nvPicPr>
          <p:cNvPr id="7" name="Image 2" descr="https://kimi-img.moonshot.cn/pub/slides/slides_tmpl/image/25-08-27-20:02:13-d2nf7h98bjvh7rlj068g.png"/>
          <p:cNvPicPr>
            <a:picLocks noChangeAspect="1"/>
          </p:cNvPicPr>
          <p:nvPr/>
        </p:nvPicPr>
        <p:blipFill>
          <a:blip r:embed="rId3"/>
          <a:stretch>
            <a:fillRect/>
          </a:stretch>
        </p:blipFill>
        <p:spPr>
          <a:xfrm>
            <a:off x="5198483" y="1759118"/>
            <a:ext cx="1219200" cy="1193800"/>
          </a:xfrm>
          <a:prstGeom prst="rect">
            <a:avLst/>
          </a:prstGeom>
        </p:spPr>
      </p:pic>
      <p:sp>
        <p:nvSpPr>
          <p:cNvPr id="8" name="Shape 3"/>
          <p:cNvSpPr/>
          <p:nvPr/>
        </p:nvSpPr>
        <p:spPr>
          <a:xfrm>
            <a:off x="779721" y="6270738"/>
            <a:ext cx="0" cy="125950"/>
          </a:xfrm>
          <a:prstGeom prst="line">
            <a:avLst/>
          </a:prstGeom>
          <a:noFill/>
          <a:ln w="12700">
            <a:solidFill>
              <a:srgbClr val="FFFFFF"/>
            </a:solidFill>
            <a:prstDash val="solid"/>
            <a:headEnd type="none"/>
            <a:tailEnd type="none"/>
          </a:ln>
        </p:spPr>
      </p:sp>
      <p:sp>
        <p:nvSpPr>
          <p:cNvPr id="9" name="Shape 4"/>
          <p:cNvSpPr/>
          <p:nvPr/>
        </p:nvSpPr>
        <p:spPr>
          <a:xfrm>
            <a:off x="867722" y="6270738"/>
            <a:ext cx="0" cy="125950"/>
          </a:xfrm>
          <a:prstGeom prst="line">
            <a:avLst/>
          </a:prstGeom>
          <a:noFill/>
          <a:ln w="12700">
            <a:solidFill>
              <a:srgbClr val="FFFFFF"/>
            </a:solidFill>
            <a:prstDash val="solid"/>
            <a:headEnd type="none"/>
            <a:tailEnd type="none"/>
          </a:ln>
        </p:spPr>
      </p:sp>
      <p:sp>
        <p:nvSpPr>
          <p:cNvPr id="10" name="Shape 5"/>
          <p:cNvSpPr/>
          <p:nvPr/>
        </p:nvSpPr>
        <p:spPr>
          <a:xfrm>
            <a:off x="955722" y="6166356"/>
            <a:ext cx="0" cy="220414"/>
          </a:xfrm>
          <a:prstGeom prst="line">
            <a:avLst/>
          </a:prstGeom>
          <a:noFill/>
          <a:ln w="12700">
            <a:solidFill>
              <a:srgbClr val="FFFFFF"/>
            </a:solidFill>
            <a:prstDash val="solid"/>
            <a:headEnd type="none"/>
            <a:tailEnd type="none"/>
          </a:ln>
        </p:spPr>
      </p:sp>
      <p:sp>
        <p:nvSpPr>
          <p:cNvPr id="11" name="Shape 6"/>
          <p:cNvSpPr/>
          <p:nvPr/>
        </p:nvSpPr>
        <p:spPr>
          <a:xfrm>
            <a:off x="1043723" y="6270738"/>
            <a:ext cx="0" cy="125950"/>
          </a:xfrm>
          <a:prstGeom prst="line">
            <a:avLst/>
          </a:prstGeom>
          <a:noFill/>
          <a:ln w="12700">
            <a:solidFill>
              <a:srgbClr val="FFFFFF"/>
            </a:solidFill>
            <a:prstDash val="solid"/>
            <a:headEnd type="none"/>
            <a:tailEnd type="none"/>
          </a:ln>
        </p:spPr>
      </p:sp>
      <p:sp>
        <p:nvSpPr>
          <p:cNvPr id="12" name="Shape 7"/>
          <p:cNvSpPr/>
          <p:nvPr/>
        </p:nvSpPr>
        <p:spPr>
          <a:xfrm>
            <a:off x="1131723" y="6270738"/>
            <a:ext cx="0" cy="125950"/>
          </a:xfrm>
          <a:prstGeom prst="line">
            <a:avLst/>
          </a:prstGeom>
          <a:noFill/>
          <a:ln w="12700">
            <a:solidFill>
              <a:srgbClr val="FFFFFF"/>
            </a:solidFill>
            <a:prstDash val="solid"/>
            <a:headEnd type="none"/>
            <a:tailEnd type="none"/>
          </a:ln>
        </p:spPr>
      </p:sp>
      <p:sp>
        <p:nvSpPr>
          <p:cNvPr id="13" name="Shape 8"/>
          <p:cNvSpPr/>
          <p:nvPr/>
        </p:nvSpPr>
        <p:spPr>
          <a:xfrm flipH="1">
            <a:off x="11314843" y="981848"/>
            <a:ext cx="77797" cy="72000"/>
          </a:xfrm>
          <a:prstGeom prst="ellipse">
            <a:avLst/>
          </a:prstGeom>
          <a:solidFill>
            <a:srgbClr val="FFFFFF"/>
          </a:solidFill>
        </p:spPr>
      </p:sp>
      <p:pic>
        <p:nvPicPr>
          <p:cNvPr id="14" name="Image 3" descr="https://kimi-img.moonshot.cn/pub/slides/slides_tmpl/image/25-08-27-20:02:13-d2nf7h98bjvh7rlj068g.png"/>
          <p:cNvPicPr>
            <a:picLocks noChangeAspect="1"/>
          </p:cNvPicPr>
          <p:nvPr/>
        </p:nvPicPr>
        <p:blipFill>
          <a:blip r:embed="rId3"/>
          <a:stretch>
            <a:fillRect/>
          </a:stretch>
        </p:blipFill>
        <p:spPr>
          <a:xfrm>
            <a:off x="5198483" y="3971966"/>
            <a:ext cx="1219200" cy="1193800"/>
          </a:xfrm>
          <a:prstGeom prst="rect">
            <a:avLst/>
          </a:prstGeom>
        </p:spPr>
      </p:pic>
      <p:sp>
        <p:nvSpPr>
          <p:cNvPr id="15" name="Shape 9"/>
          <p:cNvSpPr/>
          <p:nvPr/>
        </p:nvSpPr>
        <p:spPr>
          <a:xfrm flipH="1">
            <a:off x="11186668" y="981848"/>
            <a:ext cx="77797" cy="72000"/>
          </a:xfrm>
          <a:prstGeom prst="ellipse">
            <a:avLst/>
          </a:prstGeom>
          <a:solidFill>
            <a:srgbClr val="FFFFFF">
              <a:alpha val="56471"/>
            </a:srgbClr>
          </a:solidFill>
        </p:spPr>
      </p:sp>
      <p:sp>
        <p:nvSpPr>
          <p:cNvPr id="16" name="Shape 10"/>
          <p:cNvSpPr/>
          <p:nvPr/>
        </p:nvSpPr>
        <p:spPr>
          <a:xfrm flipH="1">
            <a:off x="11055654" y="981848"/>
            <a:ext cx="77797" cy="72000"/>
          </a:xfrm>
          <a:prstGeom prst="ellipse">
            <a:avLst/>
          </a:prstGeom>
          <a:solidFill>
            <a:srgbClr val="FFFFFF"/>
          </a:solidFill>
        </p:spPr>
      </p:sp>
      <p:sp>
        <p:nvSpPr>
          <p:cNvPr id="17" name="Shape 11"/>
          <p:cNvSpPr/>
          <p:nvPr/>
        </p:nvSpPr>
        <p:spPr>
          <a:xfrm flipH="1">
            <a:off x="10924640" y="981848"/>
            <a:ext cx="77797" cy="72000"/>
          </a:xfrm>
          <a:prstGeom prst="ellipse">
            <a:avLst/>
          </a:prstGeom>
          <a:solidFill>
            <a:srgbClr val="FFFFFF">
              <a:alpha val="56471"/>
            </a:srgbClr>
          </a:solidFill>
        </p:spPr>
      </p:sp>
      <p:sp>
        <p:nvSpPr>
          <p:cNvPr id="18" name="Shape 12"/>
          <p:cNvSpPr/>
          <p:nvPr/>
        </p:nvSpPr>
        <p:spPr>
          <a:xfrm rot="13500000">
            <a:off x="6265096" y="2177027"/>
            <a:ext cx="224914" cy="224914"/>
          </a:xfrm>
          <a:prstGeom prst="rtTriangle">
            <a:avLst/>
          </a:prstGeom>
          <a:solidFill>
            <a:srgbClr val="517BDA"/>
          </a:solidFill>
          <a:effectLst>
            <a:outerShdw blurRad="145102" dist="50800" dir="2700000" algn="bl" rotWithShape="0">
              <a:srgbClr val="517BDA">
                <a:alpha val="76471"/>
              </a:srgbClr>
            </a:outerShdw>
          </a:effectLst>
        </p:spPr>
      </p:sp>
      <p:sp>
        <p:nvSpPr>
          <p:cNvPr id="19" name="Shape 13"/>
          <p:cNvSpPr/>
          <p:nvPr/>
        </p:nvSpPr>
        <p:spPr>
          <a:xfrm rot="13500000">
            <a:off x="6265096" y="4376217"/>
            <a:ext cx="224914" cy="224914"/>
          </a:xfrm>
          <a:prstGeom prst="rtTriangle">
            <a:avLst/>
          </a:prstGeom>
          <a:solidFill>
            <a:srgbClr val="517BDA"/>
          </a:solidFill>
          <a:effectLst>
            <a:outerShdw blurRad="145102" dist="50800" dir="2700000" algn="bl" rotWithShape="0">
              <a:srgbClr val="517BDA">
                <a:alpha val="76471"/>
              </a:srgbClr>
            </a:outerShdw>
          </a:effectLst>
        </p:spPr>
      </p:sp>
      <p:sp>
        <p:nvSpPr>
          <p:cNvPr id="20" name="Text 14"/>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Two-Dimensional Collisions</a:t>
            </a:r>
            <a:endParaRPr lang="en-US" sz="1600" dirty="0"/>
          </a:p>
        </p:txBody>
      </p:sp>
      <p:pic>
        <p:nvPicPr>
          <p:cNvPr id="21" name="Image 4"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22" name="Shape 15"/>
          <p:cNvSpPr/>
          <p:nvPr/>
        </p:nvSpPr>
        <p:spPr>
          <a:xfrm>
            <a:off x="5481848" y="2090786"/>
            <a:ext cx="652471" cy="460126"/>
          </a:xfrm>
          <a:prstGeom prst="rect">
            <a:avLst/>
          </a:prstGeom>
          <a:solidFill>
            <a:srgbClr val="000000">
              <a:alpha val="0"/>
            </a:srgbClr>
          </a:solidFill>
        </p:spPr>
      </p:sp>
      <p:sp>
        <p:nvSpPr>
          <p:cNvPr id="23" name="Text 16"/>
          <p:cNvSpPr/>
          <p:nvPr/>
        </p:nvSpPr>
        <p:spPr>
          <a:xfrm>
            <a:off x="5481848" y="2090786"/>
            <a:ext cx="652471" cy="460126"/>
          </a:xfrm>
          <a:prstGeom prst="rect">
            <a:avLst/>
          </a:prstGeom>
          <a:noFill/>
        </p:spPr>
        <p:txBody>
          <a:bodyPr wrap="square" lIns="0" tIns="0" rIns="0" bIns="0" rtlCol="0" anchor="t"/>
          <a:lstStyle/>
          <a:p>
            <a:pPr algn="ctr">
              <a:lnSpc>
                <a:spcPct val="110000"/>
              </a:lnSpc>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24" name="Text 17"/>
          <p:cNvSpPr/>
          <p:nvPr/>
        </p:nvSpPr>
        <p:spPr>
          <a:xfrm>
            <a:off x="6619441" y="2140748"/>
            <a:ext cx="3788217"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Component-wise Conservation</a:t>
            </a:r>
            <a:endParaRPr lang="en-US" sz="1600" dirty="0"/>
          </a:p>
        </p:txBody>
      </p:sp>
      <p:sp>
        <p:nvSpPr>
          <p:cNvPr id="25" name="Text 18"/>
          <p:cNvSpPr/>
          <p:nvPr/>
        </p:nvSpPr>
        <p:spPr>
          <a:xfrm>
            <a:off x="2512272" y="2686726"/>
            <a:ext cx="8861028" cy="188214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Two-dimensional collisions require separate momentum conservation equations for x and y directions. Write p_x_initial = p_x_final and p_y_initial = p_y_final as independent scalar equations. This decomposition transforms vector problems into solvable algebraic systems, with unknown velocities determined from known masses and initial conditions through simultaneous equation solving.</a:t>
            </a:r>
            <a:endParaRPr lang="en-US" sz="1600" dirty="0"/>
          </a:p>
        </p:txBody>
      </p:sp>
      <p:sp>
        <p:nvSpPr>
          <p:cNvPr id="26" name="Shape 19"/>
          <p:cNvSpPr/>
          <p:nvPr/>
        </p:nvSpPr>
        <p:spPr>
          <a:xfrm>
            <a:off x="5481848" y="4313489"/>
            <a:ext cx="652471" cy="460126"/>
          </a:xfrm>
          <a:prstGeom prst="rect">
            <a:avLst/>
          </a:prstGeom>
          <a:solidFill>
            <a:srgbClr val="000000">
              <a:alpha val="0"/>
            </a:srgbClr>
          </a:solidFill>
        </p:spPr>
      </p:sp>
      <p:sp>
        <p:nvSpPr>
          <p:cNvPr id="27" name="Text 20"/>
          <p:cNvSpPr/>
          <p:nvPr/>
        </p:nvSpPr>
        <p:spPr>
          <a:xfrm>
            <a:off x="5481848" y="4313489"/>
            <a:ext cx="652471" cy="460126"/>
          </a:xfrm>
          <a:prstGeom prst="rect">
            <a:avLst/>
          </a:prstGeom>
          <a:noFill/>
        </p:spPr>
        <p:txBody>
          <a:bodyPr wrap="square" lIns="0" tIns="0" rIns="0" bIns="0" rtlCol="0" anchor="t"/>
          <a:lstStyle/>
          <a:p>
            <a:pPr algn="ctr">
              <a:lnSpc>
                <a:spcPct val="110000"/>
              </a:lnSpc>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8" name="Text 21"/>
          <p:cNvSpPr/>
          <p:nvPr/>
        </p:nvSpPr>
        <p:spPr>
          <a:xfrm>
            <a:off x="6619442" y="4352136"/>
            <a:ext cx="3788216" cy="58757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Glancing Collisions and Vector Diagrams</a:t>
            </a:r>
            <a:endParaRPr lang="en-US" sz="1600" dirty="0"/>
          </a:p>
        </p:txBody>
      </p:sp>
      <p:sp>
        <p:nvSpPr>
          <p:cNvPr id="29" name="Text 22"/>
          <p:cNvSpPr/>
          <p:nvPr/>
        </p:nvSpPr>
        <p:spPr>
          <a:xfrm>
            <a:off x="2731075" y="4939709"/>
            <a:ext cx="8642225" cy="218059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Glancing collisions at angles produce scattered trajectories analyzable through vector addition. Momentum vector diagrams visualize conservation geometrically—the initial momentum vector equals the vector sum of final momenta. Elastic 2D collisions with equal masses show particularly symmetric scattering patterns, with velocity vectors forming specific geometric relationships determined by impact parameter.</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3426"/>
            <a:ext cx="12191999" cy="6864626"/>
          </a:xfrm>
          <a:prstGeom prst="rect">
            <a:avLst/>
          </a:prstGeom>
        </p:spPr>
      </p:pic>
      <p:sp>
        <p:nvSpPr>
          <p:cNvPr id="3" name="Text 0"/>
          <p:cNvSpPr/>
          <p:nvPr/>
        </p:nvSpPr>
        <p:spPr>
          <a:xfrm>
            <a:off x="4119359" y="3709831"/>
            <a:ext cx="3832016" cy="489347"/>
          </a:xfrm>
          <a:prstGeom prst="rect">
            <a:avLst/>
          </a:prstGeom>
          <a:noFill/>
        </p:spPr>
        <p:txBody>
          <a:bodyPr wrap="square" lIns="0" tIns="0" rIns="0" bIns="0" rtlCol="0" anchor="t">
            <a:spAutoFit/>
          </a:bodyPr>
          <a:lstStyle/>
          <a:p>
            <a:pPr algn="ctr">
              <a:lnSpc>
                <a:spcPct val="100000"/>
              </a:lnSpc>
            </a:pPr>
            <a:r>
              <a:rPr lang="en-US" sz="3200" dirty="0">
                <a:solidFill>
                  <a:srgbClr val="FFFFFF"/>
                </a:solidFill>
                <a:latin typeface="MiSans" pitchFamily="34" charset="-122"/>
                <a:ea typeface="MiSans" pitchFamily="34" charset="-122"/>
                <a:cs typeface="MiSans" pitchFamily="34" charset="-120"/>
              </a:rPr>
              <a:t>Rotational Motion</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9" name="Shape 6"/>
          <p:cNvSpPr/>
          <p:nvPr/>
        </p:nvSpPr>
        <p:spPr>
          <a:xfrm>
            <a:off x="10796832" y="6396446"/>
            <a:ext cx="116844" cy="116844"/>
          </a:xfrm>
          <a:prstGeom prst="ellipse">
            <a:avLst/>
          </a:prstGeom>
          <a:solidFill>
            <a:srgbClr val="FFFFFF"/>
          </a:solidFill>
        </p:spPr>
      </p:sp>
      <p:sp>
        <p:nvSpPr>
          <p:cNvPr id="10" name="Shape 7"/>
          <p:cNvSpPr/>
          <p:nvPr/>
        </p:nvSpPr>
        <p:spPr>
          <a:xfrm>
            <a:off x="10989337" y="6396446"/>
            <a:ext cx="116844" cy="116844"/>
          </a:xfrm>
          <a:prstGeom prst="ellipse">
            <a:avLst/>
          </a:prstGeom>
          <a:solidFill>
            <a:srgbClr val="FFFFFF">
              <a:alpha val="56471"/>
            </a:srgbClr>
          </a:solidFill>
        </p:spPr>
      </p:sp>
      <p:sp>
        <p:nvSpPr>
          <p:cNvPr id="11" name="Shape 8"/>
          <p:cNvSpPr/>
          <p:nvPr/>
        </p:nvSpPr>
        <p:spPr>
          <a:xfrm>
            <a:off x="11186107" y="6396446"/>
            <a:ext cx="116844" cy="116844"/>
          </a:xfrm>
          <a:prstGeom prst="ellipse">
            <a:avLst/>
          </a:prstGeom>
          <a:solidFill>
            <a:srgbClr val="FFFFFF"/>
          </a:solidFill>
        </p:spPr>
      </p:sp>
      <p:sp>
        <p:nvSpPr>
          <p:cNvPr id="12" name="Shape 9"/>
          <p:cNvSpPr/>
          <p:nvPr/>
        </p:nvSpPr>
        <p:spPr>
          <a:xfrm>
            <a:off x="11382877" y="6396446"/>
            <a:ext cx="116844" cy="116844"/>
          </a:xfrm>
          <a:prstGeom prst="ellipse">
            <a:avLst/>
          </a:prstGeom>
          <a:solidFill>
            <a:srgbClr val="FFFFFF">
              <a:alpha val="56471"/>
            </a:srgbClr>
          </a:solidFill>
        </p:spPr>
      </p:sp>
      <p:pic>
        <p:nvPicPr>
          <p:cNvPr id="13" name="Image 1" descr="https://kimi-img.moonshot.cn/pub/slides/slides_tmpl/image/25-08-27-20:02:06-d2nf7fh8bjvh7rlj0600.png"/>
          <p:cNvPicPr>
            <a:picLocks noChangeAspect="1"/>
          </p:cNvPicPr>
          <p:nvPr/>
        </p:nvPicPr>
        <p:blipFill>
          <a:blip r:embed="rId2"/>
          <a:stretch>
            <a:fillRect/>
          </a:stretch>
        </p:blipFill>
        <p:spPr>
          <a:xfrm>
            <a:off x="4267199" y="3446152"/>
            <a:ext cx="3657600" cy="12700"/>
          </a:xfrm>
          <a:prstGeom prst="rect">
            <a:avLst/>
          </a:prstGeom>
        </p:spPr>
      </p:pic>
      <p:sp>
        <p:nvSpPr>
          <p:cNvPr id="14" name="Shape 10"/>
          <p:cNvSpPr/>
          <p:nvPr/>
        </p:nvSpPr>
        <p:spPr>
          <a:xfrm>
            <a:off x="4893310" y="1477010"/>
            <a:ext cx="2284095" cy="2335530"/>
          </a:xfrm>
          <a:prstGeom prst="rect">
            <a:avLst/>
          </a:prstGeom>
          <a:solidFill>
            <a:srgbClr val="000000">
              <a:alpha val="0"/>
            </a:srgbClr>
          </a:solidFill>
        </p:spPr>
      </p:sp>
      <p:sp>
        <p:nvSpPr>
          <p:cNvPr id="15" name="Text 11"/>
          <p:cNvSpPr/>
          <p:nvPr/>
        </p:nvSpPr>
        <p:spPr>
          <a:xfrm>
            <a:off x="4893310" y="1477010"/>
            <a:ext cx="2284095" cy="2335530"/>
          </a:xfrm>
          <a:prstGeom prst="rect">
            <a:avLst/>
          </a:prstGeom>
          <a:noFill/>
        </p:spPr>
        <p:txBody>
          <a:bodyPr wrap="square" lIns="0" tIns="0" rIns="0" bIns="0" rtlCol="0" anchor="t"/>
          <a:lstStyle/>
          <a:p>
            <a:pPr>
              <a:lnSpc>
                <a:spcPct val="110000"/>
              </a:lnSpc>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05</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3178" y="-1"/>
            <a:ext cx="12195178" cy="6866415"/>
          </a:xfrm>
          <a:prstGeom prst="rect">
            <a:avLst/>
          </a:prstGeom>
        </p:spPr>
      </p:pic>
      <p:pic>
        <p:nvPicPr>
          <p:cNvPr id="3" name="Image 1" descr="https://kimi-img.moonshot.cn/pub/slides/slides_tmpl/image/25-08-27-20:02:17-d2nf7i98bjvh7rlj06kg.png"/>
          <p:cNvPicPr>
            <a:picLocks noChangeAspect="1"/>
          </p:cNvPicPr>
          <p:nvPr/>
        </p:nvPicPr>
        <p:blipFill>
          <a:blip r:embed="rId2"/>
          <a:stretch>
            <a:fillRect/>
          </a:stretch>
        </p:blipFill>
        <p:spPr>
          <a:xfrm>
            <a:off x="315543" y="1581381"/>
            <a:ext cx="11608234" cy="2044392"/>
          </a:xfrm>
          <a:prstGeom prst="rect">
            <a:avLst/>
          </a:prstGeom>
        </p:spPr>
      </p:pic>
      <p:sp>
        <p:nvSpPr>
          <p:cNvPr id="4" name="Shape 0"/>
          <p:cNvSpPr/>
          <p:nvPr/>
        </p:nvSpPr>
        <p:spPr>
          <a:xfrm flipH="1">
            <a:off x="11314843" y="981848"/>
            <a:ext cx="77797" cy="72000"/>
          </a:xfrm>
          <a:prstGeom prst="ellipse">
            <a:avLst/>
          </a:prstGeom>
          <a:solidFill>
            <a:srgbClr val="FFFFFF"/>
          </a:solidFill>
        </p:spPr>
      </p:sp>
      <p:sp>
        <p:nvSpPr>
          <p:cNvPr id="5" name="Shape 1"/>
          <p:cNvSpPr/>
          <p:nvPr/>
        </p:nvSpPr>
        <p:spPr>
          <a:xfrm flipH="1">
            <a:off x="11186668" y="981848"/>
            <a:ext cx="77797" cy="72000"/>
          </a:xfrm>
          <a:prstGeom prst="ellipse">
            <a:avLst/>
          </a:prstGeom>
          <a:solidFill>
            <a:srgbClr val="FFFFFF">
              <a:alpha val="56471"/>
            </a:srgbClr>
          </a:solidFill>
        </p:spPr>
      </p:sp>
      <p:sp>
        <p:nvSpPr>
          <p:cNvPr id="6" name="Shape 2"/>
          <p:cNvSpPr/>
          <p:nvPr/>
        </p:nvSpPr>
        <p:spPr>
          <a:xfrm flipH="1">
            <a:off x="11055654" y="981848"/>
            <a:ext cx="77797" cy="72000"/>
          </a:xfrm>
          <a:prstGeom prst="ellipse">
            <a:avLst/>
          </a:prstGeom>
          <a:solidFill>
            <a:srgbClr val="FFFFFF"/>
          </a:solidFill>
        </p:spPr>
      </p:sp>
      <p:sp>
        <p:nvSpPr>
          <p:cNvPr id="7" name="Shape 3"/>
          <p:cNvSpPr/>
          <p:nvPr/>
        </p:nvSpPr>
        <p:spPr>
          <a:xfrm flipH="1">
            <a:off x="10924640" y="981848"/>
            <a:ext cx="77797" cy="72000"/>
          </a:xfrm>
          <a:prstGeom prst="ellipse">
            <a:avLst/>
          </a:prstGeom>
          <a:solidFill>
            <a:srgbClr val="FFFFFF">
              <a:alpha val="56471"/>
            </a:srgbClr>
          </a:solidFill>
        </p:spPr>
      </p:sp>
      <p:pic>
        <p:nvPicPr>
          <p:cNvPr id="8" name="Image 2" descr="https://kimi-img.moonshot.cn/pub/slides/slides_tmpl/image/25-08-27-20:02:17-d2nf7i98bjvh7rlj06lg.png"/>
          <p:cNvPicPr>
            <a:picLocks noChangeAspect="1"/>
          </p:cNvPicPr>
          <p:nvPr/>
        </p:nvPicPr>
        <p:blipFill>
          <a:blip r:embed="rId3"/>
          <a:stretch>
            <a:fillRect/>
          </a:stretch>
        </p:blipFill>
        <p:spPr>
          <a:xfrm>
            <a:off x="295299" y="3187946"/>
            <a:ext cx="11737700" cy="2062219"/>
          </a:xfrm>
          <a:prstGeom prst="rect">
            <a:avLst/>
          </a:prstGeom>
        </p:spPr>
      </p:pic>
      <p:sp>
        <p:nvSpPr>
          <p:cNvPr id="9" name="Shape 4"/>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pic>
        <p:nvPicPr>
          <p:cNvPr id="10" name="Image 3" descr="https://kimi-img.moonshot.cn/pub/slides/slides_tmpl/image/25-08-27-20:02:17-d2nf7i98bjvh7rlj06kg.png"/>
          <p:cNvPicPr>
            <a:picLocks noChangeAspect="1"/>
          </p:cNvPicPr>
          <p:nvPr/>
        </p:nvPicPr>
        <p:blipFill>
          <a:blip r:embed="rId2"/>
          <a:stretch>
            <a:fillRect/>
          </a:stretch>
        </p:blipFill>
        <p:spPr>
          <a:xfrm>
            <a:off x="315543" y="4745205"/>
            <a:ext cx="11608234" cy="2044392"/>
          </a:xfrm>
          <a:prstGeom prst="rect">
            <a:avLst/>
          </a:prstGeom>
        </p:spPr>
      </p:pic>
      <p:sp>
        <p:nvSpPr>
          <p:cNvPr id="11" name="Text 5"/>
          <p:cNvSpPr/>
          <p:nvPr/>
        </p:nvSpPr>
        <p:spPr>
          <a:xfrm>
            <a:off x="542215" y="998076"/>
            <a:ext cx="9170780"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Rotational Kinematics Parallels</a:t>
            </a:r>
            <a:endParaRPr lang="en-US" sz="1600" dirty="0"/>
          </a:p>
        </p:txBody>
      </p:sp>
      <p:pic>
        <p:nvPicPr>
          <p:cNvPr id="12" name="Image 4"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3" name="Shape 6"/>
          <p:cNvSpPr/>
          <p:nvPr/>
        </p:nvSpPr>
        <p:spPr>
          <a:xfrm>
            <a:off x="908357" y="2269553"/>
            <a:ext cx="935244" cy="591572"/>
          </a:xfrm>
          <a:prstGeom prst="rect">
            <a:avLst/>
          </a:prstGeom>
          <a:solidFill>
            <a:srgbClr val="000000">
              <a:alpha val="0"/>
            </a:srgbClr>
          </a:solidFill>
        </p:spPr>
      </p:sp>
      <p:sp>
        <p:nvSpPr>
          <p:cNvPr id="14" name="Text 7"/>
          <p:cNvSpPr/>
          <p:nvPr/>
        </p:nvSpPr>
        <p:spPr>
          <a:xfrm>
            <a:off x="908357" y="2269553"/>
            <a:ext cx="935244" cy="591572"/>
          </a:xfrm>
          <a:prstGeom prst="rect">
            <a:avLst/>
          </a:prstGeom>
          <a:noFill/>
        </p:spPr>
        <p:txBody>
          <a:bodyPr wrap="square" lIns="0" tIns="0" rIns="0" bIns="0" rtlCol="0" anchor="t"/>
          <a:lstStyle/>
          <a:p>
            <a:pPr algn="ctr">
              <a:lnSpc>
                <a:spcPct val="110000"/>
              </a:lnSpc>
            </a:pPr>
            <a:r>
              <a:rPr lang="en-US" sz="3600" dirty="0">
                <a:solidFill>
                  <a:srgbClr val="FFFFFF"/>
                </a:solidFill>
                <a:latin typeface="MiSans" pitchFamily="34" charset="-122"/>
                <a:ea typeface="MiSans" pitchFamily="34" charset="-122"/>
                <a:cs typeface="MiSans" pitchFamily="34" charset="-120"/>
              </a:rPr>
              <a:t>01</a:t>
            </a:r>
            <a:endParaRPr lang="en-US" sz="1600" dirty="0"/>
          </a:p>
        </p:txBody>
      </p:sp>
      <p:sp>
        <p:nvSpPr>
          <p:cNvPr id="15" name="Text 8"/>
          <p:cNvSpPr/>
          <p:nvPr/>
        </p:nvSpPr>
        <p:spPr>
          <a:xfrm>
            <a:off x="2412629" y="1964286"/>
            <a:ext cx="5268832" cy="30698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Angular Variable Definitions</a:t>
            </a:r>
            <a:endParaRPr lang="en-US" sz="1600" dirty="0"/>
          </a:p>
        </p:txBody>
      </p:sp>
      <p:sp>
        <p:nvSpPr>
          <p:cNvPr id="16" name="Text 9"/>
          <p:cNvSpPr/>
          <p:nvPr/>
        </p:nvSpPr>
        <p:spPr>
          <a:xfrm>
            <a:off x="2321560" y="2254885"/>
            <a:ext cx="8153400" cy="98679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Rotational motion uses angular displacement θ (radians), angular velocity ω (rad/s), and angular acceleration α (rad/s²). These quantities are analogous to linear x, v, and a, with identical mathematical relationships. One complete revolution equals 2π radians, and all rotational kinematic equations require radian measure for validity.</a:t>
            </a:r>
            <a:endParaRPr lang="en-US" sz="1600" dirty="0"/>
          </a:p>
        </p:txBody>
      </p:sp>
      <p:sp>
        <p:nvSpPr>
          <p:cNvPr id="17" name="Shape 10"/>
          <p:cNvSpPr/>
          <p:nvPr/>
        </p:nvSpPr>
        <p:spPr>
          <a:xfrm>
            <a:off x="10419352" y="3889703"/>
            <a:ext cx="851694" cy="591572"/>
          </a:xfrm>
          <a:prstGeom prst="rect">
            <a:avLst/>
          </a:prstGeom>
          <a:solidFill>
            <a:srgbClr val="000000">
              <a:alpha val="0"/>
            </a:srgbClr>
          </a:solidFill>
        </p:spPr>
      </p:sp>
      <p:sp>
        <p:nvSpPr>
          <p:cNvPr id="18" name="Text 11"/>
          <p:cNvSpPr/>
          <p:nvPr/>
        </p:nvSpPr>
        <p:spPr>
          <a:xfrm>
            <a:off x="10419352" y="3889703"/>
            <a:ext cx="851694" cy="591572"/>
          </a:xfrm>
          <a:prstGeom prst="rect">
            <a:avLst/>
          </a:prstGeom>
          <a:noFill/>
        </p:spPr>
        <p:txBody>
          <a:bodyPr wrap="square" lIns="0" tIns="0" rIns="0" bIns="0" rtlCol="0" anchor="t"/>
          <a:lstStyle/>
          <a:p>
            <a:pPr algn="ctr">
              <a:lnSpc>
                <a:spcPct val="110000"/>
              </a:lnSpc>
            </a:pPr>
            <a:r>
              <a:rPr lang="en-US" sz="3600" dirty="0">
                <a:solidFill>
                  <a:srgbClr val="FFFFFF"/>
                </a:solidFill>
                <a:latin typeface="MiSans" pitchFamily="34" charset="-122"/>
                <a:ea typeface="MiSans" pitchFamily="34" charset="-122"/>
                <a:cs typeface="MiSans" pitchFamily="34" charset="-120"/>
              </a:rPr>
              <a:t>02</a:t>
            </a:r>
            <a:endParaRPr lang="en-US" sz="1600" dirty="0"/>
          </a:p>
        </p:txBody>
      </p:sp>
      <p:sp>
        <p:nvSpPr>
          <p:cNvPr id="19" name="Text 12"/>
          <p:cNvSpPr/>
          <p:nvPr/>
        </p:nvSpPr>
        <p:spPr>
          <a:xfrm>
            <a:off x="4653280" y="3537585"/>
            <a:ext cx="5268595" cy="587573"/>
          </a:xfrm>
          <a:prstGeom prst="rect">
            <a:avLst/>
          </a:prstGeom>
          <a:noFill/>
        </p:spPr>
        <p:txBody>
          <a:bodyPr wrap="square" lIns="0" tIns="0" rIns="0" bIns="0" rtlCol="0" anchor="t">
            <a:spAutoFit/>
          </a:bodyPr>
          <a:lstStyle/>
          <a:p>
            <a:pPr algn="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The Three Rotational Kinematic Equations</a:t>
            </a:r>
            <a:endParaRPr lang="en-US" sz="1600" dirty="0"/>
          </a:p>
        </p:txBody>
      </p:sp>
      <p:sp>
        <p:nvSpPr>
          <p:cNvPr id="20" name="Text 13"/>
          <p:cNvSpPr/>
          <p:nvPr/>
        </p:nvSpPr>
        <p:spPr>
          <a:xfrm>
            <a:off x="2147779" y="3827956"/>
            <a:ext cx="7796220" cy="1285240"/>
          </a:xfrm>
          <a:prstGeom prst="rect">
            <a:avLst/>
          </a:prstGeom>
          <a:noFill/>
        </p:spPr>
        <p:txBody>
          <a:bodyPr wrap="square" lIns="91440" tIns="45720" rIns="91440" bIns="45720" rtlCol="0" anchor="t">
            <a:spAutoFit/>
          </a:bodyPr>
          <a:lstStyle/>
          <a:p>
            <a:pPr algn="r">
              <a:lnSpc>
                <a:spcPct val="150000"/>
              </a:lnSpc>
            </a:pPr>
            <a:r>
              <a:rPr lang="en-US" sz="1200" dirty="0">
                <a:solidFill>
                  <a:srgbClr val="FFFFFF"/>
                </a:solidFill>
                <a:latin typeface="MiSans" pitchFamily="34" charset="-122"/>
                <a:ea typeface="MiSans" pitchFamily="34" charset="-122"/>
                <a:cs typeface="MiSans" pitchFamily="34" charset="-120"/>
              </a:rPr>
              <a:t>Constant angular acceleration produces three parallel equations: ω = ω₀ + αt eliminates angular displacement; θ = θ₀ + ω₀t + ½αt² eliminates final angular velocity; ω² = ω₀² + 2α(θ - θ₀) eliminates time. Selection follows the same logic as linear kinematics—choose the equation missing your unknown unnecessary variable.</a:t>
            </a:r>
            <a:endParaRPr lang="en-US" sz="1600" dirty="0"/>
          </a:p>
        </p:txBody>
      </p:sp>
      <p:sp>
        <p:nvSpPr>
          <p:cNvPr id="21" name="Shape 14"/>
          <p:cNvSpPr/>
          <p:nvPr/>
        </p:nvSpPr>
        <p:spPr>
          <a:xfrm>
            <a:off x="919013" y="5440032"/>
            <a:ext cx="913931" cy="591572"/>
          </a:xfrm>
          <a:prstGeom prst="rect">
            <a:avLst/>
          </a:prstGeom>
          <a:solidFill>
            <a:srgbClr val="000000">
              <a:alpha val="0"/>
            </a:srgbClr>
          </a:solidFill>
        </p:spPr>
      </p:sp>
      <p:sp>
        <p:nvSpPr>
          <p:cNvPr id="22" name="Text 15"/>
          <p:cNvSpPr/>
          <p:nvPr/>
        </p:nvSpPr>
        <p:spPr>
          <a:xfrm>
            <a:off x="919013" y="5440032"/>
            <a:ext cx="913931" cy="591572"/>
          </a:xfrm>
          <a:prstGeom prst="rect">
            <a:avLst/>
          </a:prstGeom>
          <a:noFill/>
        </p:spPr>
        <p:txBody>
          <a:bodyPr wrap="square" lIns="0" tIns="0" rIns="0" bIns="0" rtlCol="0" anchor="t"/>
          <a:lstStyle/>
          <a:p>
            <a:pPr algn="ctr">
              <a:lnSpc>
                <a:spcPct val="110000"/>
              </a:lnSpc>
            </a:pPr>
            <a:r>
              <a:rPr lang="en-US" sz="3600" dirty="0">
                <a:solidFill>
                  <a:srgbClr val="FFFFFF"/>
                </a:solidFill>
                <a:latin typeface="MiSans" pitchFamily="34" charset="-122"/>
                <a:ea typeface="MiSans" pitchFamily="34" charset="-122"/>
                <a:cs typeface="MiSans" pitchFamily="34" charset="-120"/>
              </a:rPr>
              <a:t>03</a:t>
            </a:r>
            <a:endParaRPr lang="en-US" sz="1600" dirty="0"/>
          </a:p>
        </p:txBody>
      </p:sp>
      <p:sp>
        <p:nvSpPr>
          <p:cNvPr id="23" name="Text 16"/>
          <p:cNvSpPr/>
          <p:nvPr/>
        </p:nvSpPr>
        <p:spPr>
          <a:xfrm>
            <a:off x="2412629" y="5109822"/>
            <a:ext cx="5268832" cy="30698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Linear-Rotational Connections</a:t>
            </a:r>
            <a:endParaRPr lang="en-US" sz="1600" dirty="0"/>
          </a:p>
        </p:txBody>
      </p:sp>
      <p:sp>
        <p:nvSpPr>
          <p:cNvPr id="24" name="Text 17"/>
          <p:cNvSpPr/>
          <p:nvPr/>
        </p:nvSpPr>
        <p:spPr>
          <a:xfrm>
            <a:off x="2321560" y="5400040"/>
            <a:ext cx="8154035" cy="98679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Arc length s = rθ connects angular to linear displacement. Tangential velocity v_t = rω and tangential acceleration a_t = rα relate rotational to linear motion at distance r from the axis. These conversions allow combined analysis of rolling objects, pulleys, and rotating systems with translating components.</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1041" y="0"/>
            <a:ext cx="12192000" cy="6864626"/>
          </a:xfrm>
          <a:prstGeom prst="rect">
            <a:avLst/>
          </a:prstGeom>
        </p:spPr>
      </p:pic>
      <p:sp>
        <p:nvSpPr>
          <p:cNvPr id="3" name="Shape 0"/>
          <p:cNvSpPr/>
          <p:nvPr/>
        </p:nvSpPr>
        <p:spPr>
          <a:xfrm>
            <a:off x="10924640" y="981848"/>
            <a:ext cx="77797" cy="72000"/>
          </a:xfrm>
          <a:prstGeom prst="ellipse">
            <a:avLst/>
          </a:prstGeom>
          <a:solidFill>
            <a:srgbClr val="FFFFFF"/>
          </a:solidFill>
        </p:spPr>
      </p:sp>
      <p:sp>
        <p:nvSpPr>
          <p:cNvPr id="4" name="Shape 1"/>
          <p:cNvSpPr/>
          <p:nvPr/>
        </p:nvSpPr>
        <p:spPr>
          <a:xfrm>
            <a:off x="11052814" y="981848"/>
            <a:ext cx="77797" cy="72000"/>
          </a:xfrm>
          <a:prstGeom prst="ellipse">
            <a:avLst/>
          </a:prstGeom>
          <a:solidFill>
            <a:srgbClr val="FFFFFF">
              <a:alpha val="56471"/>
            </a:srgbClr>
          </a:solidFill>
        </p:spPr>
      </p:sp>
      <p:sp>
        <p:nvSpPr>
          <p:cNvPr id="5" name="Shape 2"/>
          <p:cNvSpPr/>
          <p:nvPr/>
        </p:nvSpPr>
        <p:spPr>
          <a:xfrm>
            <a:off x="11183828" y="981848"/>
            <a:ext cx="77797" cy="72000"/>
          </a:xfrm>
          <a:prstGeom prst="ellipse">
            <a:avLst/>
          </a:prstGeom>
          <a:solidFill>
            <a:srgbClr val="FFFFFF"/>
          </a:solidFill>
        </p:spPr>
      </p:sp>
      <p:sp>
        <p:nvSpPr>
          <p:cNvPr id="6" name="Shape 3"/>
          <p:cNvSpPr/>
          <p:nvPr/>
        </p:nvSpPr>
        <p:spPr>
          <a:xfrm>
            <a:off x="11314843" y="981848"/>
            <a:ext cx="77797" cy="72000"/>
          </a:xfrm>
          <a:prstGeom prst="ellipse">
            <a:avLst/>
          </a:prstGeom>
          <a:solidFill>
            <a:srgbClr val="FFFFFF">
              <a:alpha val="56471"/>
            </a:srgbClr>
          </a:solidFill>
        </p:spPr>
      </p:sp>
      <p:pic>
        <p:nvPicPr>
          <p:cNvPr id="7" name="Image 1" descr="https://kimi-img.moonshot.cn/pub/slides/slides_tmpl/image/25-08-27-20:02:17-d2nf7i98bjvh7rlj06ng.png"/>
          <p:cNvPicPr>
            <a:picLocks noChangeAspect="1"/>
          </p:cNvPicPr>
          <p:nvPr/>
        </p:nvPicPr>
        <p:blipFill>
          <a:blip r:embed="rId2"/>
          <a:stretch>
            <a:fillRect/>
          </a:stretch>
        </p:blipFill>
        <p:spPr>
          <a:xfrm>
            <a:off x="4859386" y="3494063"/>
            <a:ext cx="2261721" cy="1009076"/>
          </a:xfrm>
          <a:prstGeom prst="rect">
            <a:avLst/>
          </a:prstGeom>
        </p:spPr>
      </p:pic>
      <p:sp>
        <p:nvSpPr>
          <p:cNvPr id="8" name="Shape 4"/>
          <p:cNvSpPr/>
          <p:nvPr/>
        </p:nvSpPr>
        <p:spPr>
          <a:xfrm>
            <a:off x="6812898" y="3478021"/>
            <a:ext cx="72567" cy="59918"/>
          </a:xfrm>
          <a:prstGeom prst="ellipse">
            <a:avLst/>
          </a:prstGeom>
          <a:solidFill>
            <a:srgbClr val="FFFFFF"/>
          </a:solidFill>
          <a:effectLst>
            <a:outerShdw blurRad="182696" dist="42115" dir="8100000" algn="bl" rotWithShape="0">
              <a:srgbClr val="FFFFFF">
                <a:alpha val="100000"/>
              </a:srgbClr>
            </a:outerShdw>
          </a:effectLst>
        </p:spPr>
      </p:sp>
      <p:sp>
        <p:nvSpPr>
          <p:cNvPr id="9" name="Shape 5"/>
          <p:cNvSpPr/>
          <p:nvPr/>
        </p:nvSpPr>
        <p:spPr>
          <a:xfrm>
            <a:off x="6849181" y="3783382"/>
            <a:ext cx="72567" cy="59918"/>
          </a:xfrm>
          <a:prstGeom prst="ellipse">
            <a:avLst/>
          </a:prstGeom>
          <a:solidFill>
            <a:srgbClr val="FFFFFF"/>
          </a:solidFill>
          <a:effectLst>
            <a:outerShdw blurRad="182696" dist="42115" dir="8100000" algn="bl" rotWithShape="0">
              <a:srgbClr val="FFFFFF">
                <a:alpha val="100000"/>
              </a:srgbClr>
            </a:outerShdw>
          </a:effectLst>
        </p:spPr>
      </p:sp>
      <p:sp>
        <p:nvSpPr>
          <p:cNvPr id="10" name="Shape 6"/>
          <p:cNvSpPr/>
          <p:nvPr/>
        </p:nvSpPr>
        <p:spPr>
          <a:xfrm>
            <a:off x="5153133" y="4003720"/>
            <a:ext cx="72567" cy="59918"/>
          </a:xfrm>
          <a:prstGeom prst="ellipse">
            <a:avLst/>
          </a:prstGeom>
          <a:solidFill>
            <a:srgbClr val="FFFFFF"/>
          </a:solidFill>
          <a:effectLst>
            <a:outerShdw blurRad="182696" dist="42115" dir="8100000" algn="bl" rotWithShape="0">
              <a:srgbClr val="FFFFFF">
                <a:alpha val="100000"/>
              </a:srgbClr>
            </a:outerShdw>
          </a:effectLst>
        </p:spPr>
      </p:sp>
      <p:sp>
        <p:nvSpPr>
          <p:cNvPr id="11" name="Shape 7"/>
          <p:cNvSpPr/>
          <p:nvPr/>
        </p:nvSpPr>
        <p:spPr>
          <a:xfrm>
            <a:off x="5010727" y="4365720"/>
            <a:ext cx="72567" cy="59918"/>
          </a:xfrm>
          <a:prstGeom prst="ellipse">
            <a:avLst/>
          </a:prstGeom>
          <a:solidFill>
            <a:srgbClr val="FFFFFF"/>
          </a:solidFill>
          <a:effectLst>
            <a:outerShdw blurRad="182696" dist="42115" dir="8100000" algn="bl" rotWithShape="0">
              <a:srgbClr val="FFFFFF">
                <a:alpha val="100000"/>
              </a:srgbClr>
            </a:outerShdw>
          </a:effectLst>
        </p:spPr>
      </p:sp>
      <p:sp>
        <p:nvSpPr>
          <p:cNvPr id="12" name="Shape 8"/>
          <p:cNvSpPr/>
          <p:nvPr/>
        </p:nvSpPr>
        <p:spPr>
          <a:xfrm>
            <a:off x="11358882" y="6059762"/>
            <a:ext cx="226534" cy="220415"/>
          </a:xfrm>
          <a:prstGeom prst="rect">
            <a:avLst/>
          </a:prstGeom>
          <a:solidFill>
            <a:srgbClr val="517BDA"/>
          </a:solidFill>
          <a:effectLst>
            <a:outerShdw blurRad="145102" dist="50800" dir="2700000" algn="bl" rotWithShape="0">
              <a:srgbClr val="517BDA">
                <a:alpha val="76471"/>
              </a:srgbClr>
            </a:outerShdw>
          </a:effectLst>
        </p:spPr>
      </p:sp>
      <p:sp>
        <p:nvSpPr>
          <p:cNvPr id="13" name="Text 9"/>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Torque and Rotational Dynamics</a:t>
            </a:r>
            <a:endParaRPr lang="en-US" sz="1600" dirty="0"/>
          </a:p>
        </p:txBody>
      </p:sp>
      <p:pic>
        <p:nvPicPr>
          <p:cNvPr id="14" name="Image 2" descr="https://kimi-img.moonshot.cn/pub/slides/slides_tmpl/image/25-08-27-20:02:06-d2nf7fh8bjvh7rlj060g.png"/>
          <p:cNvPicPr>
            <a:picLocks noChangeAspect="1"/>
          </p:cNvPicPr>
          <p:nvPr/>
        </p:nvPicPr>
        <p:blipFill>
          <a:blip r:embed="rId3"/>
          <a:stretch>
            <a:fillRect/>
          </a:stretch>
        </p:blipFill>
        <p:spPr>
          <a:xfrm>
            <a:off x="662882" y="495145"/>
            <a:ext cx="1371600" cy="304800"/>
          </a:xfrm>
          <a:prstGeom prst="rect">
            <a:avLst/>
          </a:prstGeom>
        </p:spPr>
      </p:pic>
      <p:sp>
        <p:nvSpPr>
          <p:cNvPr id="15" name="Text 10"/>
          <p:cNvSpPr/>
          <p:nvPr/>
        </p:nvSpPr>
        <p:spPr>
          <a:xfrm>
            <a:off x="849098" y="2268180"/>
            <a:ext cx="4376602" cy="535980"/>
          </a:xfrm>
          <a:prstGeom prst="rect">
            <a:avLst/>
          </a:prstGeom>
          <a:noFill/>
        </p:spPr>
        <p:txBody>
          <a:bodyPr wrap="square" lIns="0" tIns="0" rIns="0" bIns="0" rtlCol="0" anchor="t"/>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Torque Definition: τ = rF sinθ</a:t>
            </a:r>
            <a:endParaRPr lang="en-US" sz="1600" dirty="0"/>
          </a:p>
        </p:txBody>
      </p:sp>
      <p:sp>
        <p:nvSpPr>
          <p:cNvPr id="16" name="Text 11"/>
          <p:cNvSpPr/>
          <p:nvPr/>
        </p:nvSpPr>
        <p:spPr>
          <a:xfrm>
            <a:off x="542215" y="2536170"/>
            <a:ext cx="5082569" cy="218059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Torque is the rotational analog of force, causing angular acceleration. It depends on force magnitude, distance from pivot (lever arm), and angle between them. Maximum torque occurs with perpendicular force application (θ = 90°). The perpendicular component interpretation τ = r⊥F emphasizes that only force components perpendicular to the radius produce rotation.</a:t>
            </a:r>
            <a:endParaRPr lang="en-US" sz="1600" dirty="0"/>
          </a:p>
        </p:txBody>
      </p:sp>
      <p:sp>
        <p:nvSpPr>
          <p:cNvPr id="17" name="Text 12"/>
          <p:cNvSpPr/>
          <p:nvPr/>
        </p:nvSpPr>
        <p:spPr>
          <a:xfrm>
            <a:off x="776531" y="4448770"/>
            <a:ext cx="3429709"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Newton's Second Law for Rotation: τ_net = Iα</a:t>
            </a:r>
            <a:endParaRPr lang="en-US" sz="1600" dirty="0"/>
          </a:p>
        </p:txBody>
      </p:sp>
      <p:sp>
        <p:nvSpPr>
          <p:cNvPr id="18" name="Text 13"/>
          <p:cNvSpPr/>
          <p:nvPr/>
        </p:nvSpPr>
        <p:spPr>
          <a:xfrm>
            <a:off x="662882" y="4982486"/>
            <a:ext cx="5100488" cy="188214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Net torque equals rotational inertia times angular acceleration, directly paralleling F = ma. Rotational inertia I = Σmr² measures resistance to angular acceleration, depending on mass distribution relative to the axis. Objects with mass farther from the axis have larger I and accelerate more slowly under given torque.</a:t>
            </a:r>
            <a:endParaRPr lang="en-US" sz="1600" dirty="0"/>
          </a:p>
        </p:txBody>
      </p:sp>
      <p:sp>
        <p:nvSpPr>
          <p:cNvPr id="19" name="Text 14"/>
          <p:cNvSpPr/>
          <p:nvPr/>
        </p:nvSpPr>
        <p:spPr>
          <a:xfrm>
            <a:off x="7268771" y="1723858"/>
            <a:ext cx="3429709" cy="535980"/>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Common Rotational Inertia Formulas</a:t>
            </a:r>
            <a:endParaRPr lang="en-US" sz="1600" dirty="0"/>
          </a:p>
        </p:txBody>
      </p:sp>
      <p:sp>
        <p:nvSpPr>
          <p:cNvPr id="20" name="Text 15"/>
          <p:cNvSpPr/>
          <p:nvPr/>
        </p:nvSpPr>
        <p:spPr>
          <a:xfrm>
            <a:off x="7121107" y="2181498"/>
            <a:ext cx="4681911" cy="188214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AP Physics 1 provides specific I values when needed: solid sphere I = ⅖MR², hollow sphere I = ⅔MR², solid cylinder/disk I = ½MR², hoop/ring I = MR², rod about center I = 1/12 ML². Understanding these formulas' mass distribution dependence helps predict which shapes rotate faster under identical torque.</a:t>
            </a:r>
            <a:endParaRPr lang="en-US" sz="1600" dirty="0"/>
          </a:p>
        </p:txBody>
      </p:sp>
      <p:sp>
        <p:nvSpPr>
          <p:cNvPr id="21" name="Text 16"/>
          <p:cNvSpPr/>
          <p:nvPr/>
        </p:nvSpPr>
        <p:spPr>
          <a:xfrm>
            <a:off x="7268771" y="4088471"/>
            <a:ext cx="3429709"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Parallel Axis Theorem</a:t>
            </a:r>
            <a:endParaRPr lang="en-US" sz="1600" dirty="0"/>
          </a:p>
        </p:txBody>
      </p:sp>
      <p:sp>
        <p:nvSpPr>
          <p:cNvPr id="22" name="Text 17"/>
          <p:cNvSpPr/>
          <p:nvPr/>
        </p:nvSpPr>
        <p:spPr>
          <a:xfrm>
            <a:off x="7173041" y="4360645"/>
            <a:ext cx="4629977" cy="218059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When rotation occurs about an axis parallel to but displaced from the center of mass axis, rotational inertia increases by I = I_cm + Md². This theorem explains why swinging a bat or spinning a rod about its end requires more torque than center rotation—mass distribution farther from the new axis increases resistance to angular acceleration.</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3426"/>
            <a:ext cx="12191999" cy="6864626"/>
          </a:xfrm>
          <a:prstGeom prst="rect">
            <a:avLst/>
          </a:prstGeom>
        </p:spPr>
      </p:pic>
      <p:sp>
        <p:nvSpPr>
          <p:cNvPr id="3" name="Text 0"/>
          <p:cNvSpPr/>
          <p:nvPr/>
        </p:nvSpPr>
        <p:spPr>
          <a:xfrm>
            <a:off x="4119359" y="3709831"/>
            <a:ext cx="3832016" cy="1029692"/>
          </a:xfrm>
          <a:prstGeom prst="rect">
            <a:avLst/>
          </a:prstGeom>
          <a:noFill/>
        </p:spPr>
        <p:txBody>
          <a:bodyPr wrap="square" lIns="0" tIns="0" rIns="0" bIns="0" rtlCol="0" anchor="t">
            <a:spAutoFit/>
          </a:bodyPr>
          <a:lstStyle/>
          <a:p>
            <a:pPr algn="ctr">
              <a:lnSpc>
                <a:spcPct val="100000"/>
              </a:lnSpc>
            </a:pPr>
            <a:r>
              <a:rPr lang="en-US" sz="3200" dirty="0">
                <a:solidFill>
                  <a:srgbClr val="FFFFFF"/>
                </a:solidFill>
                <a:latin typeface="MiSans" pitchFamily="34" charset="-122"/>
                <a:ea typeface="MiSans" pitchFamily="34" charset="-122"/>
                <a:cs typeface="MiSans" pitchFamily="34" charset="-120"/>
              </a:rPr>
              <a:t>Oscillations and Fluids</a:t>
            </a:r>
            <a:endParaRPr lang="en-US" sz="1600" dirty="0"/>
          </a:p>
        </p:txBody>
      </p:sp>
      <p:sp>
        <p:nvSpPr>
          <p:cNvPr id="4" name="Shape 1"/>
          <p:cNvSpPr/>
          <p:nvPr/>
        </p:nvSpPr>
        <p:spPr>
          <a:xfrm>
            <a:off x="779721" y="6270738"/>
            <a:ext cx="0" cy="125950"/>
          </a:xfrm>
          <a:prstGeom prst="line">
            <a:avLst/>
          </a:prstGeom>
          <a:noFill/>
          <a:ln w="12700">
            <a:solidFill>
              <a:srgbClr val="FFFFFF"/>
            </a:solidFill>
            <a:prstDash val="solid"/>
            <a:headEnd type="none"/>
            <a:tailEnd type="none"/>
          </a:ln>
        </p:spPr>
      </p:sp>
      <p:sp>
        <p:nvSpPr>
          <p:cNvPr id="5" name="Shape 2"/>
          <p:cNvSpPr/>
          <p:nvPr/>
        </p:nvSpPr>
        <p:spPr>
          <a:xfrm>
            <a:off x="867722" y="6270738"/>
            <a:ext cx="0" cy="125950"/>
          </a:xfrm>
          <a:prstGeom prst="line">
            <a:avLst/>
          </a:prstGeom>
          <a:noFill/>
          <a:ln w="12700">
            <a:solidFill>
              <a:srgbClr val="FFFFFF"/>
            </a:solidFill>
            <a:prstDash val="solid"/>
            <a:headEnd type="none"/>
            <a:tailEnd type="none"/>
          </a:ln>
        </p:spPr>
      </p:sp>
      <p:sp>
        <p:nvSpPr>
          <p:cNvPr id="6" name="Shape 3"/>
          <p:cNvSpPr/>
          <p:nvPr/>
        </p:nvSpPr>
        <p:spPr>
          <a:xfrm>
            <a:off x="955722" y="6166356"/>
            <a:ext cx="0" cy="220414"/>
          </a:xfrm>
          <a:prstGeom prst="line">
            <a:avLst/>
          </a:prstGeom>
          <a:noFill/>
          <a:ln w="12700">
            <a:solidFill>
              <a:srgbClr val="FFFFFF"/>
            </a:solidFill>
            <a:prstDash val="solid"/>
            <a:headEnd type="none"/>
            <a:tailEnd type="none"/>
          </a:ln>
        </p:spPr>
      </p:sp>
      <p:sp>
        <p:nvSpPr>
          <p:cNvPr id="7" name="Shape 4"/>
          <p:cNvSpPr/>
          <p:nvPr/>
        </p:nvSpPr>
        <p:spPr>
          <a:xfrm>
            <a:off x="1043723" y="6270738"/>
            <a:ext cx="0" cy="125950"/>
          </a:xfrm>
          <a:prstGeom prst="line">
            <a:avLst/>
          </a:prstGeom>
          <a:noFill/>
          <a:ln w="12700">
            <a:solidFill>
              <a:srgbClr val="FFFFFF"/>
            </a:solidFill>
            <a:prstDash val="solid"/>
            <a:headEnd type="none"/>
            <a:tailEnd type="none"/>
          </a:ln>
        </p:spPr>
      </p:sp>
      <p:sp>
        <p:nvSpPr>
          <p:cNvPr id="8" name="Shape 5"/>
          <p:cNvSpPr/>
          <p:nvPr/>
        </p:nvSpPr>
        <p:spPr>
          <a:xfrm>
            <a:off x="1131723" y="6270738"/>
            <a:ext cx="0" cy="125950"/>
          </a:xfrm>
          <a:prstGeom prst="line">
            <a:avLst/>
          </a:prstGeom>
          <a:noFill/>
          <a:ln w="12700">
            <a:solidFill>
              <a:srgbClr val="FFFFFF"/>
            </a:solidFill>
            <a:prstDash val="solid"/>
            <a:headEnd type="none"/>
            <a:tailEnd type="none"/>
          </a:ln>
        </p:spPr>
      </p:sp>
      <p:sp>
        <p:nvSpPr>
          <p:cNvPr id="9" name="Shape 6"/>
          <p:cNvSpPr/>
          <p:nvPr/>
        </p:nvSpPr>
        <p:spPr>
          <a:xfrm>
            <a:off x="10796832" y="6396446"/>
            <a:ext cx="116844" cy="116844"/>
          </a:xfrm>
          <a:prstGeom prst="ellipse">
            <a:avLst/>
          </a:prstGeom>
          <a:solidFill>
            <a:srgbClr val="FFFFFF"/>
          </a:solidFill>
        </p:spPr>
      </p:sp>
      <p:sp>
        <p:nvSpPr>
          <p:cNvPr id="10" name="Shape 7"/>
          <p:cNvSpPr/>
          <p:nvPr/>
        </p:nvSpPr>
        <p:spPr>
          <a:xfrm>
            <a:off x="10989337" y="6396446"/>
            <a:ext cx="116844" cy="116844"/>
          </a:xfrm>
          <a:prstGeom prst="ellipse">
            <a:avLst/>
          </a:prstGeom>
          <a:solidFill>
            <a:srgbClr val="FFFFFF">
              <a:alpha val="56471"/>
            </a:srgbClr>
          </a:solidFill>
        </p:spPr>
      </p:sp>
      <p:sp>
        <p:nvSpPr>
          <p:cNvPr id="11" name="Shape 8"/>
          <p:cNvSpPr/>
          <p:nvPr/>
        </p:nvSpPr>
        <p:spPr>
          <a:xfrm>
            <a:off x="11186107" y="6396446"/>
            <a:ext cx="116844" cy="116844"/>
          </a:xfrm>
          <a:prstGeom prst="ellipse">
            <a:avLst/>
          </a:prstGeom>
          <a:solidFill>
            <a:srgbClr val="FFFFFF"/>
          </a:solidFill>
        </p:spPr>
      </p:sp>
      <p:sp>
        <p:nvSpPr>
          <p:cNvPr id="12" name="Shape 9"/>
          <p:cNvSpPr/>
          <p:nvPr/>
        </p:nvSpPr>
        <p:spPr>
          <a:xfrm>
            <a:off x="11382877" y="6396446"/>
            <a:ext cx="116844" cy="116844"/>
          </a:xfrm>
          <a:prstGeom prst="ellipse">
            <a:avLst/>
          </a:prstGeom>
          <a:solidFill>
            <a:srgbClr val="FFFFFF">
              <a:alpha val="56471"/>
            </a:srgbClr>
          </a:solidFill>
        </p:spPr>
      </p:sp>
      <p:pic>
        <p:nvPicPr>
          <p:cNvPr id="13" name="Image 1" descr="https://kimi-img.moonshot.cn/pub/slides/slides_tmpl/image/25-08-27-20:02:06-d2nf7fh8bjvh7rlj0600.png"/>
          <p:cNvPicPr>
            <a:picLocks noChangeAspect="1"/>
          </p:cNvPicPr>
          <p:nvPr/>
        </p:nvPicPr>
        <p:blipFill>
          <a:blip r:embed="rId2"/>
          <a:stretch>
            <a:fillRect/>
          </a:stretch>
        </p:blipFill>
        <p:spPr>
          <a:xfrm>
            <a:off x="4267199" y="3446152"/>
            <a:ext cx="3657600" cy="12700"/>
          </a:xfrm>
          <a:prstGeom prst="rect">
            <a:avLst/>
          </a:prstGeom>
        </p:spPr>
      </p:pic>
      <p:sp>
        <p:nvSpPr>
          <p:cNvPr id="14" name="Shape 10"/>
          <p:cNvSpPr/>
          <p:nvPr/>
        </p:nvSpPr>
        <p:spPr>
          <a:xfrm>
            <a:off x="4893310" y="1477010"/>
            <a:ext cx="2284095" cy="2335530"/>
          </a:xfrm>
          <a:prstGeom prst="rect">
            <a:avLst/>
          </a:prstGeom>
          <a:solidFill>
            <a:srgbClr val="000000">
              <a:alpha val="0"/>
            </a:srgbClr>
          </a:solidFill>
        </p:spPr>
      </p:sp>
      <p:sp>
        <p:nvSpPr>
          <p:cNvPr id="15" name="Text 11"/>
          <p:cNvSpPr/>
          <p:nvPr/>
        </p:nvSpPr>
        <p:spPr>
          <a:xfrm>
            <a:off x="4893310" y="1477010"/>
            <a:ext cx="2284095" cy="2335530"/>
          </a:xfrm>
          <a:prstGeom prst="rect">
            <a:avLst/>
          </a:prstGeom>
          <a:noFill/>
        </p:spPr>
        <p:txBody>
          <a:bodyPr wrap="square" lIns="0" tIns="0" rIns="0" bIns="0" rtlCol="0" anchor="t"/>
          <a:lstStyle/>
          <a:p>
            <a:pPr>
              <a:lnSpc>
                <a:spcPct val="110000"/>
              </a:lnSpc>
            </a:pPr>
            <a:r>
              <a:rPr lang="en-US" sz="13800" dirty="0">
                <a:gradFill flip="none" rotWithShape="0">
                  <a:gsLst>
                    <a:gs pos="0">
                      <a:srgbClr val="FFFFFF">
                        <a:alpha val="61000"/>
                      </a:srgbClr>
                    </a:gs>
                    <a:gs pos="28000">
                      <a:srgbClr val="FFFFFF">
                        <a:alpha val="61000"/>
                      </a:srgbClr>
                    </a:gs>
                    <a:gs pos="78000">
                      <a:srgbClr val="FFFFFF"/>
                    </a:gs>
                    <a:gs pos="100000">
                      <a:srgbClr val="FFFFFF"/>
                    </a:gs>
                  </a:gsLst>
                  <a:path path="circle">
                    <a:fillToRect r="100000" b="100000"/>
                  </a:path>
                  <a:tileRect l="-100000" t="-100000"/>
                </a:gradFill>
                <a:latin typeface="PingFang SC Medium" pitchFamily="34" charset="0"/>
                <a:ea typeface="PingFang SC Medium" pitchFamily="34" charset="-122"/>
                <a:cs typeface="PingFang SC Medium" pitchFamily="34" charset="-120"/>
              </a:rPr>
              <a:t>06</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6-d2nf7i18bjvh7rlj06h0.png"/>
          <p:cNvPicPr>
            <a:picLocks noChangeAspect="1"/>
          </p:cNvPicPr>
          <p:nvPr/>
        </p:nvPicPr>
        <p:blipFill>
          <a:blip r:embed="rId1"/>
          <a:stretch>
            <a:fillRect/>
          </a:stretch>
        </p:blipFill>
        <p:spPr>
          <a:xfrm>
            <a:off x="1438905" y="3530641"/>
            <a:ext cx="1219200" cy="1193800"/>
          </a:xfrm>
          <a:prstGeom prst="rect">
            <a:avLst/>
          </a:prstGeom>
        </p:spPr>
      </p:pic>
      <p:pic>
        <p:nvPicPr>
          <p:cNvPr id="3" name="Image 1" descr="https://kimi-img.moonshot.cn/pub/slides/slides_tmpl/image/25-08-27-20:02:10-d2nf7gh8bjvh7rlj061g.jpg"/>
          <p:cNvPicPr>
            <a:picLocks noChangeAspect="1"/>
          </p:cNvPicPr>
          <p:nvPr/>
        </p:nvPicPr>
        <p:blipFill>
          <a:blip r:embed="rId2"/>
          <a:stretch>
            <a:fillRect/>
          </a:stretch>
        </p:blipFill>
        <p:spPr>
          <a:xfrm>
            <a:off x="-3178" y="-1789"/>
            <a:ext cx="12195178" cy="6866415"/>
          </a:xfrm>
          <a:prstGeom prst="rect">
            <a:avLst/>
          </a:prstGeom>
        </p:spPr>
      </p:pic>
      <p:pic>
        <p:nvPicPr>
          <p:cNvPr id="4" name="Image 2" descr="https://kimi-img.moonshot.cn/pub/slides/slides_tmpl/image/25-08-27-20:02:16-d2nf7i18bjvh7rlj06hg.png"/>
          <p:cNvPicPr>
            <a:picLocks noChangeAspect="1"/>
          </p:cNvPicPr>
          <p:nvPr/>
        </p:nvPicPr>
        <p:blipFill>
          <a:blip r:embed="rId3"/>
          <a:stretch>
            <a:fillRect/>
          </a:stretch>
        </p:blipFill>
        <p:spPr>
          <a:xfrm>
            <a:off x="1583029" y="3352309"/>
            <a:ext cx="9345841" cy="1475659"/>
          </a:xfrm>
          <a:prstGeom prst="rect">
            <a:avLst/>
          </a:prstGeom>
        </p:spPr>
      </p:pic>
      <p:sp>
        <p:nvSpPr>
          <p:cNvPr id="5" name="Shape 0"/>
          <p:cNvSpPr/>
          <p:nvPr/>
        </p:nvSpPr>
        <p:spPr>
          <a:xfrm flipH="1">
            <a:off x="11314843" y="981848"/>
            <a:ext cx="77797" cy="72000"/>
          </a:xfrm>
          <a:prstGeom prst="ellipse">
            <a:avLst/>
          </a:prstGeom>
          <a:solidFill>
            <a:srgbClr val="FFFFFF"/>
          </a:solidFill>
        </p:spPr>
      </p:sp>
      <p:sp>
        <p:nvSpPr>
          <p:cNvPr id="6" name="Shape 1"/>
          <p:cNvSpPr/>
          <p:nvPr/>
        </p:nvSpPr>
        <p:spPr>
          <a:xfrm flipH="1">
            <a:off x="11186668" y="981848"/>
            <a:ext cx="77797" cy="72000"/>
          </a:xfrm>
          <a:prstGeom prst="ellipse">
            <a:avLst/>
          </a:prstGeom>
          <a:solidFill>
            <a:srgbClr val="FFFFFF">
              <a:alpha val="56471"/>
            </a:srgbClr>
          </a:solidFill>
        </p:spPr>
      </p:sp>
      <p:pic>
        <p:nvPicPr>
          <p:cNvPr id="7" name="Image 3" descr="https://kimi-img.moonshot.cn/pub/slides/slides_tmpl/image/25-08-27-20:02:16-d2nf7i18bjvh7rlj06hg.png"/>
          <p:cNvPicPr>
            <a:picLocks noChangeAspect="1"/>
          </p:cNvPicPr>
          <p:nvPr/>
        </p:nvPicPr>
        <p:blipFill>
          <a:blip r:embed="rId3"/>
          <a:stretch>
            <a:fillRect/>
          </a:stretch>
        </p:blipFill>
        <p:spPr>
          <a:xfrm>
            <a:off x="650341" y="1758451"/>
            <a:ext cx="9345841" cy="1475659"/>
          </a:xfrm>
          <a:prstGeom prst="rect">
            <a:avLst/>
          </a:prstGeom>
        </p:spPr>
      </p:pic>
      <p:pic>
        <p:nvPicPr>
          <p:cNvPr id="8" name="Image 4" descr="https://kimi-img.moonshot.cn/pub/slides/slides_tmpl/image/25-08-27-20:02:16-d2nf7i18bjvh7rlj06hg.png"/>
          <p:cNvPicPr>
            <a:picLocks noChangeAspect="1"/>
          </p:cNvPicPr>
          <p:nvPr/>
        </p:nvPicPr>
        <p:blipFill>
          <a:blip r:embed="rId3"/>
          <a:stretch>
            <a:fillRect/>
          </a:stretch>
        </p:blipFill>
        <p:spPr>
          <a:xfrm>
            <a:off x="2918053" y="4953211"/>
            <a:ext cx="9345841" cy="1475659"/>
          </a:xfrm>
          <a:prstGeom prst="rect">
            <a:avLst/>
          </a:prstGeom>
        </p:spPr>
      </p:pic>
      <p:sp>
        <p:nvSpPr>
          <p:cNvPr id="9" name="Shape 2"/>
          <p:cNvSpPr/>
          <p:nvPr/>
        </p:nvSpPr>
        <p:spPr>
          <a:xfrm>
            <a:off x="3071468" y="5410561"/>
            <a:ext cx="637958" cy="637956"/>
          </a:xfrm>
          <a:prstGeom prst="ellipse">
            <a:avLst/>
          </a:prstGeom>
          <a:gradFill flip="none" rotWithShape="1">
            <a:gsLst>
              <a:gs pos="0">
                <a:srgbClr val="30B0FE">
                  <a:alpha val="77000"/>
                </a:srgbClr>
              </a:gs>
              <a:gs pos="10000">
                <a:srgbClr val="30B0FE">
                  <a:alpha val="77000"/>
                </a:srgbClr>
              </a:gs>
              <a:gs pos="56000">
                <a:srgbClr val="5684E9"/>
              </a:gs>
              <a:gs pos="100000">
                <a:srgbClr val="014BB5"/>
              </a:gs>
            </a:gsLst>
            <a:lin ang="2700000" scaled="1"/>
          </a:gradFill>
          <a:effectLst>
            <a:outerShdw blurRad="290837" dist="50607" dir="2700000" algn="bl" rotWithShape="0">
              <a:srgbClr val="5684E9">
                <a:alpha val="96078"/>
              </a:srgbClr>
            </a:outerShdw>
          </a:effectLst>
        </p:spPr>
      </p:sp>
      <p:sp>
        <p:nvSpPr>
          <p:cNvPr id="10" name="Shape 3"/>
          <p:cNvSpPr/>
          <p:nvPr/>
        </p:nvSpPr>
        <p:spPr>
          <a:xfrm>
            <a:off x="797767" y="2160937"/>
            <a:ext cx="637958" cy="637956"/>
          </a:xfrm>
          <a:prstGeom prst="ellipse">
            <a:avLst/>
          </a:prstGeom>
          <a:gradFill flip="none" rotWithShape="1">
            <a:gsLst>
              <a:gs pos="0">
                <a:srgbClr val="30B0FE">
                  <a:alpha val="77000"/>
                </a:srgbClr>
              </a:gs>
              <a:gs pos="10000">
                <a:srgbClr val="30B0FE">
                  <a:alpha val="77000"/>
                </a:srgbClr>
              </a:gs>
              <a:gs pos="56000">
                <a:srgbClr val="5684E9"/>
              </a:gs>
              <a:gs pos="100000">
                <a:srgbClr val="014BB5"/>
              </a:gs>
            </a:gsLst>
            <a:lin ang="2700000" scaled="1"/>
          </a:gradFill>
          <a:effectLst>
            <a:outerShdw blurRad="290837" dist="50607" dir="2700000" algn="bl" rotWithShape="0">
              <a:srgbClr val="5684E9">
                <a:alpha val="96078"/>
              </a:srgbClr>
            </a:outerShdw>
          </a:effectLst>
        </p:spPr>
      </p:sp>
      <p:sp>
        <p:nvSpPr>
          <p:cNvPr id="11" name="Shape 4"/>
          <p:cNvSpPr/>
          <p:nvPr/>
        </p:nvSpPr>
        <p:spPr>
          <a:xfrm flipH="1">
            <a:off x="11055654" y="981848"/>
            <a:ext cx="77797" cy="72000"/>
          </a:xfrm>
          <a:prstGeom prst="ellipse">
            <a:avLst/>
          </a:prstGeom>
          <a:solidFill>
            <a:srgbClr val="FFFFFF"/>
          </a:solidFill>
        </p:spPr>
      </p:sp>
      <p:sp>
        <p:nvSpPr>
          <p:cNvPr id="12" name="Shape 5"/>
          <p:cNvSpPr/>
          <p:nvPr/>
        </p:nvSpPr>
        <p:spPr>
          <a:xfrm flipH="1">
            <a:off x="10924640" y="981848"/>
            <a:ext cx="77797" cy="72000"/>
          </a:xfrm>
          <a:prstGeom prst="ellipse">
            <a:avLst/>
          </a:prstGeom>
          <a:solidFill>
            <a:srgbClr val="FFFFFF">
              <a:alpha val="56471"/>
            </a:srgbClr>
          </a:solidFill>
        </p:spPr>
      </p:sp>
      <p:sp>
        <p:nvSpPr>
          <p:cNvPr id="13" name="Shape 6"/>
          <p:cNvSpPr/>
          <p:nvPr/>
        </p:nvSpPr>
        <p:spPr>
          <a:xfrm>
            <a:off x="1738632" y="3754795"/>
            <a:ext cx="637958" cy="637956"/>
          </a:xfrm>
          <a:prstGeom prst="ellipse">
            <a:avLst/>
          </a:prstGeom>
          <a:gradFill flip="none" rotWithShape="1">
            <a:gsLst>
              <a:gs pos="0">
                <a:srgbClr val="30B0FE">
                  <a:alpha val="77000"/>
                </a:srgbClr>
              </a:gs>
              <a:gs pos="10000">
                <a:srgbClr val="30B0FE">
                  <a:alpha val="77000"/>
                </a:srgbClr>
              </a:gs>
              <a:gs pos="56000">
                <a:srgbClr val="5684E9"/>
              </a:gs>
              <a:gs pos="100000">
                <a:srgbClr val="014BB5"/>
              </a:gs>
            </a:gsLst>
            <a:lin ang="2700000" scaled="1"/>
          </a:gradFill>
          <a:effectLst>
            <a:outerShdw blurRad="290837" dist="50607" dir="2700000" algn="bl" rotWithShape="0">
              <a:srgbClr val="5684E9">
                <a:alpha val="96078"/>
              </a:srgbClr>
            </a:outerShdw>
          </a:effectLst>
        </p:spPr>
      </p:sp>
      <p:sp>
        <p:nvSpPr>
          <p:cNvPr id="14" name="Text 7"/>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Simple Harmonic Motion</a:t>
            </a:r>
            <a:endParaRPr lang="en-US" sz="1600" dirty="0"/>
          </a:p>
        </p:txBody>
      </p:sp>
      <p:pic>
        <p:nvPicPr>
          <p:cNvPr id="15" name="Image 5" descr="https://kimi-img.moonshot.cn/pub/slides/slides_tmpl/image/25-08-27-20:02:06-d2nf7fh8bjvh7rlj060g.png"/>
          <p:cNvPicPr>
            <a:picLocks noChangeAspect="1"/>
          </p:cNvPicPr>
          <p:nvPr/>
        </p:nvPicPr>
        <p:blipFill>
          <a:blip r:embed="rId4"/>
          <a:stretch>
            <a:fillRect/>
          </a:stretch>
        </p:blipFill>
        <p:spPr>
          <a:xfrm>
            <a:off x="662882" y="495145"/>
            <a:ext cx="1371600" cy="304800"/>
          </a:xfrm>
          <a:prstGeom prst="rect">
            <a:avLst/>
          </a:prstGeom>
        </p:spPr>
      </p:pic>
      <p:sp>
        <p:nvSpPr>
          <p:cNvPr id="16" name="Shape 8"/>
          <p:cNvSpPr/>
          <p:nvPr/>
        </p:nvSpPr>
        <p:spPr>
          <a:xfrm>
            <a:off x="784199" y="2334190"/>
            <a:ext cx="665094" cy="295787"/>
          </a:xfrm>
          <a:prstGeom prst="rect">
            <a:avLst/>
          </a:prstGeom>
          <a:solidFill>
            <a:srgbClr val="000000">
              <a:alpha val="0"/>
            </a:srgbClr>
          </a:solidFill>
        </p:spPr>
      </p:sp>
      <p:sp>
        <p:nvSpPr>
          <p:cNvPr id="17" name="Text 9"/>
          <p:cNvSpPr/>
          <p:nvPr/>
        </p:nvSpPr>
        <p:spPr>
          <a:xfrm>
            <a:off x="784199" y="2334190"/>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18" name="Text 10"/>
          <p:cNvSpPr/>
          <p:nvPr/>
        </p:nvSpPr>
        <p:spPr>
          <a:xfrm>
            <a:off x="1599543" y="1897632"/>
            <a:ext cx="5991828" cy="587573"/>
          </a:xfrm>
          <a:prstGeom prst="rect">
            <a:avLst/>
          </a:prstGeom>
          <a:noFill/>
        </p:spPr>
        <p:txBody>
          <a:bodyPr wrap="square" lIns="0" tIns="0" rIns="0" bIns="0" rtlCol="0" anchor="t"/>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Spring Systems: F = -kx and T = 2π√(m/k)</a:t>
            </a:r>
            <a:endParaRPr lang="en-US" sz="1600" dirty="0"/>
          </a:p>
        </p:txBody>
      </p:sp>
      <p:sp>
        <p:nvSpPr>
          <p:cNvPr id="19" name="Text 11"/>
          <p:cNvSpPr/>
          <p:nvPr/>
        </p:nvSpPr>
        <p:spPr>
          <a:xfrm>
            <a:off x="1449293" y="2245401"/>
            <a:ext cx="10253700" cy="128524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Hooke's law describes linear restoring force proportional to displacement from equilibrium, with negative sign indicating force opposes displacement. This produces simple harmonic motion with period depending on mass and spring constant—heavier masses or softer springs create longer oscillation periods. Total mechanical energy E = ½kA² remains constant, converting between kinetic and potential forms.</a:t>
            </a:r>
            <a:endParaRPr lang="en-US" sz="1600" dirty="0"/>
          </a:p>
        </p:txBody>
      </p:sp>
      <p:sp>
        <p:nvSpPr>
          <p:cNvPr id="20" name="Shape 12"/>
          <p:cNvSpPr/>
          <p:nvPr/>
        </p:nvSpPr>
        <p:spPr>
          <a:xfrm>
            <a:off x="1725064" y="3918275"/>
            <a:ext cx="665094" cy="295787"/>
          </a:xfrm>
          <a:prstGeom prst="rect">
            <a:avLst/>
          </a:prstGeom>
          <a:solidFill>
            <a:srgbClr val="000000">
              <a:alpha val="0"/>
            </a:srgbClr>
          </a:solidFill>
        </p:spPr>
      </p:sp>
      <p:sp>
        <p:nvSpPr>
          <p:cNvPr id="21" name="Text 13"/>
          <p:cNvSpPr/>
          <p:nvPr/>
        </p:nvSpPr>
        <p:spPr>
          <a:xfrm>
            <a:off x="1725064" y="3918275"/>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22" name="Text 14"/>
          <p:cNvSpPr/>
          <p:nvPr/>
        </p:nvSpPr>
        <p:spPr>
          <a:xfrm>
            <a:off x="2552033" y="3469994"/>
            <a:ext cx="4868492" cy="306983"/>
          </a:xfrm>
          <a:prstGeom prst="rect">
            <a:avLst/>
          </a:prstGeom>
          <a:noFill/>
        </p:spPr>
        <p:txBody>
          <a:bodyPr wrap="square" lIns="0" tIns="0" rIns="0" bIns="0" rtlCol="0" anchor="t">
            <a:spAutoFit/>
          </a:bodyPr>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Pendulum Motion: T = 2π√(L/g)</a:t>
            </a:r>
            <a:endParaRPr lang="en-US" sz="1600" dirty="0"/>
          </a:p>
        </p:txBody>
      </p:sp>
      <p:sp>
        <p:nvSpPr>
          <p:cNvPr id="23" name="Text 15"/>
          <p:cNvSpPr/>
          <p:nvPr/>
        </p:nvSpPr>
        <p:spPr>
          <a:xfrm>
            <a:off x="2460749" y="3746911"/>
            <a:ext cx="8854094" cy="1375640"/>
          </a:xfrm>
          <a:prstGeom prst="rect">
            <a:avLst/>
          </a:prstGeom>
          <a:noFill/>
        </p:spPr>
        <p:txBody>
          <a:bodyPr wrap="square" lIns="91440" tIns="45720" rIns="91440" bIns="45720" rtlCol="0" anchor="t"/>
          <a:lstStyle/>
          <a:p>
            <a:pPr>
              <a:lnSpc>
                <a:spcPct val="150000"/>
              </a:lnSpc>
            </a:pPr>
            <a:r>
              <a:rPr lang="en-US" sz="1200" dirty="0">
                <a:solidFill>
                  <a:srgbClr val="FFFFFF"/>
                </a:solidFill>
                <a:latin typeface="MiSans" pitchFamily="34" charset="-122"/>
                <a:ea typeface="MiSans" pitchFamily="34" charset="-122"/>
                <a:cs typeface="MiSans" pitchFamily="34" charset="-120"/>
              </a:rPr>
              <a:t>Simple pendulums exhibit SHM for small angles, with period depending only on length and gravitational acceleration, not mass. This independence from mass distinguishes pendulums from springs. Longer pendulums have longer periods, explaining grandfather clock design. Large-angle swings deviate from this formula</a:t>
            </a:r>
            <a:endParaRPr lang="en-US" sz="1600" dirty="0"/>
          </a:p>
        </p:txBody>
      </p:sp>
      <p:sp>
        <p:nvSpPr>
          <p:cNvPr id="24" name="Shape 16"/>
          <p:cNvSpPr/>
          <p:nvPr/>
        </p:nvSpPr>
        <p:spPr>
          <a:xfrm>
            <a:off x="3057900" y="5570832"/>
            <a:ext cx="665094" cy="295787"/>
          </a:xfrm>
          <a:prstGeom prst="rect">
            <a:avLst/>
          </a:prstGeom>
          <a:solidFill>
            <a:srgbClr val="000000">
              <a:alpha val="0"/>
            </a:srgbClr>
          </a:solidFill>
        </p:spPr>
      </p:sp>
      <p:sp>
        <p:nvSpPr>
          <p:cNvPr id="25" name="Text 17"/>
          <p:cNvSpPr/>
          <p:nvPr/>
        </p:nvSpPr>
        <p:spPr>
          <a:xfrm>
            <a:off x="3057900" y="5570832"/>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6" name="Text 18"/>
          <p:cNvSpPr/>
          <p:nvPr/>
        </p:nvSpPr>
        <p:spPr>
          <a:xfrm>
            <a:off x="3882681" y="5122551"/>
            <a:ext cx="6199947" cy="587573"/>
          </a:xfrm>
          <a:prstGeom prst="rect">
            <a:avLst/>
          </a:prstGeom>
          <a:noFill/>
        </p:spPr>
        <p:txBody>
          <a:bodyPr wrap="square" lIns="0" tIns="0" rIns="0" bIns="0" rtlCol="0" anchor="t"/>
          <a:lstStyle/>
          <a:p>
            <a:pPr>
              <a:lnSpc>
                <a:spcPct val="100000"/>
              </a:lnSpc>
            </a:pPr>
            <a:r>
              <a:rPr lang="en-US" sz="2000" b="1" dirty="0">
                <a:gradFill flip="none" rotWithShape="0">
                  <a:gsLst>
                    <a:gs pos="0">
                      <a:srgbClr val="30B0FE">
                        <a:alpha val="77000"/>
                      </a:srgbClr>
                    </a:gs>
                    <a:gs pos="10000">
                      <a:srgbClr val="30B0FE">
                        <a:alpha val="77000"/>
                      </a:srgbClr>
                    </a:gs>
                    <a:gs pos="70000">
                      <a:srgbClr val="5684E9"/>
                    </a:gs>
                    <a:gs pos="100000">
                      <a:srgbClr val="014BB5"/>
                    </a:gs>
                  </a:gsLst>
                  <a:lin ang="4800000" scaled="1"/>
                </a:gradFill>
                <a:latin typeface="MiSans" pitchFamily="34" charset="-122"/>
                <a:ea typeface="MiSans" pitchFamily="34" charset="-122"/>
                <a:cs typeface="MiSans" pitchFamily="34" charset="-120"/>
              </a:rPr>
              <a:t>Position, Velocity, and Acceleration in SHM</a:t>
            </a:r>
            <a:endParaRPr lang="en-US" sz="1600" dirty="0"/>
          </a:p>
        </p:txBody>
      </p:sp>
      <p:sp>
        <p:nvSpPr>
          <p:cNvPr id="27" name="Text 19"/>
          <p:cNvSpPr/>
          <p:nvPr/>
        </p:nvSpPr>
        <p:spPr>
          <a:xfrm>
            <a:off x="3791397" y="5399467"/>
            <a:ext cx="7720665" cy="98679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SHM describes sinusoidal time dependence: x(t) = A cos(ωt + φ), v(t) = -Aω sin(ωt + φ), a(t) = -Aω² cos(ωt + φ). Maximum velocity occurs at equilibrium; maximum acceleration occurs at maximum displacement. velocity leads position by 90° and acceleration leads by 180°, creating the characteristic oscillating pattern.</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0-d2nf7gh8bjvh7rlj061g.jpg"/>
          <p:cNvPicPr>
            <a:picLocks noChangeAspect="1"/>
          </p:cNvPicPr>
          <p:nvPr/>
        </p:nvPicPr>
        <p:blipFill>
          <a:blip r:embed="rId1"/>
          <a:stretch>
            <a:fillRect/>
          </a:stretch>
        </p:blipFill>
        <p:spPr>
          <a:xfrm>
            <a:off x="-3178" y="-1"/>
            <a:ext cx="12195178" cy="6866415"/>
          </a:xfrm>
          <a:prstGeom prst="rect">
            <a:avLst/>
          </a:prstGeom>
        </p:spPr>
      </p:pic>
      <p:sp>
        <p:nvSpPr>
          <p:cNvPr id="3" name="Shape 0"/>
          <p:cNvSpPr/>
          <p:nvPr/>
        </p:nvSpPr>
        <p:spPr>
          <a:xfrm flipH="1">
            <a:off x="11314843" y="981848"/>
            <a:ext cx="77797" cy="72000"/>
          </a:xfrm>
          <a:prstGeom prst="ellipse">
            <a:avLst/>
          </a:prstGeom>
          <a:solidFill>
            <a:srgbClr val="FFFFFF"/>
          </a:solidFill>
        </p:spPr>
      </p:sp>
      <p:sp>
        <p:nvSpPr>
          <p:cNvPr id="4" name="Shape 1"/>
          <p:cNvSpPr/>
          <p:nvPr/>
        </p:nvSpPr>
        <p:spPr>
          <a:xfrm flipH="1">
            <a:off x="11186668" y="981848"/>
            <a:ext cx="77797" cy="72000"/>
          </a:xfrm>
          <a:prstGeom prst="ellipse">
            <a:avLst/>
          </a:prstGeom>
          <a:solidFill>
            <a:srgbClr val="FFFFFF">
              <a:alpha val="56471"/>
            </a:srgbClr>
          </a:solidFill>
        </p:spPr>
      </p:sp>
      <p:sp>
        <p:nvSpPr>
          <p:cNvPr id="5" name="Shape 2"/>
          <p:cNvSpPr/>
          <p:nvPr/>
        </p:nvSpPr>
        <p:spPr>
          <a:xfrm flipH="1">
            <a:off x="11055654" y="981848"/>
            <a:ext cx="77797" cy="72000"/>
          </a:xfrm>
          <a:prstGeom prst="ellipse">
            <a:avLst/>
          </a:prstGeom>
          <a:solidFill>
            <a:srgbClr val="FFFFFF"/>
          </a:solidFill>
        </p:spPr>
      </p:sp>
      <p:sp>
        <p:nvSpPr>
          <p:cNvPr id="6" name="Shape 3"/>
          <p:cNvSpPr/>
          <p:nvPr/>
        </p:nvSpPr>
        <p:spPr>
          <a:xfrm flipH="1">
            <a:off x="10924640" y="981848"/>
            <a:ext cx="77797" cy="72000"/>
          </a:xfrm>
          <a:prstGeom prst="ellipse">
            <a:avLst/>
          </a:prstGeom>
          <a:solidFill>
            <a:srgbClr val="FFFFFF">
              <a:alpha val="56471"/>
            </a:srgbClr>
          </a:solidFill>
        </p:spPr>
      </p:sp>
      <p:pic>
        <p:nvPicPr>
          <p:cNvPr id="7" name="Image 1" descr="https://kimi-img.moonshot.cn/pub/slides/slides_tmpl/image/25-08-27-20:02:17-d2nf7i98bjvh7rlj06q0.png"/>
          <p:cNvPicPr>
            <a:picLocks noChangeAspect="1"/>
          </p:cNvPicPr>
          <p:nvPr/>
        </p:nvPicPr>
        <p:blipFill>
          <a:blip r:embed="rId2"/>
          <a:stretch>
            <a:fillRect/>
          </a:stretch>
        </p:blipFill>
        <p:spPr>
          <a:xfrm>
            <a:off x="4859586" y="2720043"/>
            <a:ext cx="2768600" cy="2590800"/>
          </a:xfrm>
          <a:prstGeom prst="rect">
            <a:avLst/>
          </a:prstGeom>
        </p:spPr>
      </p:pic>
      <p:sp>
        <p:nvSpPr>
          <p:cNvPr id="8" name="Text 4"/>
          <p:cNvSpPr/>
          <p:nvPr/>
        </p:nvSpPr>
        <p:spPr>
          <a:xfrm>
            <a:off x="542215" y="998076"/>
            <a:ext cx="8152877" cy="833184"/>
          </a:xfrm>
          <a:prstGeom prst="rect">
            <a:avLst/>
          </a:prstGeom>
          <a:noFill/>
        </p:spPr>
        <p:txBody>
          <a:bodyPr wrap="square" lIns="91440" tIns="45720" rIns="91440" bIns="45720" rtlCol="0" anchor="t"/>
          <a:lstStyle/>
          <a:p>
            <a:pPr>
              <a:lnSpc>
                <a:spcPct val="100000"/>
              </a:lnSpc>
            </a:pPr>
            <a:r>
              <a:rPr lang="en-US" sz="3600" b="1" dirty="0">
                <a:solidFill>
                  <a:srgbClr val="FFFFFF"/>
                </a:solidFill>
                <a:latin typeface="MiSans" pitchFamily="34" charset="-122"/>
                <a:ea typeface="MiSans" pitchFamily="34" charset="-122"/>
                <a:cs typeface="MiSans" pitchFamily="34" charset="-120"/>
              </a:rPr>
              <a:t>Fluid Statics and Dynamics</a:t>
            </a:r>
            <a:endParaRPr lang="en-US" sz="1600" dirty="0"/>
          </a:p>
        </p:txBody>
      </p:sp>
      <p:pic>
        <p:nvPicPr>
          <p:cNvPr id="9" name="Image 2" descr="https://kimi-img.moonshot.cn/pub/slides/slides_tmpl/image/25-08-27-20:02:06-d2nf7fh8bjvh7rlj060g.png"/>
          <p:cNvPicPr>
            <a:picLocks noChangeAspect="1"/>
          </p:cNvPicPr>
          <p:nvPr/>
        </p:nvPicPr>
        <p:blipFill>
          <a:blip r:embed="rId3"/>
          <a:stretch>
            <a:fillRect/>
          </a:stretch>
        </p:blipFill>
        <p:spPr>
          <a:xfrm>
            <a:off x="662882" y="495145"/>
            <a:ext cx="1371600" cy="304800"/>
          </a:xfrm>
          <a:prstGeom prst="rect">
            <a:avLst/>
          </a:prstGeom>
        </p:spPr>
      </p:pic>
      <p:sp>
        <p:nvSpPr>
          <p:cNvPr id="10" name="Shape 5"/>
          <p:cNvSpPr/>
          <p:nvPr/>
        </p:nvSpPr>
        <p:spPr>
          <a:xfrm>
            <a:off x="5121940" y="3133213"/>
            <a:ext cx="665094" cy="295787"/>
          </a:xfrm>
          <a:prstGeom prst="rect">
            <a:avLst/>
          </a:prstGeom>
          <a:solidFill>
            <a:srgbClr val="000000">
              <a:alpha val="0"/>
            </a:srgbClr>
          </a:solidFill>
        </p:spPr>
      </p:sp>
      <p:sp>
        <p:nvSpPr>
          <p:cNvPr id="11" name="Text 6"/>
          <p:cNvSpPr/>
          <p:nvPr/>
        </p:nvSpPr>
        <p:spPr>
          <a:xfrm>
            <a:off x="5121940" y="3133213"/>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01</a:t>
            </a:r>
            <a:endParaRPr lang="en-US" sz="1600" dirty="0"/>
          </a:p>
        </p:txBody>
      </p:sp>
      <p:sp>
        <p:nvSpPr>
          <p:cNvPr id="12" name="Text 7"/>
          <p:cNvSpPr/>
          <p:nvPr/>
        </p:nvSpPr>
        <p:spPr>
          <a:xfrm>
            <a:off x="662882" y="1831260"/>
            <a:ext cx="4472850" cy="535980"/>
          </a:xfrm>
          <a:prstGeom prst="rect">
            <a:avLst/>
          </a:prstGeom>
          <a:noFill/>
        </p:spPr>
        <p:txBody>
          <a:bodyPr wrap="square" lIns="0" tIns="0" rIns="0" bIns="0" rtlCol="0" anchor="t"/>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Density and Pressure Fundamentals</a:t>
            </a:r>
            <a:endParaRPr lang="en-US" sz="1600" dirty="0"/>
          </a:p>
        </p:txBody>
      </p:sp>
      <p:sp>
        <p:nvSpPr>
          <p:cNvPr id="13" name="Text 8"/>
          <p:cNvSpPr/>
          <p:nvPr/>
        </p:nvSpPr>
        <p:spPr>
          <a:xfrm>
            <a:off x="542215" y="2058920"/>
            <a:ext cx="4422800" cy="218059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Density ρ = m/V measures mass concentration, while pressure P = F/A describes force distribution over area. Hydrostatic pressure increases with depth as P = P₀ + ρgh, explaining why submerged objects experience greater pressure on lower surfaces. Pascal's principle states that pressure changes transmit undiminished throughout fluids, enabling hydraulic force multiplication systems.</a:t>
            </a:r>
            <a:endParaRPr lang="en-US" sz="1600" dirty="0"/>
          </a:p>
        </p:txBody>
      </p:sp>
      <p:sp>
        <p:nvSpPr>
          <p:cNvPr id="14" name="Shape 9"/>
          <p:cNvSpPr/>
          <p:nvPr/>
        </p:nvSpPr>
        <p:spPr>
          <a:xfrm>
            <a:off x="6693137" y="3133213"/>
            <a:ext cx="665094" cy="295787"/>
          </a:xfrm>
          <a:prstGeom prst="rect">
            <a:avLst/>
          </a:prstGeom>
          <a:solidFill>
            <a:srgbClr val="000000">
              <a:alpha val="0"/>
            </a:srgbClr>
          </a:solidFill>
        </p:spPr>
      </p:sp>
      <p:sp>
        <p:nvSpPr>
          <p:cNvPr id="15" name="Text 10"/>
          <p:cNvSpPr/>
          <p:nvPr/>
        </p:nvSpPr>
        <p:spPr>
          <a:xfrm>
            <a:off x="6693137" y="3133213"/>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02</a:t>
            </a:r>
            <a:endParaRPr lang="en-US" sz="1600" dirty="0"/>
          </a:p>
        </p:txBody>
      </p:sp>
      <p:sp>
        <p:nvSpPr>
          <p:cNvPr id="16" name="Text 11"/>
          <p:cNvSpPr/>
          <p:nvPr/>
        </p:nvSpPr>
        <p:spPr>
          <a:xfrm>
            <a:off x="7614667" y="1931145"/>
            <a:ext cx="4319903" cy="535980"/>
          </a:xfrm>
          <a:prstGeom prst="rect">
            <a:avLst/>
          </a:prstGeom>
          <a:noFill/>
        </p:spPr>
        <p:txBody>
          <a:bodyPr wrap="square" lIns="0" tIns="0" rIns="0" bIns="0" rtlCol="0" anchor="t"/>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Buoyancy: Archimedes' Principle</a:t>
            </a:r>
            <a:endParaRPr lang="en-US" sz="1600" dirty="0"/>
          </a:p>
        </p:txBody>
      </p:sp>
      <p:sp>
        <p:nvSpPr>
          <p:cNvPr id="17" name="Text 12"/>
          <p:cNvSpPr/>
          <p:nvPr/>
        </p:nvSpPr>
        <p:spPr>
          <a:xfrm>
            <a:off x="7511770" y="2208145"/>
            <a:ext cx="4422800" cy="188214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Buoyant force equals the weight of displaced fluid: F_b = ρ_fluid V_displaced g. Objects float when buoyant force matches weight, sink when weight exceeds buoyancy, and reach neutral buoyancy when densities match. This principle explains ship flotation, submarine depth control, and hot air balloon operation through controlled density relationships.</a:t>
            </a:r>
            <a:endParaRPr lang="en-US" sz="1600" dirty="0"/>
          </a:p>
        </p:txBody>
      </p:sp>
      <p:sp>
        <p:nvSpPr>
          <p:cNvPr id="18" name="Shape 13"/>
          <p:cNvSpPr/>
          <p:nvPr/>
        </p:nvSpPr>
        <p:spPr>
          <a:xfrm>
            <a:off x="6693137" y="4518261"/>
            <a:ext cx="665094" cy="295787"/>
          </a:xfrm>
          <a:prstGeom prst="rect">
            <a:avLst/>
          </a:prstGeom>
          <a:solidFill>
            <a:srgbClr val="000000">
              <a:alpha val="0"/>
            </a:srgbClr>
          </a:solidFill>
        </p:spPr>
      </p:sp>
      <p:sp>
        <p:nvSpPr>
          <p:cNvPr id="19" name="Text 14"/>
          <p:cNvSpPr/>
          <p:nvPr/>
        </p:nvSpPr>
        <p:spPr>
          <a:xfrm>
            <a:off x="6693137" y="4518261"/>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03</a:t>
            </a:r>
            <a:endParaRPr lang="en-US" sz="1600" dirty="0"/>
          </a:p>
        </p:txBody>
      </p:sp>
      <p:sp>
        <p:nvSpPr>
          <p:cNvPr id="20" name="Text 15"/>
          <p:cNvSpPr/>
          <p:nvPr/>
        </p:nvSpPr>
        <p:spPr>
          <a:xfrm>
            <a:off x="7614667" y="4351616"/>
            <a:ext cx="4218776" cy="535980"/>
          </a:xfrm>
          <a:prstGeom prst="rect">
            <a:avLst/>
          </a:prstGeom>
          <a:noFill/>
        </p:spPr>
        <p:txBody>
          <a:bodyPr wrap="square" lIns="0" tIns="0" rIns="0" bIns="0" rtlCol="0" anchor="t"/>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Continuity Equation: A₁v₁ = A₂v₂</a:t>
            </a:r>
            <a:endParaRPr lang="en-US" sz="1600" dirty="0"/>
          </a:p>
        </p:txBody>
      </p:sp>
      <p:sp>
        <p:nvSpPr>
          <p:cNvPr id="21" name="Text 16"/>
          <p:cNvSpPr/>
          <p:nvPr/>
        </p:nvSpPr>
        <p:spPr>
          <a:xfrm>
            <a:off x="7511770" y="4628616"/>
            <a:ext cx="4422800" cy="188214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For incompressible fluids, flow rate remains constant—fluid speeds up when passing through constricted areas. This conservation of mass principle explains why rivers flow faster in narrow sections and why garden hose nozzles increase water velocity. The product of cross-sectional area and velocity gives volume flow rate in m³/s.</a:t>
            </a:r>
            <a:endParaRPr lang="en-US" sz="1600" dirty="0"/>
          </a:p>
        </p:txBody>
      </p:sp>
      <p:sp>
        <p:nvSpPr>
          <p:cNvPr id="22" name="Shape 17"/>
          <p:cNvSpPr/>
          <p:nvPr/>
        </p:nvSpPr>
        <p:spPr>
          <a:xfrm>
            <a:off x="5110217" y="4518261"/>
            <a:ext cx="665094" cy="295787"/>
          </a:xfrm>
          <a:prstGeom prst="rect">
            <a:avLst/>
          </a:prstGeom>
          <a:solidFill>
            <a:srgbClr val="000000">
              <a:alpha val="0"/>
            </a:srgbClr>
          </a:solidFill>
        </p:spPr>
      </p:sp>
      <p:sp>
        <p:nvSpPr>
          <p:cNvPr id="23" name="Text 18"/>
          <p:cNvSpPr/>
          <p:nvPr/>
        </p:nvSpPr>
        <p:spPr>
          <a:xfrm>
            <a:off x="5110217" y="4518261"/>
            <a:ext cx="665094" cy="295787"/>
          </a:xfrm>
          <a:prstGeom prst="rect">
            <a:avLst/>
          </a:prstGeom>
          <a:noFill/>
        </p:spPr>
        <p:txBody>
          <a:bodyPr wrap="square" lIns="0" tIns="0" rIns="0" bIns="0" rtlCol="0" anchor="t"/>
          <a:lstStyle/>
          <a:p>
            <a:pPr algn="ctr">
              <a:lnSpc>
                <a:spcPct val="110000"/>
              </a:lnSpc>
            </a:pPr>
            <a:r>
              <a:rPr lang="en-US" sz="1800" dirty="0">
                <a:solidFill>
                  <a:srgbClr val="FFFFFF"/>
                </a:solidFill>
                <a:latin typeface="MiSans" pitchFamily="34" charset="-122"/>
                <a:ea typeface="MiSans" pitchFamily="34" charset="-122"/>
                <a:cs typeface="MiSans" pitchFamily="34" charset="-120"/>
              </a:rPr>
              <a:t>04</a:t>
            </a:r>
            <a:endParaRPr lang="en-US" sz="1600" dirty="0"/>
          </a:p>
        </p:txBody>
      </p:sp>
      <p:sp>
        <p:nvSpPr>
          <p:cNvPr id="24" name="Text 19"/>
          <p:cNvSpPr/>
          <p:nvPr/>
        </p:nvSpPr>
        <p:spPr>
          <a:xfrm>
            <a:off x="662882" y="4388735"/>
            <a:ext cx="3695555" cy="277813"/>
          </a:xfrm>
          <a:prstGeom prst="rect">
            <a:avLst/>
          </a:prstGeom>
          <a:noFill/>
        </p:spPr>
        <p:txBody>
          <a:bodyPr wrap="square" lIns="0" tIns="0" rIns="0" bIns="0" rtlCol="0" anchor="t">
            <a:spAutoFit/>
          </a:bodyPr>
          <a:lstStyle/>
          <a:p>
            <a:pPr>
              <a:lnSpc>
                <a:spcPct val="100000"/>
              </a:lnSpc>
            </a:pPr>
            <a:r>
              <a:rPr lang="en-US" sz="1800" b="1" dirty="0">
                <a:gradFill flip="none" rotWithShape="0">
                  <a:gsLst>
                    <a:gs pos="0">
                      <a:srgbClr val="30B0FE">
                        <a:alpha val="77000"/>
                      </a:srgbClr>
                    </a:gs>
                    <a:gs pos="10000">
                      <a:srgbClr val="30B0FE">
                        <a:alpha val="77000"/>
                      </a:srgbClr>
                    </a:gs>
                    <a:gs pos="56000">
                      <a:srgbClr val="5684E9"/>
                    </a:gs>
                    <a:gs pos="100000">
                      <a:srgbClr val="014BB5"/>
                    </a:gs>
                  </a:gsLst>
                  <a:lin ang="4800000" scaled="1"/>
                </a:gradFill>
                <a:latin typeface="MiSans" pitchFamily="34" charset="-122"/>
                <a:ea typeface="MiSans" pitchFamily="34" charset="-122"/>
                <a:cs typeface="MiSans" pitchFamily="34" charset="-120"/>
              </a:rPr>
              <a:t>Bernoulli's Equation</a:t>
            </a:r>
            <a:endParaRPr lang="en-US" sz="1600" dirty="0"/>
          </a:p>
        </p:txBody>
      </p:sp>
      <p:sp>
        <p:nvSpPr>
          <p:cNvPr id="25" name="Text 20"/>
          <p:cNvSpPr/>
          <p:nvPr/>
        </p:nvSpPr>
        <p:spPr>
          <a:xfrm>
            <a:off x="546193" y="4665595"/>
            <a:ext cx="4422800" cy="1882140"/>
          </a:xfrm>
          <a:prstGeom prst="rect">
            <a:avLst/>
          </a:prstGeom>
          <a:noFill/>
        </p:spPr>
        <p:txBody>
          <a:bodyPr wrap="square" lIns="91440" tIns="45720" rIns="91440" bIns="45720" rtlCol="0" anchor="t">
            <a:spAutoFit/>
          </a:bodyPr>
          <a:lstStyle/>
          <a:p>
            <a:pPr>
              <a:lnSpc>
                <a:spcPct val="150000"/>
              </a:lnSpc>
            </a:pPr>
            <a:r>
              <a:rPr lang="en-US" sz="1200" dirty="0">
                <a:solidFill>
                  <a:srgbClr val="FFFFFF"/>
                </a:solidFill>
                <a:latin typeface="MiSans" pitchFamily="34" charset="-122"/>
                <a:ea typeface="MiSans" pitchFamily="34" charset="-122"/>
                <a:cs typeface="MiSans" pitchFamily="34" charset="-120"/>
              </a:rPr>
              <a:t>Bernoulli's principle states P + ½ρv² + ρgh = constant along streamlines, relating pressure, velocity, and height. Faster fluid flow corresponds to lower pressure, explaining airplane lift, curveball trajectories, and perfume spray mechanisms. This energy conservation for flowing fluids connects fluid statics and dynamics in comprehensive analysis frameworks.</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2:12-d2nf7h18bjvh7rlj0650.jpg"/>
          <p:cNvPicPr>
            <a:picLocks noChangeAspect="1"/>
          </p:cNvPicPr>
          <p:nvPr/>
        </p:nvPicPr>
        <p:blipFill>
          <a:blip r:embed="rId1"/>
          <a:srcRect/>
          <a:stretch>
            <a:fillRect/>
          </a:stretch>
        </p:blipFill>
        <p:spPr>
          <a:xfrm>
            <a:off x="0" y="0"/>
            <a:ext cx="12191999" cy="6864626"/>
          </a:xfrm>
          <a:prstGeom prst="rect">
            <a:avLst/>
          </a:prstGeom>
        </p:spPr>
      </p:pic>
      <p:sp>
        <p:nvSpPr>
          <p:cNvPr id="3" name="Shape 0"/>
          <p:cNvSpPr/>
          <p:nvPr/>
        </p:nvSpPr>
        <p:spPr>
          <a:xfrm>
            <a:off x="779721" y="6270738"/>
            <a:ext cx="0" cy="125950"/>
          </a:xfrm>
          <a:prstGeom prst="line">
            <a:avLst/>
          </a:prstGeom>
          <a:noFill/>
          <a:ln w="12700">
            <a:solidFill>
              <a:srgbClr val="FFFFFF"/>
            </a:solidFill>
            <a:prstDash val="solid"/>
            <a:headEnd type="none"/>
            <a:tailEnd type="none"/>
          </a:ln>
        </p:spPr>
      </p:sp>
      <p:sp>
        <p:nvSpPr>
          <p:cNvPr id="4" name="Shape 1"/>
          <p:cNvSpPr/>
          <p:nvPr/>
        </p:nvSpPr>
        <p:spPr>
          <a:xfrm>
            <a:off x="867722" y="6270738"/>
            <a:ext cx="0" cy="125950"/>
          </a:xfrm>
          <a:prstGeom prst="line">
            <a:avLst/>
          </a:prstGeom>
          <a:noFill/>
          <a:ln w="12700">
            <a:solidFill>
              <a:srgbClr val="FFFFFF"/>
            </a:solidFill>
            <a:prstDash val="solid"/>
            <a:headEnd type="none"/>
            <a:tailEnd type="none"/>
          </a:ln>
        </p:spPr>
      </p:sp>
      <p:sp>
        <p:nvSpPr>
          <p:cNvPr id="5" name="Shape 2"/>
          <p:cNvSpPr/>
          <p:nvPr/>
        </p:nvSpPr>
        <p:spPr>
          <a:xfrm>
            <a:off x="955722" y="6166356"/>
            <a:ext cx="0" cy="220414"/>
          </a:xfrm>
          <a:prstGeom prst="line">
            <a:avLst/>
          </a:prstGeom>
          <a:noFill/>
          <a:ln w="12700">
            <a:solidFill>
              <a:srgbClr val="FFFFFF"/>
            </a:solidFill>
            <a:prstDash val="solid"/>
            <a:headEnd type="none"/>
            <a:tailEnd type="none"/>
          </a:ln>
        </p:spPr>
      </p:sp>
      <p:sp>
        <p:nvSpPr>
          <p:cNvPr id="6" name="Shape 3"/>
          <p:cNvSpPr/>
          <p:nvPr/>
        </p:nvSpPr>
        <p:spPr>
          <a:xfrm>
            <a:off x="1043723" y="6270738"/>
            <a:ext cx="0" cy="125950"/>
          </a:xfrm>
          <a:prstGeom prst="line">
            <a:avLst/>
          </a:prstGeom>
          <a:noFill/>
          <a:ln w="12700">
            <a:solidFill>
              <a:srgbClr val="FFFFFF"/>
            </a:solidFill>
            <a:prstDash val="solid"/>
            <a:headEnd type="none"/>
            <a:tailEnd type="none"/>
          </a:ln>
        </p:spPr>
      </p:sp>
      <p:sp>
        <p:nvSpPr>
          <p:cNvPr id="7" name="Shape 4"/>
          <p:cNvSpPr/>
          <p:nvPr/>
        </p:nvSpPr>
        <p:spPr>
          <a:xfrm>
            <a:off x="1131723" y="6270738"/>
            <a:ext cx="0" cy="125950"/>
          </a:xfrm>
          <a:prstGeom prst="line">
            <a:avLst/>
          </a:prstGeom>
          <a:noFill/>
          <a:ln w="12700">
            <a:solidFill>
              <a:srgbClr val="FFFFFF"/>
            </a:solidFill>
            <a:prstDash val="solid"/>
            <a:headEnd type="none"/>
            <a:tailEnd type="none"/>
          </a:ln>
        </p:spPr>
      </p:sp>
      <p:sp>
        <p:nvSpPr>
          <p:cNvPr id="8" name="Shape 5"/>
          <p:cNvSpPr/>
          <p:nvPr/>
        </p:nvSpPr>
        <p:spPr>
          <a:xfrm>
            <a:off x="10796832" y="6396446"/>
            <a:ext cx="116844" cy="116844"/>
          </a:xfrm>
          <a:prstGeom prst="ellipse">
            <a:avLst/>
          </a:prstGeom>
          <a:solidFill>
            <a:srgbClr val="FFFFFF"/>
          </a:solidFill>
        </p:spPr>
      </p:sp>
      <p:sp>
        <p:nvSpPr>
          <p:cNvPr id="9" name="Shape 6"/>
          <p:cNvSpPr/>
          <p:nvPr/>
        </p:nvSpPr>
        <p:spPr>
          <a:xfrm>
            <a:off x="10989337" y="6396446"/>
            <a:ext cx="116844" cy="116844"/>
          </a:xfrm>
          <a:prstGeom prst="ellipse">
            <a:avLst/>
          </a:prstGeom>
          <a:solidFill>
            <a:srgbClr val="FFFFFF">
              <a:alpha val="56471"/>
            </a:srgbClr>
          </a:solidFill>
        </p:spPr>
      </p:sp>
      <p:sp>
        <p:nvSpPr>
          <p:cNvPr id="10" name="Shape 7"/>
          <p:cNvSpPr/>
          <p:nvPr/>
        </p:nvSpPr>
        <p:spPr>
          <a:xfrm>
            <a:off x="11186107" y="6396446"/>
            <a:ext cx="116844" cy="116844"/>
          </a:xfrm>
          <a:prstGeom prst="ellipse">
            <a:avLst/>
          </a:prstGeom>
          <a:solidFill>
            <a:srgbClr val="FFFFFF"/>
          </a:solidFill>
        </p:spPr>
      </p:sp>
      <p:sp>
        <p:nvSpPr>
          <p:cNvPr id="11" name="Shape 8"/>
          <p:cNvSpPr/>
          <p:nvPr/>
        </p:nvSpPr>
        <p:spPr>
          <a:xfrm>
            <a:off x="11382877" y="6396446"/>
            <a:ext cx="116844" cy="116844"/>
          </a:xfrm>
          <a:prstGeom prst="ellipse">
            <a:avLst/>
          </a:prstGeom>
          <a:solidFill>
            <a:srgbClr val="FFFFFF">
              <a:alpha val="56471"/>
            </a:srgbClr>
          </a:solidFill>
        </p:spPr>
      </p:sp>
      <p:sp>
        <p:nvSpPr>
          <p:cNvPr id="12" name="Text 9"/>
          <p:cNvSpPr/>
          <p:nvPr/>
        </p:nvSpPr>
        <p:spPr>
          <a:xfrm>
            <a:off x="591820" y="2417445"/>
            <a:ext cx="7571740" cy="1492250"/>
          </a:xfrm>
          <a:prstGeom prst="rect">
            <a:avLst/>
          </a:prstGeom>
          <a:noFill/>
        </p:spPr>
        <p:txBody>
          <a:bodyPr wrap="square" lIns="91440" tIns="45720" rIns="91440" bIns="45720" rtlCol="0" anchor="ctr"/>
          <a:lstStyle/>
          <a:p>
            <a:pPr>
              <a:lnSpc>
                <a:spcPct val="90000"/>
              </a:lnSpc>
            </a:pPr>
            <a:r>
              <a:rPr lang="en-US" sz="9600" b="1" dirty="0">
                <a:solidFill>
                  <a:srgbClr val="FFFFFF"/>
                </a:solidFill>
                <a:latin typeface="MiSans" pitchFamily="34" charset="-122"/>
                <a:ea typeface="MiSans" pitchFamily="34" charset="-122"/>
                <a:cs typeface="MiSans" pitchFamily="34" charset="-120"/>
              </a:rPr>
              <a:t>THANK YOU</a:t>
            </a:r>
            <a:endParaRPr lang="en-US" sz="1600" dirty="0"/>
          </a:p>
        </p:txBody>
      </p:sp>
      <p:pic>
        <p:nvPicPr>
          <p:cNvPr id="13" name="Image 1" descr="https://kimi-img.moonshot.cn/pub/slides/slides_tmpl/image/25-08-27-20:02:05-d2nf7f98bjvh7rlj05ug.png"/>
          <p:cNvPicPr>
            <a:picLocks noChangeAspect="1"/>
          </p:cNvPicPr>
          <p:nvPr/>
        </p:nvPicPr>
        <p:blipFill>
          <a:blip r:embed="rId2"/>
          <a:stretch>
            <a:fillRect/>
          </a:stretch>
        </p:blipFill>
        <p:spPr>
          <a:xfrm>
            <a:off x="576580" y="4498975"/>
            <a:ext cx="1732915" cy="457200"/>
          </a:xfrm>
          <a:prstGeom prst="rect">
            <a:avLst/>
          </a:prstGeom>
        </p:spPr>
      </p:pic>
      <p:pic>
        <p:nvPicPr>
          <p:cNvPr id="14" name="Image 2" descr="https://kimi-img.moonshot.cn/pub/slides/slides_tmpl/image/25-08-27-20:02:05-d2nf7f98bjvh7rlj05ug.png"/>
          <p:cNvPicPr>
            <a:picLocks noChangeAspect="1"/>
          </p:cNvPicPr>
          <p:nvPr/>
        </p:nvPicPr>
        <p:blipFill>
          <a:blip r:embed="rId2"/>
          <a:stretch>
            <a:fillRect/>
          </a:stretch>
        </p:blipFill>
        <p:spPr>
          <a:xfrm>
            <a:off x="2463800" y="4498975"/>
            <a:ext cx="1732915" cy="457200"/>
          </a:xfrm>
          <a:prstGeom prst="rect">
            <a:avLst/>
          </a:prstGeom>
        </p:spPr>
      </p:pic>
      <p:sp>
        <p:nvSpPr>
          <p:cNvPr id="15" name="Text 10"/>
          <p:cNvSpPr/>
          <p:nvPr/>
        </p:nvSpPr>
        <p:spPr>
          <a:xfrm>
            <a:off x="648335" y="4560570"/>
            <a:ext cx="1597660" cy="340082"/>
          </a:xfrm>
          <a:prstGeom prst="rect">
            <a:avLst/>
          </a:prstGeom>
          <a:noFill/>
        </p:spPr>
        <p:txBody>
          <a:bodyPr wrap="square" lIns="91440" tIns="45720" rIns="91440" bIns="45720" rtlCol="0" anchor="t">
            <a:spAutoFit/>
          </a:bodyPr>
          <a:lstStyle/>
          <a:p>
            <a:pPr algn="ctr">
              <a:lnSpc>
                <a:spcPct val="100000"/>
              </a:lnSpc>
            </a:pPr>
            <a:r>
              <a:rPr lang="en-US" sz="1600" dirty="0">
                <a:solidFill>
                  <a:srgbClr val="FFFFFF"/>
                </a:solidFill>
                <a:latin typeface="MiSans" pitchFamily="34" charset="-122"/>
                <a:ea typeface="MiSans" pitchFamily="34" charset="-122"/>
                <a:cs typeface="MiSans" pitchFamily="34" charset="-120"/>
              </a:rPr>
              <a:t>10-3 Sophie</a:t>
            </a:r>
            <a:endParaRPr lang="en-US" sz="1600" dirty="0"/>
          </a:p>
        </p:txBody>
      </p:sp>
      <p:sp>
        <p:nvSpPr>
          <p:cNvPr id="16" name="Text 11"/>
          <p:cNvSpPr/>
          <p:nvPr/>
        </p:nvSpPr>
        <p:spPr>
          <a:xfrm>
            <a:off x="2463165" y="4560570"/>
            <a:ext cx="1733550" cy="340082"/>
          </a:xfrm>
          <a:prstGeom prst="rect">
            <a:avLst/>
          </a:prstGeom>
          <a:noFill/>
        </p:spPr>
        <p:txBody>
          <a:bodyPr wrap="square" lIns="91440" tIns="45720" rIns="91440" bIns="45720" rtlCol="0" anchor="t">
            <a:spAutoFit/>
          </a:bodyPr>
          <a:lstStyle/>
          <a:p>
            <a:pPr algn="ctr">
              <a:lnSpc>
                <a:spcPct val="100000"/>
              </a:lnSpc>
            </a:pPr>
            <a:r>
              <a:rPr lang="en-US" sz="1600" dirty="0">
                <a:solidFill>
                  <a:srgbClr val="FFFFFF"/>
                </a:solidFill>
                <a:latin typeface="MiSans" pitchFamily="34" charset="-122"/>
                <a:ea typeface="MiSans" pitchFamily="34" charset="-122"/>
                <a:cs typeface="MiSans" pitchFamily="34" charset="-120"/>
              </a:rPr>
              <a:t>祝大家加油</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17338</Words>
  <Application>WPS 演示</Application>
  <PresentationFormat>On-screen Show (16:9)</PresentationFormat>
  <Paragraphs>368</Paragraphs>
  <Slides>25</Slides>
  <Notes>25</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25</vt:i4>
      </vt:variant>
    </vt:vector>
  </HeadingPairs>
  <TitlesOfParts>
    <vt:vector size="43" baseType="lpstr">
      <vt:lpstr>Arial</vt:lpstr>
      <vt:lpstr>宋体</vt:lpstr>
      <vt:lpstr>Wingdings</vt:lpstr>
      <vt:lpstr>MiSans</vt:lpstr>
      <vt:lpstr>MiSans</vt:lpstr>
      <vt:lpstr>PingFang SC Medium</vt:lpstr>
      <vt:lpstr>Segoe Print</vt:lpstr>
      <vt:lpstr>PingFang SC Medium</vt:lpstr>
      <vt:lpstr>PingFang SC Medium</vt:lpstr>
      <vt:lpstr>Calibri</vt:lpstr>
      <vt:lpstr>微软雅黑</vt:lpstr>
      <vt:lpstr>Arial Unicode MS</vt:lpstr>
      <vt:lpstr>等线</vt:lpstr>
      <vt:lpstr>PingFang SC Semibold</vt:lpstr>
      <vt:lpstr>PingFang SC Semibold</vt:lpstr>
      <vt:lpstr>PingFang SC Semibold</vt:lpstr>
      <vt:lpstr>MingLiU-ExtB</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Physics 1: The Complete Equation Guide</dc:title>
  <dc:creator>Kimi</dc:creator>
  <dc:subject>AP Physics 1: The Complete Equation Guide</dc:subject>
  <cp:lastModifiedBy>frame</cp:lastModifiedBy>
  <cp:revision>2</cp:revision>
  <dcterms:created xsi:type="dcterms:W3CDTF">2026-04-11T03:34:00Z</dcterms:created>
  <dcterms:modified xsi:type="dcterms:W3CDTF">2026-04-11T03:35:30Z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{"Label":"AP Physics 1: The Complete Equation Guide","ContentProducer":"001191110108MACG2KBH8F10000","ProduceID":"19d7a8f3-5b62-8856-8000-000025e331eb","ReservedCode1":"","ContentPropagator":"001191110108MACG2KBH8F20000","PropagateID":"19d7a8f3-5b62-8856-8000-000025e331eb","ReservedCode2":""}</vt:lpwstr>
  </property>
  <property fmtid="{D5CDD505-2E9C-101B-9397-08002B2CF9AE}" pid="3" name="ICV">
    <vt:lpwstr>9C129B33526C48068400CA401D4BCA73</vt:lpwstr>
  </property>
  <property fmtid="{D5CDD505-2E9C-101B-9397-08002B2CF9AE}" pid="4" name="KSOProductBuildVer">
    <vt:lpwstr>2052-11.1.0.12173</vt:lpwstr>
  </property>
</Properties>
</file>